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  <p:sldMasterId id="214748374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y="5143500" cx="9144000"/>
  <p:notesSz cx="6858000" cy="9144000"/>
  <p:embeddedFontLst>
    <p:embeddedFont>
      <p:font typeface="Red Hat Display SemiBold"/>
      <p:regular r:id="rId65"/>
      <p:bold r:id="rId66"/>
      <p:italic r:id="rId67"/>
      <p:boldItalic r:id="rId68"/>
    </p:embeddedFont>
    <p:embeddedFont>
      <p:font typeface="Red Hat Display Medium"/>
      <p:regular r:id="rId69"/>
      <p:bold r:id="rId70"/>
      <p:italic r:id="rId71"/>
      <p:boldItalic r:id="rId72"/>
    </p:embeddedFont>
    <p:embeddedFont>
      <p:font typeface="Urbanist Medium"/>
      <p:regular r:id="rId73"/>
      <p:bold r:id="rId74"/>
      <p:italic r:id="rId75"/>
      <p:boldItalic r:id="rId76"/>
    </p:embeddedFont>
    <p:embeddedFont>
      <p:font typeface="Urbanist SemiBold"/>
      <p:regular r:id="rId77"/>
      <p:bold r:id="rId78"/>
      <p:italic r:id="rId79"/>
      <p:boldItalic r:id="rId80"/>
    </p:embeddedFont>
    <p:embeddedFont>
      <p:font typeface="Urbanist"/>
      <p:regular r:id="rId81"/>
      <p:bold r:id="rId82"/>
      <p:italic r:id="rId83"/>
      <p:boldItalic r:id="rId84"/>
    </p:embeddedFont>
    <p:embeddedFont>
      <p:font typeface="Red Hat Display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Urbanist-boldItalic.fntdata"/><Relationship Id="rId83" Type="http://schemas.openxmlformats.org/officeDocument/2006/relationships/font" Target="fonts/Urbanist-italic.fntdata"/><Relationship Id="rId42" Type="http://schemas.openxmlformats.org/officeDocument/2006/relationships/slide" Target="slides/slide35.xml"/><Relationship Id="rId86" Type="http://schemas.openxmlformats.org/officeDocument/2006/relationships/font" Target="fonts/RedHatDisplay-bold.fntdata"/><Relationship Id="rId41" Type="http://schemas.openxmlformats.org/officeDocument/2006/relationships/slide" Target="slides/slide34.xml"/><Relationship Id="rId85" Type="http://schemas.openxmlformats.org/officeDocument/2006/relationships/font" Target="fonts/RedHatDisplay-regular.fntdata"/><Relationship Id="rId44" Type="http://schemas.openxmlformats.org/officeDocument/2006/relationships/slide" Target="slides/slide37.xml"/><Relationship Id="rId88" Type="http://schemas.openxmlformats.org/officeDocument/2006/relationships/font" Target="fonts/RedHatDisplay-boldItalic.fntdata"/><Relationship Id="rId43" Type="http://schemas.openxmlformats.org/officeDocument/2006/relationships/slide" Target="slides/slide36.xml"/><Relationship Id="rId87" Type="http://schemas.openxmlformats.org/officeDocument/2006/relationships/font" Target="fonts/RedHatDisplay-italic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UrbanistSemiBold-boldItalic.fntdata"/><Relationship Id="rId82" Type="http://schemas.openxmlformats.org/officeDocument/2006/relationships/font" Target="fonts/Urbanist-bold.fntdata"/><Relationship Id="rId81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UrbanistMedium-regular.fntdata"/><Relationship Id="rId72" Type="http://schemas.openxmlformats.org/officeDocument/2006/relationships/font" Target="fonts/RedHatDisplayMedium-boldItalic.fntdata"/><Relationship Id="rId31" Type="http://schemas.openxmlformats.org/officeDocument/2006/relationships/slide" Target="slides/slide24.xml"/><Relationship Id="rId75" Type="http://schemas.openxmlformats.org/officeDocument/2006/relationships/font" Target="fonts/UrbanistMedium-italic.fntdata"/><Relationship Id="rId30" Type="http://schemas.openxmlformats.org/officeDocument/2006/relationships/slide" Target="slides/slide23.xml"/><Relationship Id="rId74" Type="http://schemas.openxmlformats.org/officeDocument/2006/relationships/font" Target="fonts/UrbanistMedium-bold.fntdata"/><Relationship Id="rId33" Type="http://schemas.openxmlformats.org/officeDocument/2006/relationships/slide" Target="slides/slide26.xml"/><Relationship Id="rId77" Type="http://schemas.openxmlformats.org/officeDocument/2006/relationships/font" Target="fonts/UrbanistSemiBold-regular.fntdata"/><Relationship Id="rId32" Type="http://schemas.openxmlformats.org/officeDocument/2006/relationships/slide" Target="slides/slide25.xml"/><Relationship Id="rId76" Type="http://schemas.openxmlformats.org/officeDocument/2006/relationships/font" Target="fonts/UrbanistMedium-boldItalic.fntdata"/><Relationship Id="rId35" Type="http://schemas.openxmlformats.org/officeDocument/2006/relationships/slide" Target="slides/slide28.xml"/><Relationship Id="rId79" Type="http://schemas.openxmlformats.org/officeDocument/2006/relationships/font" Target="fonts/UrbanistSemiBold-italic.fntdata"/><Relationship Id="rId34" Type="http://schemas.openxmlformats.org/officeDocument/2006/relationships/slide" Target="slides/slide27.xml"/><Relationship Id="rId78" Type="http://schemas.openxmlformats.org/officeDocument/2006/relationships/font" Target="fonts/UrbanistSemiBold-bold.fntdata"/><Relationship Id="rId71" Type="http://schemas.openxmlformats.org/officeDocument/2006/relationships/font" Target="fonts/RedHatDisplayMedium-italic.fntdata"/><Relationship Id="rId70" Type="http://schemas.openxmlformats.org/officeDocument/2006/relationships/font" Target="fonts/RedHatDisplayMedium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RedHatDisplaySemiBold-bold.fntdata"/><Relationship Id="rId21" Type="http://schemas.openxmlformats.org/officeDocument/2006/relationships/slide" Target="slides/slide14.xml"/><Relationship Id="rId65" Type="http://schemas.openxmlformats.org/officeDocument/2006/relationships/font" Target="fonts/RedHatDisplaySemiBold-regular.fntdata"/><Relationship Id="rId24" Type="http://schemas.openxmlformats.org/officeDocument/2006/relationships/slide" Target="slides/slide17.xml"/><Relationship Id="rId68" Type="http://schemas.openxmlformats.org/officeDocument/2006/relationships/font" Target="fonts/RedHatDisplaySemiBold-boldItalic.fntdata"/><Relationship Id="rId23" Type="http://schemas.openxmlformats.org/officeDocument/2006/relationships/slide" Target="slides/slide16.xml"/><Relationship Id="rId67" Type="http://schemas.openxmlformats.org/officeDocument/2006/relationships/font" Target="fonts/RedHatDisplaySemiBold-italic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edHatDisplayMedium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61d8c4207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61d8c4207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61d8c4207b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61d8c4207b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61d8c4207b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61d8c4207b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61d8c4207b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61d8c4207b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61d8c4207b_0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61d8c4207b_0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61d8c4207b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61d8c4207b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61d8c4207b_0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61d8c4207b_0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61d8c4207b_0_2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361d8c4207b_0_2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61d8c4207b_0_2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61d8c4207b_0_2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61d8c4207b_0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61d8c4207b_0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61d8c4207b_0_2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361d8c4207b_0_2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61d8c4207b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61d8c4207b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61d8c4207b_0_2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61d8c4207b_0_2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61d8c4207b_0_2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61d8c4207b_0_2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61d8c4207b_0_2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361d8c4207b_0_2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61d8c4207b_0_2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61d8c4207b_0_2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61d8c4207b_0_2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61d8c4207b_0_2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61d8c4207b_0_2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61d8c4207b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361d8c4207b_0_2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361d8c4207b_0_2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61d8c4207b_0_2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61d8c4207b_0_2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61d8c4207b_0_2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61d8c4207b_0_2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61d8c4207b_0_1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61d8c4207b_0_1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61d8c4207b_0_3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361d8c4207b_0_3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61d8c4207b_0_2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61d8c4207b_0_2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61d8c4207b_0_2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361d8c4207b_0_2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61d8c4207b_0_2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61d8c4207b_0_2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61d8c4207b_0_2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361d8c4207b_0_2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361d8c4207b_0_3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361d8c4207b_0_3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61d8c4207b_0_3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61d8c4207b_0_3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361d8c4207b_0_3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361d8c4207b_0_3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61d8c4207b_0_3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61d8c4207b_0_3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61d8c4207b_0_3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361d8c4207b_0_3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361d8c4207b_0_3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361d8c4207b_0_3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61d8c4207b_0_3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361d8c4207b_0_3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61d8c4207b_0_2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361d8c4207b_0_2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61d8c4207b_0_3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61d8c4207b_0_3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61d8c4207b_0_3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61d8c4207b_0_3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61d8c4207b_0_3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361d8c4207b_0_3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61d8c4207b_0_1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61d8c4207b_0_1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6830dc887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6830dc887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6830dc887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36830dc887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6830dc88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36830dc88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36830dc887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36830dc887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361d8c4207b_0_1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361d8c4207b_0_1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36830dc887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36830dc887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6830dc887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6830dc887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36830dc887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36830dc887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36830dc887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36830dc887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61d8c4207b_0_1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361d8c4207b_0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3623276317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3623276317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3623276317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3623276317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688d89fad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3688d89fa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3623276317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3623276317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623276317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3623276317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3623276317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3623276317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361d8c4207b_0_1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361d8c4207b_0_1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361d8c4207b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361d8c4207b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5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5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5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7" name="Google Shape;487;p5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8" name="Google Shape;488;p5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9" name="Google Shape;489;p5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0" name="Google Shape;490;p5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2" name="Google Shape;492;p5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3" name="Google Shape;493;p5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4" name="Google Shape;494;p5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5" name="Google Shape;495;p5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6" name="Google Shape;496;p5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8" name="Google Shape;498;p54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9" name="Google Shape;499;p54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2" name="Google Shape;502;p55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3" name="Google Shape;503;p55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4" name="Google Shape;504;p55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5" name="Google Shape;505;p55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6" name="Google Shape;506;p55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7" name="Google Shape;507;p55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8" name="Google Shape;508;p55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9" name="Google Shape;509;p55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0" name="Google Shape;510;p55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1" name="Google Shape;511;p55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2" name="Google Shape;512;p55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3" name="Google Shape;513;p55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4" name="Google Shape;514;p55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5" name="Google Shape;515;p55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6" name="Google Shape;516;p55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7" name="Google Shape;517;p55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55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519" name="Google Shape;519;p55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0" name="Google Shape;520;p55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1" name="Google Shape;521;p55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2" name="Google Shape;522;p55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5" name="Google Shape;525;p5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6" name="Google Shape;526;p5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7" name="Google Shape;527;p5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8" name="Google Shape;528;p5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9" name="Google Shape;529;p5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0" name="Google Shape;530;p5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1" name="Google Shape;531;p5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2" name="Google Shape;532;p5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3" name="Google Shape;533;p5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4" name="Google Shape;534;p5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5" name="Google Shape;535;p5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6" name="Google Shape;536;p5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7" name="Google Shape;537;p5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8" name="Google Shape;538;p5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9" name="Google Shape;539;p5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0" name="Google Shape;540;p5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1" name="Google Shape;541;p5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2" name="Google Shape;542;p5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3" name="Google Shape;543;p5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4" name="Google Shape;544;p5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5" name="Google Shape;545;p5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6" name="Google Shape;546;p5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7" name="Google Shape;547;p5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8" name="Google Shape;548;p56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57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551" name="Google Shape;551;p57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2" name="Google Shape;552;p57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3" name="Google Shape;553;p57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4" name="Google Shape;554;p57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5" name="Google Shape;555;p57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6" name="Google Shape;556;p57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7" name="Google Shape;557;p57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8" name="Google Shape;558;p57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9" name="Google Shape;559;p57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0" name="Google Shape;560;p57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1" name="Google Shape;561;p57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2" name="Google Shape;562;p57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3" name="Google Shape;563;p57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4" name="Google Shape;564;p57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5" name="Google Shape;565;p57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6" name="Google Shape;566;p57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7" name="Google Shape;567;p57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8" name="Google Shape;568;p57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69" name="Google Shape;569;p57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0" name="Google Shape;570;p57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1" name="Google Shape;571;p57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2" name="Google Shape;572;p57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3" name="Google Shape;573;p57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4" name="Google Shape;574;p57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5" name="Google Shape;575;p57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6" name="Google Shape;576;p57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7" name="Google Shape;577;p57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8" name="Google Shape;578;p57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79" name="Google Shape;579;p57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0" name="Google Shape;580;p57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1" name="Google Shape;581;p57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2" name="Google Shape;582;p57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3" name="Google Shape;583;p57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4" name="Google Shape;584;p57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5" name="Google Shape;585;p57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6" name="Google Shape;586;p57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7" name="Google Shape;587;p57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8" name="Google Shape;588;p57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9" name="Google Shape;589;p57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0" name="Google Shape;590;p57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1" name="Google Shape;591;p57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2" name="Google Shape;592;p57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3" name="Google Shape;593;p57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4" name="Google Shape;594;p57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5" name="Google Shape;595;p57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6" name="Google Shape;596;p57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7" name="Google Shape;597;p57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8" name="Google Shape;598;p57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9" name="Google Shape;599;p57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0" name="Google Shape;600;p57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1" name="Google Shape;601;p57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2" name="Google Shape;602;p57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3" name="Google Shape;603;p57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4" name="Google Shape;604;p57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5" name="Google Shape;605;p57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6" name="Google Shape;606;p57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7" name="Google Shape;607;p57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8" name="Google Shape;608;p57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9" name="Google Shape;609;p57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0" name="Google Shape;610;p57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1" name="Google Shape;611;p57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2" name="Google Shape;612;p57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3" name="Google Shape;613;p57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4" name="Google Shape;614;p57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5" name="Google Shape;615;p57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6" name="Google Shape;616;p57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7" name="Google Shape;617;p57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8" name="Google Shape;618;p57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9" name="Google Shape;619;p57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0" name="Google Shape;620;p57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1" name="Google Shape;621;p57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2" name="Google Shape;622;p57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623" name="Google Shape;623;p57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624" name="Google Shape;624;p5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5" name="Google Shape;625;p5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6" name="Google Shape;626;p5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7" name="Google Shape;627;p5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8" name="Google Shape;628;p5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29" name="Google Shape;629;p5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0" name="Google Shape;630;p5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1" name="Google Shape;631;p5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2" name="Google Shape;632;p5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3" name="Google Shape;633;p5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4" name="Google Shape;634;p5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5" name="Google Shape;635;p5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6" name="Google Shape;636;p5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7" name="Google Shape;637;p5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8" name="Google Shape;638;p5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39" name="Google Shape;639;p5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0" name="Google Shape;640;p5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1" name="Google Shape;641;p5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2" name="Google Shape;642;p5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3" name="Google Shape;643;p5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4" name="Google Shape;644;p5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5" name="Google Shape;645;p5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6" name="Google Shape;646;p5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47" name="Google Shape;647;p5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648" name="Google Shape;648;p57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49" name="Google Shape;649;p57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52" name="Google Shape;652;p58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58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58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59" name="Google Shape;659;p58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0" name="Google Shape;660;p58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61" name="Google Shape;661;p58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2" name="Google Shape;662;p58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63" name="Google Shape;663;p58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4" name="Google Shape;664;p58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65" name="Google Shape;665;p58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6" name="Google Shape;666;p58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9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69" name="Google Shape;669;p5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0" name="Google Shape;670;p5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1" name="Google Shape;671;p5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2" name="Google Shape;672;p5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3" name="Google Shape;673;p59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59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59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6" name="Google Shape;676;p59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7" name="Google Shape;677;p59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59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9" name="Google Shape;679;p59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80" name="Google Shape;680;p59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1" name="Google Shape;681;p59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82" name="Google Shape;682;p59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3" name="Google Shape;683;p59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84" name="Google Shape;684;p59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5" name="Google Shape;685;p59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86" name="Google Shape;686;p59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7" name="Google Shape;687;p59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688" name="Google Shape;688;p59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89" name="Google Shape;689;p59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90" name="Google Shape;690;p59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91" name="Google Shape;691;p59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92" name="Google Shape;692;p59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1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7" name="Google Shape;697;p61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698" name="Google Shape;698;p61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9" name="Google Shape;699;p61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700" name="Google Shape;700;p61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1" name="Google Shape;701;p61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702" name="Google Shape;702;p61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03" name="Google Shape;703;p61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4" name="Google Shape;704;p61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705" name="Google Shape;705;p61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06" name="Google Shape;706;p61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09" name="Google Shape;709;p62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710" name="Google Shape;710;p62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711" name="Google Shape;711;p62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712" name="Google Shape;712;p62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13" name="Google Shape;713;p62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714" name="Google Shape;714;p62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62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716" name="Google Shape;716;p62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17" name="Google Shape;717;p62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718" name="Google Shape;718;p62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62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0" name="Google Shape;720;p62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63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24" name="Google Shape;724;p63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5" name="Google Shape;725;p63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6" name="Google Shape;726;p63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7" name="Google Shape;727;p63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8" name="Google Shape;728;p63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9" name="Google Shape;729;p63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64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4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3" name="Google Shape;733;p64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34" name="Google Shape;734;p64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64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6" name="Google Shape;736;p64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737" name="Google Shape;737;p64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38" name="Google Shape;738;p64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739" name="Google Shape;739;p64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40" name="Google Shape;740;p64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741" name="Google Shape;741;p64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42" name="Google Shape;742;p64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5" name="Google Shape;745;p65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46" name="Google Shape;746;p65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47" name="Google Shape;747;p65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48" name="Google Shape;748;p65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49" name="Google Shape;749;p65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50" name="Google Shape;750;p65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51" name="Google Shape;751;p65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752" name="Google Shape;752;p65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753" name="Google Shape;753;p65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754" name="Google Shape;754;p65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57" name="Google Shape;757;p66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66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9" name="Google Shape;759;p66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0" name="Google Shape;760;p66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1" name="Google Shape;761;p66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762" name="Google Shape;762;p66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763" name="Google Shape;763;p66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764" name="Google Shape;764;p66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765" name="Google Shape;765;p66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66" name="Google Shape;766;p6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70" name="Google Shape;770;p6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1" name="Google Shape;771;p6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2" name="Google Shape;772;p67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3" name="Google Shape;773;p67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4" name="Google Shape;774;p67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5" name="Google Shape;775;p67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6" name="Google Shape;776;p67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7" name="Google Shape;777;p67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8" name="Google Shape;778;p67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9" name="Google Shape;779;p67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0" name="Google Shape;780;p67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2" name="Google Shape;782;p67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3" name="Google Shape;783;p67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6" name="Google Shape;786;p67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7" name="Google Shape;787;p67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8" name="Google Shape;788;p67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90" name="Google Shape;790;p67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91" name="Google Shape;791;p67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92" name="Google Shape;792;p67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93" name="Google Shape;793;p67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94" name="Google Shape;794;p67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97" name="Google Shape;797;p6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98" name="Google Shape;798;p6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9" name="Google Shape;799;p68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00" name="Google Shape;800;p68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01" name="Google Shape;801;p68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02" name="Google Shape;802;p68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03" name="Google Shape;803;p68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04" name="Google Shape;804;p68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805" name="Google Shape;805;p68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806" name="Google Shape;806;p68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807" name="Google Shape;807;p68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808" name="Google Shape;808;p68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811" name="Google Shape;811;p6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2" name="Google Shape;812;p6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3" name="Google Shape;813;p69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14" name="Google Shape;814;p69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15" name="Google Shape;815;p69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16" name="Google Shape;816;p6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817" name="Google Shape;817;p69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818" name="Google Shape;818;p69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9" name="Google Shape;819;p69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0" name="Google Shape;820;p69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1" name="Google Shape;821;p69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2" name="Google Shape;822;p69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3" name="Google Shape;823;p69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4" name="Google Shape;824;p69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5" name="Google Shape;825;p69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6" name="Google Shape;826;p69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7" name="Google Shape;827;p69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8" name="Google Shape;828;p69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0" name="Google Shape;830;p69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1" name="Google Shape;831;p69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2" name="Google Shape;832;p69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3" name="Google Shape;833;p69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4" name="Google Shape;834;p69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5" name="Google Shape;835;p69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6" name="Google Shape;836;p69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7" name="Google Shape;837;p69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8" name="Google Shape;838;p69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9" name="Google Shape;839;p69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0" name="Google Shape;840;p69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1" name="Google Shape;841;p69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842" name="Google Shape;842;p6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843" name="Google Shape;843;p6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846" name="Google Shape;846;p7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47" name="Google Shape;847;p7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48" name="Google Shape;848;p70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49" name="Google Shape;849;p70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50" name="Google Shape;850;p70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851" name="Google Shape;851;p70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852" name="Google Shape;852;p70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853" name="Google Shape;853;p70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6" name="Google Shape;856;p7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857" name="Google Shape;857;p7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58" name="Google Shape;858;p71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59" name="Google Shape;859;p71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60" name="Google Shape;860;p71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71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62" name="Google Shape;862;p71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863" name="Google Shape;863;p71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864" name="Google Shape;864;p71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865" name="Google Shape;865;p71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72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72"/>
          <p:cNvCxnSpPr>
            <a:stCxn id="869" idx="1"/>
            <a:endCxn id="870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72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72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72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73" name="Google Shape;873;p72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72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74" name="Google Shape;874;p72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72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6" name="Google Shape;876;p72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77" name="Google Shape;877;p72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879;p73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73"/>
          <p:cNvCxnSpPr>
            <a:stCxn id="881" idx="1"/>
            <a:endCxn id="882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73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73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73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85" name="Google Shape;885;p73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73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86" name="Google Shape;886;p73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73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8" name="Google Shape;888;p73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89" name="Google Shape;889;p73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4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92" name="Google Shape;892;p7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3" name="Google Shape;893;p7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4" name="Google Shape;894;p7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7" name="Google Shape;897;p74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8" name="Google Shape;898;p74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899" name="Google Shape;899;p74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0" name="Google Shape;900;p74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01" name="Google Shape;901;p74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2" name="Google Shape;902;p74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03" name="Google Shape;903;p74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4" name="Google Shape;904;p74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05" name="Google Shape;905;p74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6" name="Google Shape;906;p74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07" name="Google Shape;907;p74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5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10" name="Google Shape;910;p75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1" name="Google Shape;911;p7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2" name="Google Shape;912;p7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3" name="Google Shape;913;p7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4" name="Google Shape;914;p7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5" name="Google Shape;915;p75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16" name="Google Shape;916;p75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17" name="Google Shape;917;p75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18" name="Google Shape;918;p75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19" name="Google Shape;919;p75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6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2" name="Google Shape;922;p76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3" name="Google Shape;923;p76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924" name="Google Shape;924;p76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925" name="Google Shape;925;p76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926" name="Google Shape;926;p76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927" name="Google Shape;927;p76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928" name="Google Shape;928;p76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929" name="Google Shape;929;p76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34" name="Google Shape;934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37" name="Google Shape;937;p7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8" name="Google Shape;938;p7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41" name="Google Shape;941;p8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8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6" name="Google Shape;946;p8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7" name="Google Shape;947;p8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2" name="Google Shape;952;p8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56" name="Google Shape;956;p8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57" name="Google Shape;957;p8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0" name="Google Shape;960;p8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1" name="Google Shape;961;p8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2" name="Google Shape;962;p8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3" name="Google Shape;963;p8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6" name="Google Shape;966;p8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7" name="Google Shape;967;p8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8" name="Google Shape;968;p8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9" name="Google Shape;969;p8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0" name="Google Shape;970;p8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1" name="Google Shape;971;p8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74" name="Google Shape;974;p8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5" name="Google Shape;975;p8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6" name="Google Shape;976;p8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7" name="Google Shape;977;p8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78" name="Google Shape;978;p8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8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8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8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84" name="Google Shape;984;p9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9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7" name="Google Shape;987;p9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9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9" name="Google Shape;989;p9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0" name="Google Shape;99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91" name="Google Shape;991;p9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2" name="Google Shape;992;p9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5" name="Google Shape;995;p9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9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7" name="Google Shape;997;p9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8" name="Google Shape;998;p9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9" name="Google Shape;999;p9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0" name="Google Shape;1000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01" name="Google Shape;1001;p9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9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3" name="Google Shape;1003;p9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9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9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9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9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9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3" name="Google Shape;1013;p9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14" name="Google Shape;1014;p9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9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6" name="Google Shape;1016;p9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70.xml"/><Relationship Id="rId42" Type="http://schemas.openxmlformats.org/officeDocument/2006/relationships/theme" Target="../theme/theme4.xml"/><Relationship Id="rId41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7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79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80" name="Google Shape;480;p53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81" name="Google Shape;481;p53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  <p:sldLayoutId id="2147483736" r:id="rId39"/>
    <p:sldLayoutId id="2147483737" r:id="rId40"/>
    <p:sldLayoutId id="214748373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linkedin.com/in/danieljxavier/" TargetMode="External"/><Relationship Id="rId4" Type="http://schemas.openxmlformats.org/officeDocument/2006/relationships/image" Target="../media/image24.jp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hyperlink" Target="https://developer.mozilla.org/en-US/docs/Web/HTML/Referenc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hyperlink" Target="https://developer.mozilla.org/en-US/docs/Web/CSS/Reference" TargetMode="External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hyperlink" Target="https://developer.mozilla.org/en-US/docs/Web/JavaScript/Reference" TargetMode="External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hyperlink" Target="https://react.dev/reference/react" TargetMode="External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hyperlink" Target="https://nextjs.org/docs" TargetMode="External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hyperlink" Target="https://tailwindcss.com/docs/styling-with-utility-classes" TargetMode="External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hyperlink" Target="https://www.typescriptlang.org/docs/" TargetMode="External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hyperlink" Target="https://nodejs.org/en" TargetMode="External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eact.dev/learn/installation#try-react" TargetMode="External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hyperlink" Target="https://github.com/nvm-sh/nvm" TargetMode="External"/><Relationship Id="rId5" Type="http://schemas.openxmlformats.org/officeDocument/2006/relationships/hyperlink" Target="https://code.visualstudio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hyperlink" Target="https://react.dev/learn/creating-a-react-app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react.dev/learn/writing-markup-with-jsx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nextjs.org/docs/app/getting-started/layouts-and-pages#creating-a-nested-rout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nextjs.org/docs/app/getting-started/server-and-client-component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react.dev/learn/lifecycle-of-reactive-effects#recap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react.dev/reference/react/createContext#creating-contex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mozilla.org/en-US/docs/Web/API/Window/sessionStorag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.mozilla.org/en-US/docs/Web/API/Window/localStorag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axios-http.com/docs/intro" TargetMode="External"/><Relationship Id="rId4" Type="http://schemas.openxmlformats.org/officeDocument/2006/relationships/image" Target="../media/image27.png"/><Relationship Id="rId5" Type="http://schemas.openxmlformats.org/officeDocument/2006/relationships/hyperlink" Target="https://developer.mozilla.org/en-US/docs/Web/API/Fetch_API" TargetMode="External"/><Relationship Id="rId6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jpg"/><Relationship Id="rId4" Type="http://schemas.openxmlformats.org/officeDocument/2006/relationships/hyperlink" Target="https://developer.mozilla.org/en-US/docs/Web/HTTP/Guides/CORS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nextjs.org/docs/app/getting-started/fetching-data#server-components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nextjs.org/docs/app/getting-started/fetching-data#client-component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chatgpt.com/share/684ddd95-fa58-8000-a74c-51059b3e69d7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21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Relationship Id="rId4" Type="http://schemas.openxmlformats.org/officeDocument/2006/relationships/hyperlink" Target="https://github.com/DanielJXavier/tasks-crud-api" TargetMode="External"/><Relationship Id="rId5" Type="http://schemas.openxmlformats.org/officeDocument/2006/relationships/hyperlink" Target="https://github.com/DanielJXavier/tasks-crud-app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www.linkedin.com/in/danieljxavi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95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1022" name="Google Shape;1022;p9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23" name="Google Shape;1023;p9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024" name="Google Shape;1024;p9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9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26" name="Google Shape;1026;p95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7" name="Google Shape;1027;p9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028" name="Google Shape;1028;p95"/>
          <p:cNvSpPr txBox="1"/>
          <p:nvPr>
            <p:ph idx="8" type="subTitle"/>
          </p:nvPr>
        </p:nvSpPr>
        <p:spPr>
          <a:xfrm>
            <a:off x="228591" y="3589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Daniel Xavier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96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4" name="Google Shape;1034;p96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5" name="Google Shape;1035;p96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6" name="Google Shape;1036;p96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7" name="Google Shape;1037;p96"/>
          <p:cNvCxnSpPr/>
          <p:nvPr/>
        </p:nvCxnSpPr>
        <p:spPr>
          <a:xfrm>
            <a:off x="2438800" y="257176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9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0</a:t>
            </a:r>
            <a:r>
              <a:rPr lang="en"/>
              <a:t>25</a:t>
            </a:r>
            <a:endParaRPr/>
          </a:p>
        </p:txBody>
      </p:sp>
      <p:sp>
        <p:nvSpPr>
          <p:cNvPr id="1039" name="Google Shape;1039;p96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Xavier</a:t>
            </a:r>
            <a:br>
              <a:rPr lang="en"/>
            </a:br>
            <a:r>
              <a:rPr lang="en" sz="800" u="sng">
                <a:solidFill>
                  <a:schemeClr val="hlink"/>
                </a:solidFill>
                <a:hlinkClick r:id="rId3"/>
              </a:rPr>
              <a:t>https://linkedin.com/in/danieljxavier/</a:t>
            </a:r>
            <a:endParaRPr sz="800" u="sng"/>
          </a:p>
        </p:txBody>
      </p:sp>
      <p:pic>
        <p:nvPicPr>
          <p:cNvPr id="1040" name="Google Shape;1040;p96" title="IMG_0027.jpeg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50" y="993050"/>
            <a:ext cx="850500" cy="850500"/>
          </a:xfrm>
          <a:prstGeom prst="ellipse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1" name="Google Shape;1041;p96"/>
          <p:cNvSpPr txBox="1"/>
          <p:nvPr>
            <p:ph idx="6" type="body"/>
          </p:nvPr>
        </p:nvSpPr>
        <p:spPr>
          <a:xfrm>
            <a:off x="381950" y="2597750"/>
            <a:ext cx="18612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Specialist Front-End Engineer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Tech Lead</a:t>
            </a:r>
            <a:endParaRPr b="1"/>
          </a:p>
        </p:txBody>
      </p:sp>
      <p:sp>
        <p:nvSpPr>
          <p:cNvPr id="1042" name="Google Shape;1042;p96"/>
          <p:cNvSpPr txBox="1"/>
          <p:nvPr>
            <p:ph idx="7" type="subTitle"/>
          </p:nvPr>
        </p:nvSpPr>
        <p:spPr>
          <a:xfrm>
            <a:off x="2580250" y="150782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</a:t>
            </a:r>
            <a:r>
              <a:rPr lang="en"/>
              <a:t>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96"/>
          <p:cNvSpPr txBox="1"/>
          <p:nvPr>
            <p:ph idx="8" type="body"/>
          </p:nvPr>
        </p:nvSpPr>
        <p:spPr>
          <a:xfrm>
            <a:off x="2580250" y="1736420"/>
            <a:ext cx="30231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Ciência da Computação </a:t>
            </a:r>
            <a:r>
              <a:rPr lang="en" sz="800"/>
              <a:t>(2010 ~ 2014)</a:t>
            </a:r>
            <a:br>
              <a:rPr lang="en"/>
            </a:br>
            <a:r>
              <a:rPr lang="en" sz="800"/>
              <a:t>(Bacharelado)</a:t>
            </a:r>
            <a:br>
              <a:rPr lang="en" sz="800"/>
            </a:br>
            <a:endParaRPr sz="8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Gestão Estratégica de Pessoas </a:t>
            </a:r>
            <a:r>
              <a:rPr lang="en" sz="800"/>
              <a:t>(2020 ~ 2021)</a:t>
            </a:r>
            <a:br>
              <a:rPr lang="en"/>
            </a:br>
            <a:r>
              <a:rPr lang="en" sz="800"/>
              <a:t>(Pós-graduação - MBA)</a:t>
            </a:r>
            <a:endParaRPr sz="800"/>
          </a:p>
        </p:txBody>
      </p:sp>
      <p:sp>
        <p:nvSpPr>
          <p:cNvPr id="1044" name="Google Shape;1044;p96"/>
          <p:cNvSpPr txBox="1"/>
          <p:nvPr>
            <p:ph idx="9" type="subTitle"/>
          </p:nvPr>
        </p:nvSpPr>
        <p:spPr>
          <a:xfrm>
            <a:off x="2567575" y="2661489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</a:t>
            </a:r>
            <a:r>
              <a:rPr lang="en"/>
              <a:t>ência Profissional</a:t>
            </a:r>
            <a:endParaRPr/>
          </a:p>
        </p:txBody>
      </p:sp>
      <p:sp>
        <p:nvSpPr>
          <p:cNvPr id="1045" name="Google Shape;1045;p96"/>
          <p:cNvSpPr txBox="1"/>
          <p:nvPr>
            <p:ph idx="13" type="body"/>
          </p:nvPr>
        </p:nvSpPr>
        <p:spPr>
          <a:xfrm>
            <a:off x="2567575" y="2890095"/>
            <a:ext cx="3054600" cy="14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Char char="●"/>
            </a:pPr>
            <a:r>
              <a:rPr lang="en"/>
              <a:t>Desenvolvedor no Mercado Nacional </a:t>
            </a:r>
            <a:r>
              <a:rPr lang="en"/>
              <a:t>🇧🇷</a:t>
            </a:r>
            <a:br>
              <a:rPr lang="en" sz="800"/>
            </a:br>
            <a:r>
              <a:rPr lang="en" sz="800"/>
              <a:t>(2012 </a:t>
            </a:r>
            <a:r>
              <a:rPr lang="en" sz="800"/>
              <a:t>~ 2019</a:t>
            </a:r>
            <a:r>
              <a:rPr lang="en" sz="800"/>
              <a:t>)</a:t>
            </a:r>
            <a:br>
              <a:rPr lang="en" sz="800"/>
            </a:b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Char char="●"/>
            </a:pPr>
            <a:r>
              <a:rPr lang="en"/>
              <a:t>Líder Técnico</a:t>
            </a:r>
            <a:r>
              <a:rPr lang="en"/>
              <a:t> </a:t>
            </a:r>
            <a:r>
              <a:rPr lang="en"/>
              <a:t>no Mercado Nacional </a:t>
            </a:r>
            <a:r>
              <a:rPr lang="en"/>
              <a:t>🇧🇷</a:t>
            </a:r>
            <a:br>
              <a:rPr lang="en" sz="800"/>
            </a:br>
            <a:r>
              <a:rPr lang="en" sz="800"/>
              <a:t>(2019 </a:t>
            </a:r>
            <a:r>
              <a:rPr lang="en" sz="800"/>
              <a:t>~ 2024</a:t>
            </a:r>
            <a:r>
              <a:rPr lang="en" sz="800"/>
              <a:t>)</a:t>
            </a:r>
            <a:br>
              <a:rPr lang="en" sz="800"/>
            </a:b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Char char="●"/>
            </a:pPr>
            <a:r>
              <a:rPr lang="en"/>
              <a:t>Empreendedor no</a:t>
            </a:r>
            <a:r>
              <a:rPr lang="en"/>
              <a:t> Mercado Nacional 🇧🇷</a:t>
            </a:r>
            <a:br>
              <a:rPr lang="en" sz="800"/>
            </a:br>
            <a:r>
              <a:rPr lang="en" sz="800"/>
              <a:t>(2022 ~ 2023)</a:t>
            </a:r>
            <a:br>
              <a:rPr lang="en" sz="800"/>
            </a:b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Char char="●"/>
            </a:pPr>
            <a:r>
              <a:rPr lang="en"/>
              <a:t>Desenvolvedor no Mercado </a:t>
            </a:r>
            <a:r>
              <a:rPr lang="en"/>
              <a:t>Internacional 🇺🇸</a:t>
            </a:r>
            <a:br>
              <a:rPr lang="en" sz="800"/>
            </a:br>
            <a:r>
              <a:rPr lang="en" sz="800"/>
              <a:t>(2024 </a:t>
            </a:r>
            <a:r>
              <a:rPr lang="en" sz="800"/>
              <a:t>~ hoje</a:t>
            </a:r>
            <a:r>
              <a:rPr lang="en" sz="800"/>
              <a:t>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46" name="Google Shape;1046;p96"/>
          <p:cNvSpPr txBox="1"/>
          <p:nvPr>
            <p:ph idx="15" type="subTitle"/>
          </p:nvPr>
        </p:nvSpPr>
        <p:spPr>
          <a:xfrm>
            <a:off x="5877425" y="150782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Habilidades T</a:t>
            </a:r>
            <a:r>
              <a:rPr lang="en"/>
              <a:t>écnicas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96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1048" name="Google Shape;1048;p96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Lideran</a:t>
            </a:r>
            <a:r>
              <a:rPr lang="en"/>
              <a:t>ça</a:t>
            </a:r>
            <a:endParaRPr/>
          </a:p>
        </p:txBody>
      </p:sp>
      <p:sp>
        <p:nvSpPr>
          <p:cNvPr id="1049" name="Google Shape;1049;p96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96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Hobbies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6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Conhe</a:t>
            </a:r>
            <a:r>
              <a:rPr lang="en"/>
              <a:t>ça seu professor</a:t>
            </a:r>
            <a:endParaRPr/>
          </a:p>
        </p:txBody>
      </p:sp>
      <p:grpSp>
        <p:nvGrpSpPr>
          <p:cNvPr id="1052" name="Google Shape;1052;p96"/>
          <p:cNvGrpSpPr/>
          <p:nvPr/>
        </p:nvGrpSpPr>
        <p:grpSpPr>
          <a:xfrm>
            <a:off x="5866250" y="2391325"/>
            <a:ext cx="2950800" cy="144007"/>
            <a:chOff x="5866250" y="2438413"/>
            <a:chExt cx="2950800" cy="144007"/>
          </a:xfrm>
        </p:grpSpPr>
        <p:sp>
          <p:nvSpPr>
            <p:cNvPr id="1053" name="Google Shape;1053;p96"/>
            <p:cNvSpPr/>
            <p:nvPr/>
          </p:nvSpPr>
          <p:spPr>
            <a:xfrm>
              <a:off x="5866250" y="2438419"/>
              <a:ext cx="2950800" cy="144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054" name="Google Shape;1054;p96"/>
            <p:cNvSpPr/>
            <p:nvPr/>
          </p:nvSpPr>
          <p:spPr>
            <a:xfrm>
              <a:off x="5866250" y="2438413"/>
              <a:ext cx="2101200" cy="144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055" name="Google Shape;1055;p96"/>
          <p:cNvSpPr/>
          <p:nvPr/>
        </p:nvSpPr>
        <p:spPr>
          <a:xfrm>
            <a:off x="5866250" y="1958615"/>
            <a:ext cx="2950800" cy="144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—-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descr="A series of bar graphs visualizing the user persona's proficiency with different devices. " id="1056" name="Google Shape;1056;p96"/>
          <p:cNvSpPr/>
          <p:nvPr/>
        </p:nvSpPr>
        <p:spPr>
          <a:xfrm>
            <a:off x="5866250" y="1958625"/>
            <a:ext cx="2602500" cy="144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7" name="Google Shape;1057;p96"/>
          <p:cNvSpPr/>
          <p:nvPr/>
        </p:nvSpPr>
        <p:spPr>
          <a:xfrm>
            <a:off x="5866250" y="2824027"/>
            <a:ext cx="2433300" cy="144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8" name="Google Shape;1058;p96"/>
          <p:cNvGrpSpPr/>
          <p:nvPr/>
        </p:nvGrpSpPr>
        <p:grpSpPr>
          <a:xfrm>
            <a:off x="5866250" y="2824025"/>
            <a:ext cx="2950800" cy="144010"/>
            <a:chOff x="5866250" y="2824025"/>
            <a:chExt cx="2950800" cy="144010"/>
          </a:xfrm>
        </p:grpSpPr>
        <p:sp>
          <p:nvSpPr>
            <p:cNvPr id="1059" name="Google Shape;1059;p96"/>
            <p:cNvSpPr/>
            <p:nvPr/>
          </p:nvSpPr>
          <p:spPr>
            <a:xfrm>
              <a:off x="5866250" y="2824035"/>
              <a:ext cx="2950800" cy="144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060" name="Google Shape;1060;p96"/>
            <p:cNvSpPr/>
            <p:nvPr/>
          </p:nvSpPr>
          <p:spPr>
            <a:xfrm>
              <a:off x="5866250" y="2824025"/>
              <a:ext cx="850500" cy="144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061" name="Google Shape;1061;p96"/>
          <p:cNvGrpSpPr/>
          <p:nvPr/>
        </p:nvGrpSpPr>
        <p:grpSpPr>
          <a:xfrm>
            <a:off x="5865600" y="3227911"/>
            <a:ext cx="2950548" cy="1258990"/>
            <a:chOff x="5865600" y="3227911"/>
            <a:chExt cx="2950548" cy="1258990"/>
          </a:xfrm>
        </p:grpSpPr>
        <p:grpSp>
          <p:nvGrpSpPr>
            <p:cNvPr id="1062" name="Google Shape;1062;p96"/>
            <p:cNvGrpSpPr/>
            <p:nvPr/>
          </p:nvGrpSpPr>
          <p:grpSpPr>
            <a:xfrm>
              <a:off x="7557643" y="3227911"/>
              <a:ext cx="1258506" cy="1258990"/>
              <a:chOff x="7227167" y="3027486"/>
              <a:chExt cx="1559100" cy="1559700"/>
            </a:xfrm>
          </p:grpSpPr>
          <p:sp>
            <p:nvSpPr>
              <p:cNvPr id="1063" name="Google Shape;1063;p96"/>
              <p:cNvSpPr/>
              <p:nvPr/>
            </p:nvSpPr>
            <p:spPr>
              <a:xfrm rot="2694635">
                <a:off x="7471537" y="3255980"/>
                <a:ext cx="1087390" cy="108739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64" name="Google Shape;1064;p96"/>
              <p:cNvSpPr/>
              <p:nvPr/>
            </p:nvSpPr>
            <p:spPr>
              <a:xfrm>
                <a:off x="7455575" y="3255975"/>
                <a:ext cx="1102500" cy="1102500"/>
              </a:xfrm>
              <a:prstGeom prst="pie">
                <a:avLst>
                  <a:gd fmla="val 0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descr="A pie chart comparing sales across online stores, physical stores, and social media. " id="1065" name="Google Shape;1065;p96"/>
              <p:cNvSpPr/>
              <p:nvPr/>
            </p:nvSpPr>
            <p:spPr>
              <a:xfrm rot="2701323">
                <a:off x="7455386" y="3256005"/>
                <a:ext cx="1102662" cy="1102662"/>
              </a:xfrm>
              <a:prstGeom prst="pie">
                <a:avLst>
                  <a:gd fmla="val 21133399" name="adj1"/>
                  <a:gd fmla="val 13500479" name="adj2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66" name="Google Shape;1066;p96"/>
            <p:cNvGrpSpPr/>
            <p:nvPr/>
          </p:nvGrpSpPr>
          <p:grpSpPr>
            <a:xfrm>
              <a:off x="5865600" y="3799828"/>
              <a:ext cx="1324750" cy="108613"/>
              <a:chOff x="5865600" y="3799828"/>
              <a:chExt cx="1324750" cy="108613"/>
            </a:xfrm>
          </p:grpSpPr>
          <p:sp>
            <p:nvSpPr>
              <p:cNvPr id="1067" name="Google Shape;1067;p96"/>
              <p:cNvSpPr/>
              <p:nvPr/>
            </p:nvSpPr>
            <p:spPr>
              <a:xfrm>
                <a:off x="5865600" y="380104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68" name="Google Shape;1068;p96"/>
              <p:cNvSpPr txBox="1"/>
              <p:nvPr/>
            </p:nvSpPr>
            <p:spPr>
              <a:xfrm>
                <a:off x="6501550" y="3799828"/>
                <a:ext cx="6888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Motociclismo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  <p:grpSp>
          <p:nvGrpSpPr>
            <p:cNvPr id="1069" name="Google Shape;1069;p96"/>
            <p:cNvGrpSpPr/>
            <p:nvPr/>
          </p:nvGrpSpPr>
          <p:grpSpPr>
            <a:xfrm>
              <a:off x="5865600" y="3995110"/>
              <a:ext cx="1324750" cy="114330"/>
              <a:chOff x="5865600" y="3995110"/>
              <a:chExt cx="1324750" cy="114330"/>
            </a:xfrm>
          </p:grpSpPr>
          <p:sp>
            <p:nvSpPr>
              <p:cNvPr id="1070" name="Google Shape;1070;p96"/>
              <p:cNvSpPr/>
              <p:nvPr/>
            </p:nvSpPr>
            <p:spPr>
              <a:xfrm>
                <a:off x="5865600" y="399511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71" name="Google Shape;1071;p96"/>
              <p:cNvSpPr txBox="1"/>
              <p:nvPr/>
            </p:nvSpPr>
            <p:spPr>
              <a:xfrm>
                <a:off x="6501550" y="4002040"/>
                <a:ext cx="6888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Fotografia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  <p:grpSp>
          <p:nvGrpSpPr>
            <p:cNvPr id="1072" name="Google Shape;1072;p96"/>
            <p:cNvGrpSpPr/>
            <p:nvPr/>
          </p:nvGrpSpPr>
          <p:grpSpPr>
            <a:xfrm>
              <a:off x="5865600" y="4189180"/>
              <a:ext cx="1569550" cy="107410"/>
              <a:chOff x="5865600" y="4189180"/>
              <a:chExt cx="1569550" cy="107410"/>
            </a:xfrm>
          </p:grpSpPr>
          <p:sp>
            <p:nvSpPr>
              <p:cNvPr id="1073" name="Google Shape;1073;p96"/>
              <p:cNvSpPr/>
              <p:nvPr/>
            </p:nvSpPr>
            <p:spPr>
              <a:xfrm>
                <a:off x="5865600" y="418918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74" name="Google Shape;1074;p96"/>
              <p:cNvSpPr txBox="1"/>
              <p:nvPr/>
            </p:nvSpPr>
            <p:spPr>
              <a:xfrm>
                <a:off x="6501550" y="4189190"/>
                <a:ext cx="9336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Esportes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</p:grpSp>
      <p:pic>
        <p:nvPicPr>
          <p:cNvPr id="1075" name="Google Shape;1075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75" y="3227898"/>
            <a:ext cx="1939850" cy="92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7"/>
          <p:cNvSpPr/>
          <p:nvPr/>
        </p:nvSpPr>
        <p:spPr>
          <a:xfrm>
            <a:off x="4525054" y="173096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1" name="Google Shape;1081;p97"/>
          <p:cNvSpPr/>
          <p:nvPr/>
        </p:nvSpPr>
        <p:spPr>
          <a:xfrm>
            <a:off x="4525054" y="323671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2" name="Google Shape;1082;p97"/>
          <p:cNvSpPr/>
          <p:nvPr/>
        </p:nvSpPr>
        <p:spPr>
          <a:xfrm>
            <a:off x="4525054" y="248383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3" name="Google Shape;1083;p97"/>
          <p:cNvSpPr/>
          <p:nvPr/>
        </p:nvSpPr>
        <p:spPr>
          <a:xfrm>
            <a:off x="4525054" y="398958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4" name="Google Shape;1084;p97"/>
          <p:cNvSpPr txBox="1"/>
          <p:nvPr>
            <p:ph idx="1" type="subTitle"/>
          </p:nvPr>
        </p:nvSpPr>
        <p:spPr>
          <a:xfrm>
            <a:off x="4793025" y="1668125"/>
            <a:ext cx="4066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 Ensinar React com foco prático e moderno</a:t>
            </a:r>
            <a:endParaRPr sz="1200"/>
          </a:p>
        </p:txBody>
      </p:sp>
      <p:sp>
        <p:nvSpPr>
          <p:cNvPr id="1085" name="Google Shape;1085;p97"/>
          <p:cNvSpPr txBox="1"/>
          <p:nvPr>
            <p:ph type="title"/>
          </p:nvPr>
        </p:nvSpPr>
        <p:spPr>
          <a:xfrm>
            <a:off x="1392601" y="836575"/>
            <a:ext cx="3205200" cy="1293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r>
              <a:rPr lang="en"/>
              <a:t>	</a:t>
            </a:r>
            <a:r>
              <a:rPr lang="en"/>
              <a:t> 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do Curso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86" name="Google Shape;1086;p97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Fundamentos de Front-End com React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2025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8" name="Google Shape;1088;p97"/>
          <p:cNvSpPr txBox="1"/>
          <p:nvPr>
            <p:ph idx="1" type="subTitle"/>
          </p:nvPr>
        </p:nvSpPr>
        <p:spPr>
          <a:xfrm>
            <a:off x="4793025" y="2421000"/>
            <a:ext cx="4066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2. </a:t>
            </a:r>
            <a:r>
              <a:rPr lang="en" sz="1200"/>
              <a:t>Conectar o pensamento Back-End com o Front-End</a:t>
            </a:r>
            <a:endParaRPr sz="1200"/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4793025" y="3173875"/>
            <a:ext cx="4066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</a:t>
            </a:r>
            <a:r>
              <a:rPr lang="en" sz="1200"/>
              <a:t>. </a:t>
            </a:r>
            <a:r>
              <a:rPr lang="en" sz="1200"/>
              <a:t>Preparar para entrevistas e desafios técnicos reais</a:t>
            </a:r>
            <a:endParaRPr sz="1200"/>
          </a:p>
        </p:txBody>
      </p:sp>
      <p:sp>
        <p:nvSpPr>
          <p:cNvPr id="1090" name="Google Shape;1090;p97"/>
          <p:cNvSpPr txBox="1"/>
          <p:nvPr>
            <p:ph idx="1" type="subTitle"/>
          </p:nvPr>
        </p:nvSpPr>
        <p:spPr>
          <a:xfrm>
            <a:off x="4793025" y="3926750"/>
            <a:ext cx="4066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</a:t>
            </a:r>
            <a:r>
              <a:rPr lang="en" sz="1200"/>
              <a:t>. </a:t>
            </a:r>
            <a:r>
              <a:rPr lang="en" sz="1200"/>
              <a:t>Formar um mindset de desenvolvimento de produto, e não só de código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98"/>
          <p:cNvSpPr/>
          <p:nvPr/>
        </p:nvSpPr>
        <p:spPr>
          <a:xfrm>
            <a:off x="5462554" y="173096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6" name="Google Shape;1096;p98"/>
          <p:cNvSpPr/>
          <p:nvPr/>
        </p:nvSpPr>
        <p:spPr>
          <a:xfrm>
            <a:off x="5462554" y="224993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7" name="Google Shape;1097;p98"/>
          <p:cNvSpPr/>
          <p:nvPr/>
        </p:nvSpPr>
        <p:spPr>
          <a:xfrm>
            <a:off x="5462554" y="276891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8" name="Google Shape;1098;p98"/>
          <p:cNvSpPr/>
          <p:nvPr/>
        </p:nvSpPr>
        <p:spPr>
          <a:xfrm>
            <a:off x="5462554" y="328788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9" name="Google Shape;1099;p98"/>
          <p:cNvSpPr/>
          <p:nvPr/>
        </p:nvSpPr>
        <p:spPr>
          <a:xfrm>
            <a:off x="5462554" y="380686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0" name="Google Shape;1100;p98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Fundamentos de Front-End com React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101" name="Google Shape;1101;p98"/>
          <p:cNvSpPr txBox="1"/>
          <p:nvPr>
            <p:ph idx="1" type="subTitle"/>
          </p:nvPr>
        </p:nvSpPr>
        <p:spPr>
          <a:xfrm>
            <a:off x="5711274" y="1668125"/>
            <a:ext cx="3205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Fundamentos do Front-End Moderno</a:t>
            </a:r>
            <a:endParaRPr sz="1200"/>
          </a:p>
        </p:txBody>
      </p:sp>
      <p:sp>
        <p:nvSpPr>
          <p:cNvPr id="1102" name="Google Shape;1102;p98"/>
          <p:cNvSpPr txBox="1"/>
          <p:nvPr>
            <p:ph type="title"/>
          </p:nvPr>
        </p:nvSpPr>
        <p:spPr>
          <a:xfrm>
            <a:off x="1392601" y="836575"/>
            <a:ext cx="3205200" cy="1293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</a:t>
            </a:r>
            <a:r>
              <a:rPr lang="en"/>
              <a:t>údo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Programático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3" name="Google Shape;1103;p98"/>
          <p:cNvSpPr txBox="1"/>
          <p:nvPr>
            <p:ph idx="2" type="subTitle"/>
          </p:nvPr>
        </p:nvSpPr>
        <p:spPr>
          <a:xfrm>
            <a:off x="5711274" y="2187100"/>
            <a:ext cx="3205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React do Zero ao Profissional</a:t>
            </a:r>
            <a:endParaRPr sz="1200"/>
          </a:p>
        </p:txBody>
      </p:sp>
      <p:sp>
        <p:nvSpPr>
          <p:cNvPr id="1104" name="Google Shape;1104;p98"/>
          <p:cNvSpPr txBox="1"/>
          <p:nvPr>
            <p:ph idx="3" type="subTitle"/>
          </p:nvPr>
        </p:nvSpPr>
        <p:spPr>
          <a:xfrm>
            <a:off x="5623950" y="2706075"/>
            <a:ext cx="3292500" cy="30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Comunicação com APIs e Autenticação</a:t>
            </a:r>
            <a:endParaRPr sz="1200"/>
          </a:p>
        </p:txBody>
      </p:sp>
      <p:sp>
        <p:nvSpPr>
          <p:cNvPr id="1105" name="Google Shape;1105;p98"/>
          <p:cNvSpPr txBox="1"/>
          <p:nvPr>
            <p:ph idx="4" type="subTitle"/>
          </p:nvPr>
        </p:nvSpPr>
        <p:spPr>
          <a:xfrm>
            <a:off x="5711275" y="3187050"/>
            <a:ext cx="3205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Live Coding</a:t>
            </a:r>
            <a:r>
              <a:rPr lang="en" sz="1200"/>
              <a:t>: Mini App com React</a:t>
            </a:r>
            <a:endParaRPr sz="1200"/>
          </a:p>
        </p:txBody>
      </p:sp>
      <p:sp>
        <p:nvSpPr>
          <p:cNvPr id="1106" name="Google Shape;1106;p98"/>
          <p:cNvSpPr txBox="1"/>
          <p:nvPr>
            <p:ph idx="5" type="subTitle"/>
          </p:nvPr>
        </p:nvSpPr>
        <p:spPr>
          <a:xfrm>
            <a:off x="5711274" y="3749850"/>
            <a:ext cx="3205200" cy="30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Preparação para Entrevistas Técnicas</a:t>
            </a:r>
            <a:endParaRPr sz="1200"/>
          </a:p>
        </p:txBody>
      </p:sp>
      <p:sp>
        <p:nvSpPr>
          <p:cNvPr id="1107" name="Google Shape;1107;p98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2025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99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3" name="Google Shape;1113;p99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4" name="Google Shape;1114;p99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9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9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17" name="Google Shape;1117;p99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118" name="Google Shape;1118;p9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19" name="Google Shape;1119;p9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120" name="Google Shape;1120;p9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9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22" name="Google Shape;1122;p99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123" name="Google Shape;1123;p9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24" name="Google Shape;1124;p9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125" name="Google Shape;1125;p9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9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27" name="Google Shape;1127;p99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128" name="Google Shape;1128;p9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29" name="Google Shape;1129;p9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130" name="Google Shape;1130;p9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9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32" name="Google Shape;1132;p99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133" name="Google Shape;1133;p9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34" name="Google Shape;1134;p9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135" name="Google Shape;1135;p9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9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37" name="Google Shape;1137;p99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1138" name="Google Shape;1138;p9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39" name="Google Shape;1139;p9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140" name="Google Shape;1140;p9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9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42" name="Google Shape;1142;p9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143" name="Google Shape;1143;p99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Premissas</a:t>
            </a:r>
            <a:endParaRPr/>
          </a:p>
        </p:txBody>
      </p:sp>
      <p:sp>
        <p:nvSpPr>
          <p:cNvPr id="1144" name="Google Shape;1144;p9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45" name="Google Shape;1145;p99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46" name="Google Shape;1146;p99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47" name="Google Shape;1147;p99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48" name="Google Shape;1148;p99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49" name="Google Shape;1149;p99"/>
          <p:cNvSpPr txBox="1"/>
          <p:nvPr>
            <p:ph idx="13" type="subTitle"/>
          </p:nvPr>
        </p:nvSpPr>
        <p:spPr>
          <a:xfrm>
            <a:off x="5067075" y="387150"/>
            <a:ext cx="34893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</a:t>
            </a:r>
            <a:r>
              <a:rPr lang="en" sz="1100"/>
              <a:t>ógica de programação</a:t>
            </a:r>
            <a:r>
              <a:rPr lang="en" sz="1100"/>
              <a:t> </a:t>
            </a:r>
            <a:endParaRPr sz="1100"/>
          </a:p>
        </p:txBody>
      </p:sp>
      <p:sp>
        <p:nvSpPr>
          <p:cNvPr id="1150" name="Google Shape;1150;p99"/>
          <p:cNvSpPr txBox="1"/>
          <p:nvPr>
            <p:ph idx="14" type="subTitle"/>
          </p:nvPr>
        </p:nvSpPr>
        <p:spPr>
          <a:xfrm>
            <a:off x="5067075" y="1064100"/>
            <a:ext cx="34893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Desenvolvimento de software com outras linguagens</a:t>
            </a:r>
            <a:endParaRPr sz="1100"/>
          </a:p>
        </p:txBody>
      </p:sp>
      <p:sp>
        <p:nvSpPr>
          <p:cNvPr id="1151" name="Google Shape;1151;p99"/>
          <p:cNvSpPr txBox="1"/>
          <p:nvPr>
            <p:ph idx="15" type="subTitle"/>
          </p:nvPr>
        </p:nvSpPr>
        <p:spPr>
          <a:xfrm>
            <a:off x="5067075" y="1741025"/>
            <a:ext cx="34893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Funcionamento de uma aplicação Web</a:t>
            </a:r>
            <a:endParaRPr sz="1100"/>
          </a:p>
        </p:txBody>
      </p:sp>
      <p:sp>
        <p:nvSpPr>
          <p:cNvPr id="1152" name="Google Shape;1152;p99"/>
          <p:cNvSpPr txBox="1"/>
          <p:nvPr>
            <p:ph idx="16" type="subTitle"/>
          </p:nvPr>
        </p:nvSpPr>
        <p:spPr>
          <a:xfrm>
            <a:off x="5067075" y="2422300"/>
            <a:ext cx="34893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Comunicação assíncrona</a:t>
            </a:r>
            <a:endParaRPr sz="1100"/>
          </a:p>
        </p:txBody>
      </p:sp>
      <p:sp>
        <p:nvSpPr>
          <p:cNvPr id="1153" name="Google Shape;1153;p99"/>
          <p:cNvSpPr txBox="1"/>
          <p:nvPr>
            <p:ph idx="17" type="subTitle"/>
          </p:nvPr>
        </p:nvSpPr>
        <p:spPr>
          <a:xfrm>
            <a:off x="5067075" y="3096600"/>
            <a:ext cx="34893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100"/>
              <a:t>Consultar as documentações sempre que necessário</a:t>
            </a:r>
            <a:endParaRPr b="1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0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159" name="Google Shape;1159;p100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1</a:t>
            </a:r>
            <a:endParaRPr/>
          </a:p>
        </p:txBody>
      </p:sp>
      <p:sp>
        <p:nvSpPr>
          <p:cNvPr id="1160" name="Google Shape;1160;p100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Introdução ao Front-End Moderno</a:t>
            </a:r>
            <a:r>
              <a:rPr lang="en" sz="14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161" name="Google Shape;1161;p100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1162" name="Google Shape;1162;p10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163" name="Google Shape;1163;p10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164" name="Google Shape;1164;p10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" name="Google Shape;1165;p10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01"/>
          <p:cNvSpPr/>
          <p:nvPr/>
        </p:nvSpPr>
        <p:spPr>
          <a:xfrm>
            <a:off x="2344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1" name="Google Shape;1171;p101"/>
          <p:cNvSpPr/>
          <p:nvPr/>
        </p:nvSpPr>
        <p:spPr>
          <a:xfrm>
            <a:off x="20343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2" name="Google Shape;1172;p101"/>
          <p:cNvSpPr/>
          <p:nvPr/>
        </p:nvSpPr>
        <p:spPr>
          <a:xfrm>
            <a:off x="38342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3" name="Google Shape;1173;p101"/>
          <p:cNvSpPr/>
          <p:nvPr/>
        </p:nvSpPr>
        <p:spPr>
          <a:xfrm>
            <a:off x="56341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4" name="Google Shape;1174;p101"/>
          <p:cNvSpPr/>
          <p:nvPr/>
        </p:nvSpPr>
        <p:spPr>
          <a:xfrm>
            <a:off x="74340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cxnSp>
        <p:nvCxnSpPr>
          <p:cNvPr id="1175" name="Google Shape;1175;p101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76" name="Google Shape;1176;p101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7" name="Google Shape;1177;p101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8" name="Google Shape;1178;p101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79" name="Google Shape;1179;p101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80" name="Google Shape;1180;p101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181" name="Google Shape;1181;p101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Evolução do Front-End</a:t>
            </a:r>
            <a:endParaRPr/>
          </a:p>
        </p:txBody>
      </p:sp>
      <p:sp>
        <p:nvSpPr>
          <p:cNvPr id="1182" name="Google Shape;1182;p101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1995 ~ 2005</a:t>
            </a:r>
            <a:endParaRPr/>
          </a:p>
        </p:txBody>
      </p:sp>
      <p:sp>
        <p:nvSpPr>
          <p:cNvPr id="1183" name="Google Shape;1183;p101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184" name="Google Shape;1184;p101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2010 ~ 2015</a:t>
            </a:r>
            <a:endParaRPr/>
          </a:p>
        </p:txBody>
      </p:sp>
      <p:sp>
        <p:nvSpPr>
          <p:cNvPr id="1185" name="Google Shape;1185;p101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2015 ~ 2020</a:t>
            </a:r>
            <a:endParaRPr/>
          </a:p>
        </p:txBody>
      </p:sp>
      <p:sp>
        <p:nvSpPr>
          <p:cNvPr id="1186" name="Google Shape;1186;p101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 ~ hoje</a:t>
            </a:r>
            <a:endParaRPr/>
          </a:p>
        </p:txBody>
      </p:sp>
      <p:sp>
        <p:nvSpPr>
          <p:cNvPr id="1187" name="Google Shape;1187;p101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HTML e CSS</a:t>
            </a:r>
            <a:endParaRPr sz="1000"/>
          </a:p>
        </p:txBody>
      </p:sp>
      <p:sp>
        <p:nvSpPr>
          <p:cNvPr id="1188" name="Google Shape;1188;p101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JavaScript e AJAX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89" name="Google Shape;1189;p101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90" name="Google Shape;1190;p101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91" name="Google Shape;1191;p101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92" name="Google Shape;1192;p101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193" name="Google Shape;1193;p101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194" name="Google Shape;1194;p101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1991 </a:t>
            </a:r>
            <a:r>
              <a:rPr lang="en"/>
              <a:t>~ 1996</a:t>
            </a:r>
            <a:endParaRPr/>
          </a:p>
        </p:txBody>
      </p:sp>
      <p:sp>
        <p:nvSpPr>
          <p:cNvPr id="1195" name="Google Shape;1195;p101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SPAs e frameworks modernos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96" name="Google Shape;1196;p101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Build tools e ES6+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97" name="Google Shape;1197;p101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SSR, TypeScript, meta-frameworks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98" name="Google Shape;1198;p101"/>
          <p:cNvSpPr txBox="1"/>
          <p:nvPr>
            <p:ph idx="2" type="body"/>
          </p:nvPr>
        </p:nvSpPr>
        <p:spPr>
          <a:xfrm>
            <a:off x="232175" y="3349257"/>
            <a:ext cx="14580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Estrutura e estilo separados</a:t>
            </a:r>
            <a:endParaRPr sz="900"/>
          </a:p>
        </p:txBody>
      </p:sp>
      <p:sp>
        <p:nvSpPr>
          <p:cNvPr id="1199" name="Google Shape;1199;p101"/>
          <p:cNvSpPr txBox="1"/>
          <p:nvPr>
            <p:ph idx="4" type="body"/>
          </p:nvPr>
        </p:nvSpPr>
        <p:spPr>
          <a:xfrm>
            <a:off x="3834275" y="3349250"/>
            <a:ext cx="14580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Componentização e SPAs</a:t>
            </a:r>
            <a:endParaRPr sz="900"/>
          </a:p>
        </p:txBody>
      </p:sp>
      <p:sp>
        <p:nvSpPr>
          <p:cNvPr id="1200" name="Google Shape;1200;p101"/>
          <p:cNvSpPr txBox="1"/>
          <p:nvPr>
            <p:ph idx="6" type="body"/>
          </p:nvPr>
        </p:nvSpPr>
        <p:spPr>
          <a:xfrm>
            <a:off x="5620200" y="3349257"/>
            <a:ext cx="14580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Modularização e tooling</a:t>
            </a:r>
            <a:endParaRPr sz="900"/>
          </a:p>
        </p:txBody>
      </p:sp>
      <p:sp>
        <p:nvSpPr>
          <p:cNvPr id="1201" name="Google Shape;1201;p101"/>
          <p:cNvSpPr txBox="1"/>
          <p:nvPr>
            <p:ph idx="26" type="body"/>
          </p:nvPr>
        </p:nvSpPr>
        <p:spPr>
          <a:xfrm>
            <a:off x="7436375" y="3349257"/>
            <a:ext cx="14580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Front-End como plataforma</a:t>
            </a:r>
            <a:endParaRPr sz="900"/>
          </a:p>
        </p:txBody>
      </p:sp>
      <p:sp>
        <p:nvSpPr>
          <p:cNvPr id="1202" name="Google Shape;1202;p101"/>
          <p:cNvSpPr txBox="1"/>
          <p:nvPr>
            <p:ph idx="2" type="body"/>
          </p:nvPr>
        </p:nvSpPr>
        <p:spPr>
          <a:xfrm>
            <a:off x="2033225" y="3349257"/>
            <a:ext cx="14580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Interatividade dinâmica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1207" name="Google Shape;1207;p102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02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Mas então o que é o Front-End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accent3"/>
                </a:solidFill>
              </a:rPr>
              <a:t>Moderno?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09" name="Google Shape;1209;p10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10" name="Google Shape;1210;p102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16" name="Google Shape;1216;p103"/>
          <p:cNvSpPr txBox="1"/>
          <p:nvPr>
            <p:ph type="title"/>
          </p:nvPr>
        </p:nvSpPr>
        <p:spPr>
          <a:xfrm>
            <a:off x="228600" y="640925"/>
            <a:ext cx="46377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HyperText Markup Language</a:t>
            </a:r>
            <a:endParaRPr/>
          </a:p>
        </p:txBody>
      </p:sp>
      <p:sp>
        <p:nvSpPr>
          <p:cNvPr id="1217" name="Google Shape;1217;p10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uma linguagem de </a:t>
            </a:r>
            <a:r>
              <a:rPr lang="en" sz="1200" strike="sngStrike"/>
              <a:t>programação</a:t>
            </a:r>
            <a:r>
              <a:rPr lang="en" sz="1200"/>
              <a:t> marcação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a base de qualquer projeto Front-End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a estrutura da sua página</a:t>
            </a:r>
            <a:endParaRPr sz="1200"/>
          </a:p>
        </p:txBody>
      </p:sp>
      <p:pic>
        <p:nvPicPr>
          <p:cNvPr descr="A luminous galaxy." id="1218" name="Google Shape;1218;p1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219" name="Google Shape;1219;p10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pic>
        <p:nvPicPr>
          <p:cNvPr id="1220" name="Google Shape;122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250" y="1540500"/>
            <a:ext cx="1828800" cy="182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1" name="Google Shape;1221;p103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222" name="Google Shape;1222;p103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5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223" name="Google Shape;1223;p103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224" name="Google Shape;1224;p103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225" name="Google Shape;1225;p103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226" name="Google Shape;1226;p103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7" name="Google Shape;1227;p103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33" name="Google Shape;1233;p104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Style Sheets</a:t>
            </a:r>
            <a:endParaRPr/>
          </a:p>
        </p:txBody>
      </p:sp>
      <p:sp>
        <p:nvSpPr>
          <p:cNvPr id="1234" name="Google Shape;1234;p10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uma linguagem extremamente simples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N</a:t>
            </a:r>
            <a:r>
              <a:rPr lang="en" sz="1200"/>
              <a:t>ão "existe" e não funciona sem um HTML junto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o que vai definir os estilos da sua página</a:t>
            </a:r>
            <a:endParaRPr sz="1200"/>
          </a:p>
        </p:txBody>
      </p:sp>
      <p:pic>
        <p:nvPicPr>
          <p:cNvPr descr="A luminous galaxy." id="1235" name="Google Shape;1235;p10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236" name="Google Shape;1236;p10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</a:t>
            </a:r>
            <a:endParaRPr/>
          </a:p>
        </p:txBody>
      </p:sp>
      <p:grpSp>
        <p:nvGrpSpPr>
          <p:cNvPr id="1237" name="Google Shape;1237;p104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238" name="Google Shape;1238;p104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239" name="Google Shape;1239;p104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240" name="Google Shape;1240;p104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241" name="Google Shape;1241;p104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242" name="Google Shape;1242;p104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04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244" name="Google Shape;1244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0788" y="1540501"/>
            <a:ext cx="1295707" cy="182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0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50" name="Google Shape;1250;p105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</a:t>
            </a:r>
            <a:endParaRPr/>
          </a:p>
        </p:txBody>
      </p:sp>
      <p:sp>
        <p:nvSpPr>
          <p:cNvPr id="1251" name="Google Shape;1251;p10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uma linguagem de programação leve e interpretada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baseada em objetos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a linguagem base do Front-End moderno</a:t>
            </a:r>
            <a:endParaRPr sz="1200"/>
          </a:p>
        </p:txBody>
      </p:sp>
      <p:pic>
        <p:nvPicPr>
          <p:cNvPr descr="A luminous galaxy." id="1252" name="Google Shape;1252;p1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253" name="Google Shape;1253;p105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grpSp>
        <p:nvGrpSpPr>
          <p:cNvPr id="1254" name="Google Shape;1254;p105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255" name="Google Shape;1255;p105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256" name="Google Shape;1256;p105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257" name="Google Shape;1257;p105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258" name="Google Shape;1258;p105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259" name="Google Shape;1259;p105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0" name="Google Shape;1260;p105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261" name="Google Shape;1261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50" y="154050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0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67" name="Google Shape;1267;p106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1268" name="Google Shape;1268;p106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uma biblioteca para criação de elementos Front-End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baseada nos componentes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Utiliza uma linguagem avan</a:t>
            </a:r>
            <a:r>
              <a:rPr lang="en" sz="1200"/>
              <a:t>çada chamada JSX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Tamb</a:t>
            </a:r>
            <a:r>
              <a:rPr lang="en" sz="1200"/>
              <a:t>ém suporta HTML</a:t>
            </a:r>
            <a:endParaRPr sz="1200"/>
          </a:p>
        </p:txBody>
      </p:sp>
      <p:pic>
        <p:nvPicPr>
          <p:cNvPr descr="A luminous galaxy." id="1269" name="Google Shape;1269;p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270" name="Google Shape;1270;p106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grpSp>
        <p:nvGrpSpPr>
          <p:cNvPr id="1271" name="Google Shape;1271;p106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272" name="Google Shape;1272;p106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273" name="Google Shape;1273;p106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274" name="Google Shape;1274;p106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275" name="Google Shape;1275;p106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276" name="Google Shape;1276;p106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7" name="Google Shape;1277;p106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278" name="Google Shape;1278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184" y="1540500"/>
            <a:ext cx="2052933" cy="182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07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284" name="Google Shape;1284;p107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  <p:sp>
        <p:nvSpPr>
          <p:cNvPr id="1285" name="Google Shape;1285;p107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 framework full-stack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Usa componentes React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Usa Node.js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Oferece uma solu</a:t>
            </a:r>
            <a:r>
              <a:rPr lang="en" sz="1200"/>
              <a:t>ção completa</a:t>
            </a:r>
            <a:endParaRPr sz="1200"/>
          </a:p>
        </p:txBody>
      </p:sp>
      <p:pic>
        <p:nvPicPr>
          <p:cNvPr descr="A luminous galaxy." id="1286" name="Google Shape;1286;p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287" name="Google Shape;1287;p107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Next.js</a:t>
            </a:r>
            <a:endParaRPr/>
          </a:p>
        </p:txBody>
      </p:sp>
      <p:grpSp>
        <p:nvGrpSpPr>
          <p:cNvPr id="1288" name="Google Shape;1288;p107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289" name="Google Shape;1289;p107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290" name="Google Shape;1290;p107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291" name="Google Shape;1291;p107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292" name="Google Shape;1292;p107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293" name="Google Shape;1293;p107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4" name="Google Shape;1294;p107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295" name="Google Shape;129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50" y="154050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301" name="Google Shape;1301;p108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Tailwind</a:t>
            </a:r>
            <a:endParaRPr/>
          </a:p>
        </p:txBody>
      </p:sp>
      <p:sp>
        <p:nvSpPr>
          <p:cNvPr id="1302" name="Google Shape;1302;p108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um framework baseado em CSS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focado na utilidade das </a:t>
            </a:r>
            <a:r>
              <a:rPr lang="en" sz="1200"/>
              <a:t>coisas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mobile-first</a:t>
            </a:r>
            <a:endParaRPr sz="1200"/>
          </a:p>
        </p:txBody>
      </p:sp>
      <p:pic>
        <p:nvPicPr>
          <p:cNvPr descr="A luminous galaxy." id="1303" name="Google Shape;1303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304" name="Google Shape;1304;p10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Tailwind CSS</a:t>
            </a:r>
            <a:endParaRPr/>
          </a:p>
        </p:txBody>
      </p:sp>
      <p:grpSp>
        <p:nvGrpSpPr>
          <p:cNvPr id="1305" name="Google Shape;1305;p108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306" name="Google Shape;1306;p108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307" name="Google Shape;1307;p108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308" name="Google Shape;1308;p108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309" name="Google Shape;1309;p108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310" name="Google Shape;1310;p108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1" name="Google Shape;1311;p108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312" name="Google Shape;1312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426" y="1540500"/>
            <a:ext cx="2988447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0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318" name="Google Shape;1318;p109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</a:t>
            </a:r>
            <a:endParaRPr/>
          </a:p>
        </p:txBody>
      </p:sp>
      <p:sp>
        <p:nvSpPr>
          <p:cNvPr id="1319" name="Google Shape;1319;p10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Sintaxe adicional ao JavaScript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O código TypeScript é convertido em JavaScript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O TypeScript entende JavaScript e usa inferência de tipos</a:t>
            </a:r>
            <a:endParaRPr sz="1200"/>
          </a:p>
        </p:txBody>
      </p:sp>
      <p:pic>
        <p:nvPicPr>
          <p:cNvPr descr="A luminous galaxy." id="1320" name="Google Shape;1320;p1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321" name="Google Shape;1321;p109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TypeScript</a:t>
            </a:r>
            <a:endParaRPr/>
          </a:p>
        </p:txBody>
      </p:sp>
      <p:grpSp>
        <p:nvGrpSpPr>
          <p:cNvPr id="1322" name="Google Shape;1322;p109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323" name="Google Shape;1323;p109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324" name="Google Shape;1324;p109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325" name="Google Shape;1325;p109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326" name="Google Shape;1326;p109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327" name="Google Shape;1327;p109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8" name="Google Shape;1328;p109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329" name="Google Shape;1329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50" y="165735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1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335" name="Google Shape;1335;p110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</p:txBody>
      </p:sp>
      <p:sp>
        <p:nvSpPr>
          <p:cNvPr id="1336" name="Google Shape;1336;p110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quem vai executar nosso JavaScript fora do navegador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É o motor por trás de tudo que vamos construir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Tem o npm como gerenciador de pacotes</a:t>
            </a:r>
            <a:endParaRPr sz="1200"/>
          </a:p>
        </p:txBody>
      </p:sp>
      <p:pic>
        <p:nvPicPr>
          <p:cNvPr descr="A luminous galaxy." id="1337" name="Google Shape;1337;p1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338" name="Google Shape;1338;p110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Node.js</a:t>
            </a:r>
            <a:endParaRPr/>
          </a:p>
        </p:txBody>
      </p:sp>
      <p:grpSp>
        <p:nvGrpSpPr>
          <p:cNvPr id="1339" name="Google Shape;1339;p110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340" name="Google Shape;1340;p110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341" name="Google Shape;1341;p110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342" name="Google Shape;1342;p110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343" name="Google Shape;1343;p110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344" name="Google Shape;1344;p110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5" name="Google Shape;1345;p110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346" name="Google Shape;1346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7674" y="1657350"/>
            <a:ext cx="2981952" cy="182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1351" name="Google Shape;1351;p111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Entre em cada uma das documentações para </a:t>
            </a:r>
            <a:r>
              <a:rPr lang="en">
                <a:solidFill>
                  <a:schemeClr val="accent3"/>
                </a:solidFill>
              </a:rPr>
              <a:t>se familiarizar!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53" name="Google Shape;1353;p11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354" name="Google Shape;1354;p111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9" name="Google Shape;1359;p112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112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112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112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1363" name="Google Shape;1363;p11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64" name="Google Shape;1364;p11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65" name="Google Shape;1365;p11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6" name="Google Shape;1366;p11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67" name="Google Shape;1367;p112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1368" name="Google Shape;1368;p11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69" name="Google Shape;1369;p11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70" name="Google Shape;1370;p11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" name="Google Shape;1371;p11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72" name="Google Shape;1372;p112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1373" name="Google Shape;1373;p11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4" name="Google Shape;1374;p11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75" name="Google Shape;1375;p11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" name="Google Shape;1376;p11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77" name="Google Shape;1377;p112"/>
          <p:cNvSpPr txBox="1"/>
          <p:nvPr>
            <p:ph idx="1" type="subTitle"/>
          </p:nvPr>
        </p:nvSpPr>
        <p:spPr>
          <a:xfrm>
            <a:off x="235377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/>
          </a:p>
        </p:txBody>
      </p:sp>
      <p:sp>
        <p:nvSpPr>
          <p:cNvPr id="1378" name="Google Shape;1378;p112"/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Como isso tudo se encaixa no dia a dia do dev?</a:t>
            </a:r>
            <a:endParaRPr/>
          </a:p>
        </p:txBody>
      </p:sp>
      <p:sp>
        <p:nvSpPr>
          <p:cNvPr id="1379" name="Google Shape;1379;p11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380" name="Google Shape;1380;p112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81" name="Google Shape;1381;p112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82" name="Google Shape;1382;p112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83" name="Google Shape;1383;p112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Estrutura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Usar HTML e frameworks/componentes para estruturar a interface</a:t>
            </a:r>
            <a:endParaRPr/>
          </a:p>
        </p:txBody>
      </p:sp>
      <p:sp>
        <p:nvSpPr>
          <p:cNvPr id="1384" name="Google Shape;1384;p112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Interação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Usar JavaScript (e bibliotecas como React) para torná-la interativa e dinâmica</a:t>
            </a:r>
            <a:endParaRPr/>
          </a:p>
        </p:txBody>
      </p:sp>
      <p:sp>
        <p:nvSpPr>
          <p:cNvPr id="1385" name="Google Shape;1385;p112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Estilo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Usar CSS (ou CSS-in-JS, Tailwind etc.) para estilização visual</a:t>
            </a:r>
            <a:b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0" name="Google Shape;1390;p113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113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113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3" name="Google Shape;1393;p113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1394" name="Google Shape;1394;p11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95" name="Google Shape;1395;p11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96" name="Google Shape;1396;p11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11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98" name="Google Shape;1398;p113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1399" name="Google Shape;1399;p11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00" name="Google Shape;1400;p11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01" name="Google Shape;1401;p11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2" name="Google Shape;1402;p11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03" name="Google Shape;1403;p113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1404" name="Google Shape;1404;p11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05" name="Google Shape;1405;p11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06" name="Google Shape;1406;p11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7" name="Google Shape;1407;p11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08" name="Google Shape;1408;p113"/>
          <p:cNvSpPr txBox="1"/>
          <p:nvPr>
            <p:ph idx="1" type="subTitle"/>
          </p:nvPr>
        </p:nvSpPr>
        <p:spPr>
          <a:xfrm>
            <a:off x="235377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/>
          </a:p>
        </p:txBody>
      </p:sp>
      <p:sp>
        <p:nvSpPr>
          <p:cNvPr id="1409" name="Google Shape;1409;p113"/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Como isso tudo se encaixa no dia a dia do dev?</a:t>
            </a:r>
            <a:endParaRPr/>
          </a:p>
        </p:txBody>
      </p:sp>
      <p:sp>
        <p:nvSpPr>
          <p:cNvPr id="1410" name="Google Shape;1410;p11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411" name="Google Shape;1411;p113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12" name="Google Shape;1412;p113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13" name="Google Shape;1413;p113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14" name="Google Shape;1414;p113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Responsividade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Adaptar o layout para diferentes dispositivos (mobile, tablet, desktop)</a:t>
            </a:r>
            <a:br>
              <a:rPr lang="en"/>
            </a:br>
            <a:endParaRPr/>
          </a:p>
        </p:txBody>
      </p:sp>
      <p:sp>
        <p:nvSpPr>
          <p:cNvPr id="1415" name="Google Shape;1415;p113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Acessibilidade (a11y)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Garantir que a aplicação seja utilizável por todas as pessoas, incluindo pessoas com deficiências</a:t>
            </a:r>
            <a:endParaRPr/>
          </a:p>
        </p:txBody>
      </p:sp>
      <p:sp>
        <p:nvSpPr>
          <p:cNvPr id="1416" name="Google Shape;1416;p113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Performance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Otimizar o carregamento e a renderização da interface</a:t>
            </a:r>
            <a:b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b="1" lang="en">
                <a:solidFill>
                  <a:schemeClr val="dk2"/>
                </a:solidFill>
              </a:rPr>
              <a:t>#PerformanceMatters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1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422" name="Google Shape;1422;p114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na prática</a:t>
            </a:r>
            <a:endParaRPr/>
          </a:p>
        </p:txBody>
      </p:sp>
      <p:sp>
        <p:nvSpPr>
          <p:cNvPr id="1423" name="Google Shape;1423;p114"/>
          <p:cNvSpPr txBox="1"/>
          <p:nvPr>
            <p:ph idx="1" type="body"/>
          </p:nvPr>
        </p:nvSpPr>
        <p:spPr>
          <a:xfrm>
            <a:off x="228600" y="1743625"/>
            <a:ext cx="37140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Abra o sandbox que preferir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Percorra os arquivos e tente entender cada um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Brinque com o arquivo App.js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Crie um componente novo</a:t>
            </a:r>
            <a:endParaRPr sz="1200"/>
          </a:p>
        </p:txBody>
      </p:sp>
      <p:sp>
        <p:nvSpPr>
          <p:cNvPr id="1424" name="Google Shape;1424;p114"/>
          <p:cNvSpPr txBox="1"/>
          <p:nvPr>
            <p:ph idx="6" type="subTitle"/>
          </p:nvPr>
        </p:nvSpPr>
        <p:spPr>
          <a:xfrm>
            <a:off x="235377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 de Front-End com React</a:t>
            </a:r>
            <a:endParaRPr/>
          </a:p>
        </p:txBody>
      </p:sp>
      <p:grpSp>
        <p:nvGrpSpPr>
          <p:cNvPr id="1425" name="Google Shape;1425;p114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426" name="Google Shape;1426;p114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3"/>
                </a:rPr>
                <a:t>Try React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427" name="Google Shape;1427;p114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428" name="Google Shape;1428;p114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429" name="Google Shape;1429;p114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430" name="Google Shape;1430;p114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31" name="Google Shape;1431;p114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432" name="Google Shape;1432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2475" y="880412"/>
            <a:ext cx="4973225" cy="338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15"/>
          <p:cNvSpPr/>
          <p:nvPr/>
        </p:nvSpPr>
        <p:spPr>
          <a:xfrm>
            <a:off x="315465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15"/>
          <p:cNvSpPr/>
          <p:nvPr/>
        </p:nvSpPr>
        <p:spPr>
          <a:xfrm>
            <a:off x="3386711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439" name="Google Shape;1439;p115"/>
          <p:cNvGrpSpPr/>
          <p:nvPr/>
        </p:nvGrpSpPr>
        <p:grpSpPr>
          <a:xfrm>
            <a:off x="4558464" y="3950131"/>
            <a:ext cx="282600" cy="282600"/>
            <a:chOff x="4558464" y="3950131"/>
            <a:chExt cx="282600" cy="282600"/>
          </a:xfrm>
        </p:grpSpPr>
        <p:sp>
          <p:nvSpPr>
            <p:cNvPr id="1440" name="Google Shape;1440;p115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41" name="Google Shape;1441;p115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1442" name="Google Shape;1442;p115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115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44" name="Google Shape;1444;p115"/>
          <p:cNvSpPr/>
          <p:nvPr/>
        </p:nvSpPr>
        <p:spPr>
          <a:xfrm>
            <a:off x="608070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45" name="Google Shape;1445;p115"/>
          <p:cNvSpPr/>
          <p:nvPr/>
        </p:nvSpPr>
        <p:spPr>
          <a:xfrm>
            <a:off x="6309307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446" name="Google Shape;1446;p115"/>
          <p:cNvGrpSpPr/>
          <p:nvPr/>
        </p:nvGrpSpPr>
        <p:grpSpPr>
          <a:xfrm>
            <a:off x="7477339" y="3950069"/>
            <a:ext cx="282600" cy="282600"/>
            <a:chOff x="4558464" y="3950131"/>
            <a:chExt cx="282600" cy="282600"/>
          </a:xfrm>
        </p:grpSpPr>
        <p:sp>
          <p:nvSpPr>
            <p:cNvPr id="1447" name="Google Shape;1447;p115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48" name="Google Shape;1448;p115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1449" name="Google Shape;1449;p115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0" name="Google Shape;1450;p115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51" name="Google Shape;1451;p11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Node.js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452" name="Google Shape;1452;p11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</p:txBody>
      </p:sp>
      <p:sp>
        <p:nvSpPr>
          <p:cNvPr id="1453" name="Google Shape;1453;p11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Instale a versão mais recente do Node (LTS) no seu computador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Dica do professor: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Utilize o </a:t>
            </a:r>
            <a:r>
              <a:rPr b="1" lang="en">
                <a:solidFill>
                  <a:schemeClr val="lt1"/>
                </a:solidFill>
              </a:rPr>
              <a:t>nvm </a:t>
            </a:r>
            <a:r>
              <a:rPr lang="en">
                <a:solidFill>
                  <a:schemeClr val="lt1"/>
                </a:solidFill>
              </a:rPr>
              <a:t>para fazer isso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4" name="Google Shape;1454;p115"/>
          <p:cNvSpPr txBox="1"/>
          <p:nvPr>
            <p:ph idx="3" type="title"/>
          </p:nvPr>
        </p:nvSpPr>
        <p:spPr>
          <a:xfrm>
            <a:off x="6307650" y="482625"/>
            <a:ext cx="24447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Visual Studio Code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455" name="Google Shape;1455;p11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Code</a:t>
            </a:r>
            <a:endParaRPr/>
          </a:p>
        </p:txBody>
      </p:sp>
      <p:sp>
        <p:nvSpPr>
          <p:cNvPr id="1456" name="Google Shape;1456;p11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Instale o Visual Studio Code no seu computador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7" name="Google Shape;1457;p115"/>
          <p:cNvSpPr txBox="1"/>
          <p:nvPr>
            <p:ph idx="6" type="title"/>
          </p:nvPr>
        </p:nvSpPr>
        <p:spPr>
          <a:xfrm>
            <a:off x="233850" y="215047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Para a próxima aula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458" name="Google Shape;1458;p115"/>
          <p:cNvSpPr txBox="1"/>
          <p:nvPr>
            <p:ph idx="7" type="subTitle"/>
          </p:nvPr>
        </p:nvSpPr>
        <p:spPr>
          <a:xfrm>
            <a:off x="3478750" y="4020895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nvm</a:t>
            </a:r>
            <a:endParaRPr/>
          </a:p>
        </p:txBody>
      </p:sp>
      <p:sp>
        <p:nvSpPr>
          <p:cNvPr id="1459" name="Google Shape;1459;p115"/>
          <p:cNvSpPr txBox="1"/>
          <p:nvPr>
            <p:ph idx="8" type="subTitle"/>
          </p:nvPr>
        </p:nvSpPr>
        <p:spPr>
          <a:xfrm>
            <a:off x="6401250" y="4020770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5"/>
              </a:rPr>
              <a:t>Visual Studio Code</a:t>
            </a:r>
            <a:endParaRPr/>
          </a:p>
        </p:txBody>
      </p:sp>
      <p:sp>
        <p:nvSpPr>
          <p:cNvPr id="1460" name="Google Shape;1460;p11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466" name="Google Shape;1466;p116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2</a:t>
            </a:r>
            <a:endParaRPr/>
          </a:p>
        </p:txBody>
      </p:sp>
      <p:sp>
        <p:nvSpPr>
          <p:cNvPr id="1467" name="Google Shape;1467;p116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Primeiros Passos com React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468" name="Google Shape;1468;p116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1469" name="Google Shape;1469;p116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70" name="Google Shape;1470;p116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71" name="Google Shape;1471;p11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11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1477" name="Google Shape;1477;p117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17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Antes de mais nada, vamos </a:t>
            </a:r>
            <a:r>
              <a:rPr lang="en" u="sng">
                <a:hlinkClick r:id="rId4"/>
              </a:rPr>
              <a:t>criar</a:t>
            </a:r>
            <a:r>
              <a:rPr lang="en">
                <a:solidFill>
                  <a:schemeClr val="dk2"/>
                </a:solidFill>
              </a:rPr>
              <a:t> e conhecer o nosso projeto </a:t>
            </a:r>
            <a:r>
              <a:rPr lang="en" strike="sngStrike">
                <a:solidFill>
                  <a:schemeClr val="accent3"/>
                </a:solidFill>
              </a:rPr>
              <a:t>React</a:t>
            </a:r>
            <a:r>
              <a:rPr lang="en">
                <a:solidFill>
                  <a:schemeClr val="accent3"/>
                </a:solidFill>
              </a:rPr>
              <a:t> Next.js</a:t>
            </a:r>
            <a:r>
              <a:rPr lang="en">
                <a:solidFill>
                  <a:schemeClr val="accent3"/>
                </a:solidFill>
              </a:rPr>
              <a:t>!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79" name="Google Shape;1479;p117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480" name="Google Shape;1480;p117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Fundamentos de Front-End com React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18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486" name="Google Shape;1486;p118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487" name="Google Shape;1487;p11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88" name="Google Shape;1488;p11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89" name="Google Shape;1489;p11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0" name="Google Shape;1490;p11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91" name="Google Shape;1491;p11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492" name="Google Shape;1492;p118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ível 0</a:t>
            </a:r>
            <a:endParaRPr/>
          </a:p>
        </p:txBody>
      </p:sp>
      <p:sp>
        <p:nvSpPr>
          <p:cNvPr id="1493" name="Google Shape;1493;p118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94" name="Google Shape;1494;p118">
            <a:hlinkClick r:id="rId3"/>
          </p:cNvPr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JSX x HTML</a:t>
            </a:r>
            <a:endParaRPr u="sn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19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19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01" name="Google Shape;1501;p119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502" name="Google Shape;1502;p11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03" name="Google Shape;1503;p11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04" name="Google Shape;1504;p11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5" name="Google Shape;1505;p11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06" name="Google Shape;1506;p119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507" name="Google Shape;1507;p11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08" name="Google Shape;1508;p11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09" name="Google Shape;1509;p11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0" name="Google Shape;1510;p11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11" name="Google Shape;1511;p1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512" name="Google Shape;1512;p119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0</a:t>
            </a:r>
            <a:endParaRPr/>
          </a:p>
        </p:txBody>
      </p:sp>
      <p:sp>
        <p:nvSpPr>
          <p:cNvPr id="1513" name="Google Shape;1513;p1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14" name="Google Shape;1514;p119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15" name="Google Shape;1515;p1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JSX x HTML</a:t>
            </a:r>
            <a:endParaRPr strike="sngStrike"/>
          </a:p>
        </p:txBody>
      </p:sp>
      <p:sp>
        <p:nvSpPr>
          <p:cNvPr id="1516" name="Google Shape;1516;p119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Function x Arrow Function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20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20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3" name="Google Shape;1523;p120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24" name="Google Shape;1524;p120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525" name="Google Shape;1525;p12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26" name="Google Shape;1526;p12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27" name="Google Shape;1527;p12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8" name="Google Shape;1528;p12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29" name="Google Shape;1529;p120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530" name="Google Shape;1530;p12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31" name="Google Shape;1531;p12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32" name="Google Shape;1532;p12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3" name="Google Shape;1533;p12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34" name="Google Shape;1534;p120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535" name="Google Shape;1535;p12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36" name="Google Shape;1536;p12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37" name="Google Shape;1537;p12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8" name="Google Shape;1538;p12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39" name="Google Shape;1539;p12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540" name="Google Shape;1540;p120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0</a:t>
            </a:r>
            <a:endParaRPr/>
          </a:p>
        </p:txBody>
      </p:sp>
      <p:sp>
        <p:nvSpPr>
          <p:cNvPr id="1541" name="Google Shape;1541;p120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42" name="Google Shape;1542;p120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43" name="Google Shape;1543;p120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44" name="Google Shape;1544;p120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JSX x HTML</a:t>
            </a:r>
            <a:endParaRPr strike="sngStrike"/>
          </a:p>
        </p:txBody>
      </p:sp>
      <p:sp>
        <p:nvSpPr>
          <p:cNvPr id="1545" name="Google Shape;1545;p120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Function x Arrow Function</a:t>
            </a:r>
            <a:endParaRPr strike="sngStrike"/>
          </a:p>
        </p:txBody>
      </p:sp>
      <p:sp>
        <p:nvSpPr>
          <p:cNvPr id="1546" name="Google Shape;1546;p120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21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2" name="Google Shape;1552;p121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3" name="Google Shape;1553;p121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4" name="Google Shape;1554;p121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55" name="Google Shape;1555;p121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556" name="Google Shape;1556;p12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57" name="Google Shape;1557;p12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58" name="Google Shape;1558;p12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9" name="Google Shape;1559;p12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60" name="Google Shape;1560;p121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561" name="Google Shape;1561;p12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62" name="Google Shape;1562;p12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63" name="Google Shape;1563;p12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4" name="Google Shape;1564;p12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65" name="Google Shape;1565;p121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566" name="Google Shape;1566;p12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67" name="Google Shape;1567;p12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68" name="Google Shape;1568;p12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9" name="Google Shape;1569;p12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70" name="Google Shape;1570;p121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571" name="Google Shape;1571;p12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72" name="Google Shape;1572;p12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73" name="Google Shape;1573;p12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4" name="Google Shape;1574;p12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75" name="Google Shape;1575;p12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576" name="Google Shape;1576;p121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0</a:t>
            </a:r>
            <a:endParaRPr/>
          </a:p>
        </p:txBody>
      </p:sp>
      <p:sp>
        <p:nvSpPr>
          <p:cNvPr id="1577" name="Google Shape;1577;p121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78" name="Google Shape;1578;p121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79" name="Google Shape;1579;p121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80" name="Google Shape;1580;p121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81" name="Google Shape;1581;p121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JSX x HTML</a:t>
            </a:r>
            <a:endParaRPr strike="sngStrike"/>
          </a:p>
        </p:txBody>
      </p:sp>
      <p:sp>
        <p:nvSpPr>
          <p:cNvPr id="1582" name="Google Shape;1582;p121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Function x Arrow Function</a:t>
            </a:r>
            <a:endParaRPr strike="sngStrike"/>
          </a:p>
        </p:txBody>
      </p:sp>
      <p:sp>
        <p:nvSpPr>
          <p:cNvPr id="1583" name="Google Shape;1583;p121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Props</a:t>
            </a:r>
            <a:endParaRPr strike="sngStrike"/>
          </a:p>
        </p:txBody>
      </p:sp>
      <p:sp>
        <p:nvSpPr>
          <p:cNvPr id="1584" name="Google Shape;1584;p121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Renderização condicional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22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0" name="Google Shape;1590;p122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1" name="Google Shape;1591;p122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2" name="Google Shape;1592;p122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3" name="Google Shape;1593;p122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94" name="Google Shape;1594;p122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595" name="Google Shape;1595;p12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596" name="Google Shape;1596;p12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597" name="Google Shape;1597;p1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8" name="Google Shape;1598;p1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99" name="Google Shape;1599;p122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600" name="Google Shape;1600;p12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01" name="Google Shape;1601;p12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02" name="Google Shape;1602;p1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3" name="Google Shape;1603;p1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04" name="Google Shape;1604;p122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605" name="Google Shape;1605;p12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06" name="Google Shape;1606;p12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07" name="Google Shape;1607;p1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8" name="Google Shape;1608;p1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09" name="Google Shape;1609;p122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610" name="Google Shape;1610;p12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11" name="Google Shape;1611;p12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12" name="Google Shape;1612;p1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3" name="Google Shape;1613;p1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14" name="Google Shape;1614;p122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1615" name="Google Shape;1615;p12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16" name="Google Shape;1616;p12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17" name="Google Shape;1617;p1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8" name="Google Shape;1618;p1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19" name="Google Shape;1619;p1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620" name="Google Shape;1620;p12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0</a:t>
            </a:r>
            <a:endParaRPr/>
          </a:p>
        </p:txBody>
      </p:sp>
      <p:sp>
        <p:nvSpPr>
          <p:cNvPr id="1621" name="Google Shape;1621;p122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22" name="Google Shape;1622;p122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23" name="Google Shape;1623;p122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24" name="Google Shape;1624;p122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25" name="Google Shape;1625;p122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26" name="Google Shape;1626;p122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JSX x HTML</a:t>
            </a:r>
            <a:endParaRPr strike="sngStrike"/>
          </a:p>
        </p:txBody>
      </p:sp>
      <p:sp>
        <p:nvSpPr>
          <p:cNvPr id="1627" name="Google Shape;1627;p122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Function x Arrow Function</a:t>
            </a:r>
            <a:endParaRPr strike="sngStrike"/>
          </a:p>
        </p:txBody>
      </p:sp>
      <p:sp>
        <p:nvSpPr>
          <p:cNvPr id="1628" name="Google Shape;1628;p122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Props</a:t>
            </a:r>
            <a:endParaRPr strike="sngStrike"/>
          </a:p>
        </p:txBody>
      </p:sp>
      <p:sp>
        <p:nvSpPr>
          <p:cNvPr id="1629" name="Google Shape;1629;p122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Renderização condicional</a:t>
            </a:r>
            <a:endParaRPr strike="sngStrike"/>
          </a:p>
        </p:txBody>
      </p:sp>
      <p:sp>
        <p:nvSpPr>
          <p:cNvPr id="1630" name="Google Shape;1630;p122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Números, Strings e Datas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23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6" name="Google Shape;1636;p123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7" name="Google Shape;1637;p123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8" name="Google Shape;1638;p123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9" name="Google Shape;1639;p123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0" name="Google Shape;1640;p123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641" name="Google Shape;1641;p123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642" name="Google Shape;1642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43" name="Google Shape;1643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44" name="Google Shape;1644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5" name="Google Shape;1645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46" name="Google Shape;1646;p123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647" name="Google Shape;1647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48" name="Google Shape;1648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49" name="Google Shape;1649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0" name="Google Shape;1650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51" name="Google Shape;1651;p123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652" name="Google Shape;1652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53" name="Google Shape;1653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54" name="Google Shape;1654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5" name="Google Shape;1655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56" name="Google Shape;1656;p123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657" name="Google Shape;1657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58" name="Google Shape;1658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59" name="Google Shape;1659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0" name="Google Shape;1660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61" name="Google Shape;1661;p123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1662" name="Google Shape;1662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63" name="Google Shape;1663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64" name="Google Shape;1664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5" name="Google Shape;1665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66" name="Google Shape;1666;p123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1667" name="Google Shape;1667;p12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68" name="Google Shape;1668;p12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69" name="Google Shape;1669;p12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0" name="Google Shape;1670;p12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71" name="Google Shape;1671;p12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672" name="Google Shape;1672;p123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0</a:t>
            </a:r>
            <a:endParaRPr/>
          </a:p>
        </p:txBody>
      </p:sp>
      <p:sp>
        <p:nvSpPr>
          <p:cNvPr id="1673" name="Google Shape;1673;p123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74" name="Google Shape;1674;p123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75" name="Google Shape;1675;p123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76" name="Google Shape;1676;p123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77" name="Google Shape;1677;p123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78" name="Google Shape;1678;p123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679" name="Google Shape;1679;p123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JSX x HTML</a:t>
            </a:r>
            <a:endParaRPr strike="sngStrike"/>
          </a:p>
        </p:txBody>
      </p:sp>
      <p:sp>
        <p:nvSpPr>
          <p:cNvPr id="1680" name="Google Shape;1680;p123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Function x Arrow Function</a:t>
            </a:r>
            <a:endParaRPr strike="sngStrike"/>
          </a:p>
        </p:txBody>
      </p:sp>
      <p:sp>
        <p:nvSpPr>
          <p:cNvPr id="1681" name="Google Shape;1681;p123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Props</a:t>
            </a:r>
            <a:endParaRPr strike="sngStrike"/>
          </a:p>
        </p:txBody>
      </p:sp>
      <p:sp>
        <p:nvSpPr>
          <p:cNvPr id="1682" name="Google Shape;1682;p123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Renderização condicional</a:t>
            </a:r>
            <a:endParaRPr strike="sngStrike"/>
          </a:p>
        </p:txBody>
      </p:sp>
      <p:sp>
        <p:nvSpPr>
          <p:cNvPr id="1683" name="Google Shape;1683;p123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Números, Strings e Datas</a:t>
            </a:r>
            <a:endParaRPr strike="sngStrike"/>
          </a:p>
        </p:txBody>
      </p:sp>
      <p:sp>
        <p:nvSpPr>
          <p:cNvPr id="1684" name="Google Shape;1684;p123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Listas, Objetos e Imagens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24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690" name="Google Shape;1690;p124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691" name="Google Shape;1691;p12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692" name="Google Shape;1692;p12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93" name="Google Shape;1693;p12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4" name="Google Shape;1694;p12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95" name="Google Shape;1695;p12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696" name="Google Shape;1696;p124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1697" name="Google Shape;1697;p124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98" name="Google Shape;1698;p124">
            <a:hlinkClick r:id="rId3"/>
          </p:cNvPr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/>
              <a:t>Rotas e Links</a:t>
            </a:r>
            <a:endParaRPr u="sng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25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4" name="Google Shape;1704;p125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05" name="Google Shape;1705;p125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706" name="Google Shape;1706;p12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07" name="Google Shape;1707;p12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08" name="Google Shape;1708;p12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9" name="Google Shape;1709;p12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10" name="Google Shape;1710;p125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711" name="Google Shape;1711;p12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12" name="Google Shape;1712;p12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13" name="Google Shape;1713;p12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12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715" name="Google Shape;1715;p12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716" name="Google Shape;1716;p125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1717" name="Google Shape;1717;p125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18" name="Google Shape;1718;p125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19" name="Google Shape;1719;p125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Rotas e Links</a:t>
            </a:r>
            <a:endParaRPr strike="sngStrike"/>
          </a:p>
        </p:txBody>
      </p:sp>
      <p:sp>
        <p:nvSpPr>
          <p:cNvPr id="1720" name="Google Shape;1720;p125">
            <a:hlinkClick r:id="rId3"/>
          </p:cNvPr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Client x Server</a:t>
            </a:r>
            <a:endParaRPr u="sng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26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26" name="Google Shape;1726;p126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27" name="Google Shape;1727;p126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28" name="Google Shape;1728;p126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729" name="Google Shape;1729;p12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30" name="Google Shape;1730;p12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31" name="Google Shape;1731;p12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12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33" name="Google Shape;1733;p126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734" name="Google Shape;1734;p12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35" name="Google Shape;1735;p12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36" name="Google Shape;1736;p12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7" name="Google Shape;1737;p12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38" name="Google Shape;1738;p126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739" name="Google Shape;1739;p12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40" name="Google Shape;1740;p12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41" name="Google Shape;1741;p12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2" name="Google Shape;1742;p12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743" name="Google Shape;1743;p1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744" name="Google Shape;1744;p126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1745" name="Google Shape;1745;p126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46" name="Google Shape;1746;p126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47" name="Google Shape;1747;p126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48" name="Google Shape;1748;p126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Rotas e Links</a:t>
            </a:r>
            <a:endParaRPr strike="sngStrike"/>
          </a:p>
        </p:txBody>
      </p:sp>
      <p:sp>
        <p:nvSpPr>
          <p:cNvPr id="1749" name="Google Shape;1749;p126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Client x Server</a:t>
            </a:r>
            <a:endParaRPr strike="sngStrike"/>
          </a:p>
        </p:txBody>
      </p:sp>
      <p:sp>
        <p:nvSpPr>
          <p:cNvPr id="1750" name="Google Shape;1750;p126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Gerenciamento de estado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27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6" name="Google Shape;1756;p127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7" name="Google Shape;1757;p127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8" name="Google Shape;1758;p127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59" name="Google Shape;1759;p127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760" name="Google Shape;1760;p12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61" name="Google Shape;1761;p12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62" name="Google Shape;1762;p12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3" name="Google Shape;1763;p12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64" name="Google Shape;1764;p127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765" name="Google Shape;1765;p12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66" name="Google Shape;1766;p12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67" name="Google Shape;1767;p12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12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69" name="Google Shape;1769;p127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770" name="Google Shape;1770;p12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71" name="Google Shape;1771;p12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72" name="Google Shape;1772;p12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3" name="Google Shape;1773;p12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74" name="Google Shape;1774;p127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775" name="Google Shape;1775;p12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76" name="Google Shape;1776;p12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77" name="Google Shape;1777;p12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8" name="Google Shape;1778;p12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779" name="Google Shape;1779;p1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780" name="Google Shape;1780;p127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1781" name="Google Shape;1781;p12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82" name="Google Shape;1782;p127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83" name="Google Shape;1783;p127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84" name="Google Shape;1784;p127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85" name="Google Shape;1785;p12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Rotas e Links</a:t>
            </a:r>
            <a:endParaRPr strike="sngStrike"/>
          </a:p>
        </p:txBody>
      </p:sp>
      <p:sp>
        <p:nvSpPr>
          <p:cNvPr id="1786" name="Google Shape;1786;p127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Client x Server</a:t>
            </a:r>
            <a:endParaRPr strike="sngStrike"/>
          </a:p>
        </p:txBody>
      </p:sp>
      <p:sp>
        <p:nvSpPr>
          <p:cNvPr id="1787" name="Google Shape;1787;p127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Gerenciamento de estado</a:t>
            </a:r>
            <a:endParaRPr strike="sngStrike"/>
          </a:p>
        </p:txBody>
      </p:sp>
      <p:sp>
        <p:nvSpPr>
          <p:cNvPr id="1788" name="Google Shape;1788;p127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Eventos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28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4" name="Google Shape;1794;p128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5" name="Google Shape;1795;p128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6" name="Google Shape;1796;p128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7" name="Google Shape;1797;p128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98" name="Google Shape;1798;p128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799" name="Google Shape;1799;p12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00" name="Google Shape;1800;p12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01" name="Google Shape;1801;p12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2" name="Google Shape;1802;p12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03" name="Google Shape;1803;p128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804" name="Google Shape;1804;p12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05" name="Google Shape;1805;p12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06" name="Google Shape;1806;p12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7" name="Google Shape;1807;p12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08" name="Google Shape;1808;p128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809" name="Google Shape;1809;p12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10" name="Google Shape;1810;p12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11" name="Google Shape;1811;p12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2" name="Google Shape;1812;p12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13" name="Google Shape;1813;p128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1814" name="Google Shape;1814;p12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15" name="Google Shape;1815;p12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16" name="Google Shape;1816;p12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7" name="Google Shape;1817;p12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18" name="Google Shape;1818;p128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1819" name="Google Shape;1819;p12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20" name="Google Shape;1820;p12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21" name="Google Shape;1821;p12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2" name="Google Shape;1822;p12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23" name="Google Shape;1823;p12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824" name="Google Shape;1824;p128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1</a:t>
            </a:r>
            <a:endParaRPr/>
          </a:p>
        </p:txBody>
      </p:sp>
      <p:sp>
        <p:nvSpPr>
          <p:cNvPr id="1825" name="Google Shape;1825;p128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26" name="Google Shape;1826;p128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27" name="Google Shape;1827;p128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28" name="Google Shape;1828;p128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29" name="Google Shape;1829;p128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830" name="Google Shape;1830;p128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Rotas e Links</a:t>
            </a:r>
            <a:endParaRPr strike="sngStrike"/>
          </a:p>
        </p:txBody>
      </p:sp>
      <p:sp>
        <p:nvSpPr>
          <p:cNvPr id="1831" name="Google Shape;1831;p128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Client x Server</a:t>
            </a:r>
            <a:endParaRPr strike="sngStrike"/>
          </a:p>
        </p:txBody>
      </p:sp>
      <p:sp>
        <p:nvSpPr>
          <p:cNvPr id="1832" name="Google Shape;1832;p128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Gerenciamento de estado</a:t>
            </a:r>
            <a:endParaRPr strike="sngStrike"/>
          </a:p>
        </p:txBody>
      </p:sp>
      <p:sp>
        <p:nvSpPr>
          <p:cNvPr id="1833" name="Google Shape;1833;p128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Eventos</a:t>
            </a:r>
            <a:endParaRPr strike="sngStrike"/>
          </a:p>
        </p:txBody>
      </p:sp>
      <p:sp>
        <p:nvSpPr>
          <p:cNvPr id="1834" name="Google Shape;1834;p128">
            <a:hlinkClick r:id="rId3"/>
          </p:cNvPr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Ciclo de vida e Hooks</a:t>
            </a:r>
            <a:endParaRPr u="sn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29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840" name="Google Shape;1840;p129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841" name="Google Shape;1841;p12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42" name="Google Shape;1842;p12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43" name="Google Shape;1843;p12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2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45" name="Google Shape;1845;p1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846" name="Google Shape;1846;p129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2</a:t>
            </a:r>
            <a:endParaRPr/>
          </a:p>
        </p:txBody>
      </p:sp>
      <p:sp>
        <p:nvSpPr>
          <p:cNvPr id="1847" name="Google Shape;1847;p12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48" name="Google Shape;1848;p129">
            <a:hlinkClick r:id="rId3"/>
          </p:cNvPr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Context API</a:t>
            </a:r>
            <a:endParaRPr u="sng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30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4" name="Google Shape;1854;p130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855" name="Google Shape;1855;p130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856" name="Google Shape;1856;p13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57" name="Google Shape;1857;p13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58" name="Google Shape;185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9" name="Google Shape;185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60" name="Google Shape;1860;p130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861" name="Google Shape;1861;p13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62" name="Google Shape;1862;p13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63" name="Google Shape;1863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4" name="Google Shape;1864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5" name="Google Shape;1865;p13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866" name="Google Shape;1866;p130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2</a:t>
            </a:r>
            <a:endParaRPr/>
          </a:p>
        </p:txBody>
      </p:sp>
      <p:sp>
        <p:nvSpPr>
          <p:cNvPr id="1867" name="Google Shape;1867;p130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68" name="Google Shape;1868;p130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69" name="Google Shape;1869;p130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Context API</a:t>
            </a:r>
            <a:endParaRPr strike="sngStrike"/>
          </a:p>
        </p:txBody>
      </p:sp>
      <p:sp>
        <p:nvSpPr>
          <p:cNvPr id="1870" name="Google Shape;1870;p130">
            <a:hlinkClick r:id="rId3"/>
          </p:cNvPr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sessionStorage</a:t>
            </a:r>
            <a:endParaRPr u="sng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31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6" name="Google Shape;1876;p131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7" name="Google Shape;1877;p131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878" name="Google Shape;1878;p131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1879" name="Google Shape;1879;p13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80" name="Google Shape;1880;p13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81" name="Google Shape;1881;p13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2" name="Google Shape;1882;p13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83" name="Google Shape;1883;p131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1884" name="Google Shape;1884;p13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85" name="Google Shape;1885;p13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86" name="Google Shape;1886;p13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7" name="Google Shape;1887;p13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88" name="Google Shape;1888;p131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1889" name="Google Shape;1889;p13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90" name="Google Shape;1890;p13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91" name="Google Shape;1891;p13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2" name="Google Shape;1892;p13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93" name="Google Shape;1893;p1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894" name="Google Shape;1894;p131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Nível 2</a:t>
            </a:r>
            <a:endParaRPr/>
          </a:p>
        </p:txBody>
      </p:sp>
      <p:sp>
        <p:nvSpPr>
          <p:cNvPr id="1895" name="Google Shape;1895;p131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96" name="Google Shape;1896;p131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97" name="Google Shape;1897;p131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98" name="Google Shape;1898;p131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Context API</a:t>
            </a:r>
            <a:endParaRPr strike="sngStrike"/>
          </a:p>
        </p:txBody>
      </p:sp>
      <p:sp>
        <p:nvSpPr>
          <p:cNvPr id="1899" name="Google Shape;1899;p131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trike="sngStrike"/>
              <a:t>sessionStorage</a:t>
            </a:r>
            <a:endParaRPr strike="sngStrike"/>
          </a:p>
        </p:txBody>
      </p:sp>
      <p:sp>
        <p:nvSpPr>
          <p:cNvPr id="1900" name="Google Shape;1900;p131">
            <a:hlinkClick r:id="rId3"/>
          </p:cNvPr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u="sng"/>
              <a:t>localStorage</a:t>
            </a:r>
            <a:endParaRPr u="sng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5" name="Google Shape;1905;p132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132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132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08" name="Google Shape;1908;p132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1909" name="Google Shape;1909;p13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10" name="Google Shape;1910;p13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11" name="Google Shape;1911;p13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2" name="Google Shape;1912;p13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3" name="Google Shape;1913;p132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1914" name="Google Shape;1914;p13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15" name="Google Shape;1915;p13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16" name="Google Shape;1916;p13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7" name="Google Shape;1917;p13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8" name="Google Shape;1918;p132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1919" name="Google Shape;1919;p13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20" name="Google Shape;1920;p13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21" name="Google Shape;1921;p13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2" name="Google Shape;1922;p13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23" name="Google Shape;1923;p132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Primeiros Passos com React</a:t>
            </a:r>
            <a:endParaRPr/>
          </a:p>
        </p:txBody>
      </p:sp>
      <p:sp>
        <p:nvSpPr>
          <p:cNvPr id="1924" name="Google Shape;1924;p132"/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Revis</a:t>
            </a:r>
            <a:r>
              <a:rPr lang="en"/>
              <a:t>ão</a:t>
            </a:r>
            <a:endParaRPr/>
          </a:p>
        </p:txBody>
      </p:sp>
      <p:sp>
        <p:nvSpPr>
          <p:cNvPr id="1925" name="Google Shape;1925;p13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926" name="Google Shape;1926;p132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927" name="Google Shape;1927;p132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928" name="Google Shape;1928;p132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929" name="Google Shape;1929;p132"/>
          <p:cNvSpPr txBox="1"/>
          <p:nvPr>
            <p:ph idx="9" type="body"/>
          </p:nvPr>
        </p:nvSpPr>
        <p:spPr>
          <a:xfrm>
            <a:off x="6121425" y="2826600"/>
            <a:ext cx="2665200" cy="1748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Context API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sessionStorage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localStorage</a:t>
            </a:r>
            <a:endParaRPr sz="1600" strike="sngStrike"/>
          </a:p>
        </p:txBody>
      </p:sp>
      <p:sp>
        <p:nvSpPr>
          <p:cNvPr id="1930" name="Google Shape;1930;p132"/>
          <p:cNvSpPr txBox="1"/>
          <p:nvPr>
            <p:ph idx="9" type="body"/>
          </p:nvPr>
        </p:nvSpPr>
        <p:spPr>
          <a:xfrm>
            <a:off x="3192463" y="2826588"/>
            <a:ext cx="2665200" cy="1748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Rotas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Client x Server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Gerenciamento de estado</a:t>
            </a:r>
            <a:endParaRPr sz="1600" strike="sngStrike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Eventos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Ciclo de vida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Hooks</a:t>
            </a:r>
            <a:endParaRPr sz="1600" strike="sngStrike"/>
          </a:p>
        </p:txBody>
      </p:sp>
      <p:sp>
        <p:nvSpPr>
          <p:cNvPr id="1931" name="Google Shape;1931;p132"/>
          <p:cNvSpPr txBox="1"/>
          <p:nvPr>
            <p:ph idx="9" type="body"/>
          </p:nvPr>
        </p:nvSpPr>
        <p:spPr>
          <a:xfrm>
            <a:off x="228588" y="2826588"/>
            <a:ext cx="2665200" cy="1748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JSX x HTML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Function x Arrow Function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Props</a:t>
            </a:r>
            <a:endParaRPr sz="1600" strike="sngStrike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Renderização condicional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Números, Strings e Datas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/>
              <a:t>Listas, Objetos e Imagens</a:t>
            </a:r>
            <a:endParaRPr sz="1600" strike="sngStrik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13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937" name="Google Shape;1937;p133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3</a:t>
            </a:r>
            <a:endParaRPr/>
          </a:p>
        </p:txBody>
      </p:sp>
      <p:sp>
        <p:nvSpPr>
          <p:cNvPr id="1938" name="Google Shape;1938;p133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Comunicação com APIs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939" name="Google Shape;1939;p133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1940" name="Google Shape;1940;p133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41" name="Google Shape;1941;p133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942" name="Google Shape;1942;p13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3" name="Google Shape;1943;p13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3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949" name="Google Shape;1949;p134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</a:t>
            </a:r>
            <a:endParaRPr/>
          </a:p>
        </p:txBody>
      </p:sp>
      <p:sp>
        <p:nvSpPr>
          <p:cNvPr id="1950" name="Google Shape;1950;p13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Interface nativa para requisições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Simples e pr</a:t>
            </a:r>
            <a:r>
              <a:rPr lang="en" sz="1200"/>
              <a:t>ático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Alternativa: </a:t>
            </a:r>
            <a:r>
              <a:rPr lang="en" sz="1200" u="sng">
                <a:hlinkClick r:id="rId3"/>
              </a:rPr>
              <a:t>axios</a:t>
            </a:r>
            <a:endParaRPr sz="1200"/>
          </a:p>
        </p:txBody>
      </p:sp>
      <p:pic>
        <p:nvPicPr>
          <p:cNvPr descr="A luminous galaxy." id="1951" name="Google Shape;1951;p134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952" name="Google Shape;1952;p13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 API</a:t>
            </a:r>
            <a:endParaRPr/>
          </a:p>
        </p:txBody>
      </p:sp>
      <p:grpSp>
        <p:nvGrpSpPr>
          <p:cNvPr id="1953" name="Google Shape;1953;p134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954" name="Google Shape;1954;p134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5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955" name="Google Shape;1955;p134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956" name="Google Shape;1956;p134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957" name="Google Shape;1957;p134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958" name="Google Shape;1958;p134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59" name="Google Shape;1959;p134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1960" name="Google Shape;1960;p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4250" y="154050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3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1966" name="Google Shape;1966;p135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</a:t>
            </a:r>
            <a:endParaRPr/>
          </a:p>
        </p:txBody>
      </p:sp>
      <p:sp>
        <p:nvSpPr>
          <p:cNvPr id="1967" name="Google Shape;1967;p13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Mecanismo de segurança </a:t>
            </a:r>
            <a:r>
              <a:rPr b="1" lang="en" sz="1200"/>
              <a:t>dos navegadores</a:t>
            </a:r>
            <a:endParaRPr b="1"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Controla quem pode acessar recursos de um servidor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Isso evita que sites mal-intencionados façam requisições</a:t>
            </a:r>
            <a:endParaRPr sz="1200"/>
          </a:p>
        </p:txBody>
      </p:sp>
      <p:pic>
        <p:nvPicPr>
          <p:cNvPr id="1968" name="Google Shape;1968;p135" title="5f7ibr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58" l="5043" r="13866" t="1292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1969" name="Google Shape;1969;p135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Cross-Origin Resource Sharing</a:t>
            </a:r>
            <a:endParaRPr/>
          </a:p>
        </p:txBody>
      </p:sp>
      <p:grpSp>
        <p:nvGrpSpPr>
          <p:cNvPr id="1970" name="Google Shape;1970;p135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1971" name="Google Shape;1971;p135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4"/>
                </a:rPr>
                <a:t>Documentação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1972" name="Google Shape;1972;p135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1973" name="Google Shape;1973;p135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1974" name="Google Shape;1974;p135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1975" name="Google Shape;1975;p135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76" name="Google Shape;1976;p135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1" name="Google Shape;1981;p136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136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136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84" name="Google Shape;1984;p136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1985" name="Google Shape;1985;p13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86" name="Google Shape;1986;p13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87" name="Google Shape;1987;p13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8" name="Google Shape;1988;p13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89" name="Google Shape;1989;p136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1990" name="Google Shape;1990;p13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91" name="Google Shape;1991;p13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92" name="Google Shape;1992;p13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3" name="Google Shape;1993;p13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94" name="Google Shape;1994;p136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1995" name="Google Shape;1995;p13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96" name="Google Shape;1996;p13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997" name="Google Shape;1997;p13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8" name="Google Shape;1998;p13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99" name="Google Shape;1999;p13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Comunicação com APIs</a:t>
            </a:r>
            <a:endParaRPr/>
          </a:p>
        </p:txBody>
      </p:sp>
      <p:sp>
        <p:nvSpPr>
          <p:cNvPr id="2000" name="Google Shape;2000;p136">
            <a:hlinkClick r:id="rId3"/>
          </p:cNvPr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Server-side</a:t>
            </a:r>
            <a:endParaRPr/>
          </a:p>
        </p:txBody>
      </p:sp>
      <p:sp>
        <p:nvSpPr>
          <p:cNvPr id="2001" name="Google Shape;2001;p13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02" name="Google Shape;2002;p13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003" name="Google Shape;2003;p13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004" name="Google Shape;2004;p13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005" name="Google Shape;2005;p13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Segurança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evitar expor informações sensíveis, tokens, APIs internas,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Também evita erros de CORS.</a:t>
            </a:r>
            <a:endParaRPr/>
          </a:p>
        </p:txBody>
      </p:sp>
      <p:sp>
        <p:nvSpPr>
          <p:cNvPr id="2006" name="Google Shape;2006;p13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Dados comuns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 bem para carregar informações comuns e que não dependem do estado da aplicação.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13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Performance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Ajuda a carregar os dados iniciais com maior eficiência e agilidade.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Melhor experiência no carregamento.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2" name="Google Shape;2012;p137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3" name="Google Shape;2013;p137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4" name="Google Shape;2014;p137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15" name="Google Shape;2015;p137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2016" name="Google Shape;2016;p13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017" name="Google Shape;2017;p13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2018" name="Google Shape;2018;p13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9" name="Google Shape;2019;p13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020" name="Google Shape;2020;p137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2021" name="Google Shape;2021;p13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022" name="Google Shape;2022;p13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2023" name="Google Shape;2023;p13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4" name="Google Shape;2024;p13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025" name="Google Shape;2025;p137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2026" name="Google Shape;2026;p13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027" name="Google Shape;2027;p13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2028" name="Google Shape;2028;p13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9" name="Google Shape;2029;p13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030" name="Google Shape;2030;p137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Comunicação com APIs</a:t>
            </a:r>
            <a:endParaRPr/>
          </a:p>
        </p:txBody>
      </p:sp>
      <p:sp>
        <p:nvSpPr>
          <p:cNvPr id="2031" name="Google Shape;2031;p137">
            <a:hlinkClick r:id="rId3"/>
          </p:cNvPr>
          <p:cNvSpPr txBox="1"/>
          <p:nvPr>
            <p:ph type="title"/>
          </p:nvPr>
        </p:nvSpPr>
        <p:spPr>
          <a:xfrm>
            <a:off x="228600" y="613525"/>
            <a:ext cx="72234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Client-side</a:t>
            </a:r>
            <a:endParaRPr/>
          </a:p>
        </p:txBody>
      </p:sp>
      <p:sp>
        <p:nvSpPr>
          <p:cNvPr id="2032" name="Google Shape;2032;p13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33" name="Google Shape;2033;p137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034" name="Google Shape;2034;p137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035" name="Google Shape;2035;p137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036" name="Google Shape;2036;p137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Interações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Recomendado para casos de interação direta do usuário.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</a:t>
            </a:r>
            <a:r>
              <a:rPr lang="en"/>
              <a:t>ários, etc.</a:t>
            </a:r>
            <a:endParaRPr/>
          </a:p>
        </p:txBody>
      </p:sp>
      <p:sp>
        <p:nvSpPr>
          <p:cNvPr id="2037" name="Google Shape;2037;p137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Requisições pesadas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Evita sobrecarregar o servidor com requisições grandes e pesadas.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</a:t>
            </a:r>
            <a:r>
              <a:rPr lang="en"/>
              <a:t>órios, etc.</a:t>
            </a:r>
            <a:endParaRPr/>
          </a:p>
        </p:txBody>
      </p:sp>
      <p:sp>
        <p:nvSpPr>
          <p:cNvPr id="2038" name="Google Shape;2038;p137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Dados em tempo real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Funciona bem para dados que são atualizados constantemente.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Dashboards, etc.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13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44" name="Google Shape;2044;p138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4</a:t>
            </a:r>
            <a:endParaRPr/>
          </a:p>
        </p:txBody>
      </p:sp>
      <p:sp>
        <p:nvSpPr>
          <p:cNvPr id="2045" name="Google Shape;2045;p138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Autenticação e Autorização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46" name="Google Shape;2046;p138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2047" name="Google Shape;2047;p138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048" name="Google Shape;2048;p138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2049" name="Google Shape;2049;p13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0" name="Google Shape;2050;p13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2055" name="Google Shape;2055;p139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3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57" name="Google Shape;2057;p139"/>
          <p:cNvSpPr txBox="1"/>
          <p:nvPr>
            <p:ph type="title"/>
          </p:nvPr>
        </p:nvSpPr>
        <p:spPr>
          <a:xfrm>
            <a:off x="234125" y="1801500"/>
            <a:ext cx="8574600" cy="265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A autenticação consiste em garantir que o usuário é realmente quem ele diz ser.</a:t>
            </a:r>
            <a:endParaRPr b="1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Você comprova sua identidade com algo único que só ele possui, como um nome de usuário e uma senha.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58" name="Google Shape;2058;p139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Autentica</a:t>
            </a:r>
            <a:r>
              <a:rPr lang="en"/>
              <a:t>ção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2063" name="Google Shape;2063;p140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4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65" name="Google Shape;2065;p140"/>
          <p:cNvSpPr txBox="1"/>
          <p:nvPr>
            <p:ph type="title"/>
          </p:nvPr>
        </p:nvSpPr>
        <p:spPr>
          <a:xfrm>
            <a:off x="234125" y="1801500"/>
            <a:ext cx="8574600" cy="265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autorização é o próximo passo…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Após a confirmação da identidade do usuário, a autorização é o que define quais partes do aplicativo ele poderá acessar.</a:t>
            </a:r>
            <a:endParaRPr b="1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6" name="Google Shape;2066;p140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Autoriza</a:t>
            </a:r>
            <a:r>
              <a:rPr lang="en"/>
              <a:t>ção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2071" name="Google Shape;2071;p141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14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73" name="Google Shape;2073;p141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Autorização</a:t>
            </a:r>
            <a:endParaRPr/>
          </a:p>
        </p:txBody>
      </p:sp>
      <p:sp>
        <p:nvSpPr>
          <p:cNvPr id="2074" name="Google Shape;2074;p141"/>
          <p:cNvSpPr txBox="1"/>
          <p:nvPr>
            <p:ph type="title"/>
          </p:nvPr>
        </p:nvSpPr>
        <p:spPr>
          <a:xfrm>
            <a:off x="234125" y="1801500"/>
            <a:ext cx="8574600" cy="2650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Resumindo, a </a:t>
            </a:r>
            <a:r>
              <a:rPr b="1" lang="en" u="sng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autenticação verifica quem você é</a:t>
            </a:r>
            <a:r>
              <a:rPr lang="en">
                <a:solidFill>
                  <a:schemeClr val="dk2"/>
                </a:solidFill>
              </a:rPr>
              <a:t>, e a </a:t>
            </a:r>
            <a:r>
              <a:rPr b="1" lang="en" u="sng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autorização determina o que você pode fazer</a:t>
            </a:r>
            <a:r>
              <a:rPr lang="en">
                <a:solidFill>
                  <a:schemeClr val="dk2"/>
                </a:solidFill>
              </a:rPr>
              <a:t> ou acessar no sistema.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80" name="Google Shape;2080;p142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</a:t>
            </a:r>
            <a:endParaRPr/>
          </a:p>
        </p:txBody>
      </p:sp>
      <p:sp>
        <p:nvSpPr>
          <p:cNvPr id="2081" name="Google Shape;2081;p14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Informe o mínimo de contexto necessário nos seus prompts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Seja objetivo e imperativo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SEMPRE revise o que foi sugerido como solu</a:t>
            </a:r>
            <a:r>
              <a:rPr b="1" lang="en" sz="1200"/>
              <a:t>ção</a:t>
            </a:r>
            <a:endParaRPr b="1" sz="1200"/>
          </a:p>
        </p:txBody>
      </p:sp>
      <p:sp>
        <p:nvSpPr>
          <p:cNvPr id="2082" name="Google Shape;2082;p14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Usando IA no dia a dia</a:t>
            </a:r>
            <a:endParaRPr/>
          </a:p>
        </p:txBody>
      </p:sp>
      <p:grpSp>
        <p:nvGrpSpPr>
          <p:cNvPr id="2083" name="Google Shape;2083;p142"/>
          <p:cNvGrpSpPr/>
          <p:nvPr/>
        </p:nvGrpSpPr>
        <p:grpSpPr>
          <a:xfrm>
            <a:off x="228600" y="2402395"/>
            <a:ext cx="1742332" cy="338705"/>
            <a:chOff x="284700" y="4135245"/>
            <a:chExt cx="1742332" cy="338705"/>
          </a:xfrm>
        </p:grpSpPr>
        <p:sp>
          <p:nvSpPr>
            <p:cNvPr id="2084" name="Google Shape;2084;p142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hlink"/>
                  </a:solidFill>
                  <a:uFill>
                    <a:noFill/>
                  </a:uFill>
                  <a:latin typeface="Urbanist Medium"/>
                  <a:ea typeface="Urbanist Medium"/>
                  <a:cs typeface="Urbanist Medium"/>
                  <a:sym typeface="Urbanist Medium"/>
                  <a:hlinkClick r:id="rId3"/>
                </a:rPr>
                <a:t>Prompt dessa aula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2085" name="Google Shape;2085;p142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2086" name="Google Shape;2086;p142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2087" name="Google Shape;2087;p142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2088" name="Google Shape;2088;p142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9" name="Google Shape;2089;p142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descr="A luminous galaxy." id="2090" name="Google Shape;2090;p14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man giving a thumbs up in front of a chat gpt logo (Provided by Tenor)" id="2091" name="Google Shape;2091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987" y="1040087"/>
            <a:ext cx="3063325" cy="30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4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097" name="Google Shape;2097;p143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5</a:t>
            </a:r>
            <a:endParaRPr/>
          </a:p>
        </p:txBody>
      </p:sp>
      <p:sp>
        <p:nvSpPr>
          <p:cNvPr id="2098" name="Google Shape;2098;p143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Projeto Guiado: Mini App Completo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99" name="Google Shape;2099;p143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2100" name="Google Shape;2100;p143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101" name="Google Shape;2101;p143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2102" name="Google Shape;2102;p1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3" name="Google Shape;2103;p1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4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09" name="Google Shape;2109;p144"/>
          <p:cNvSpPr txBox="1"/>
          <p:nvPr>
            <p:ph type="title"/>
          </p:nvPr>
        </p:nvSpPr>
        <p:spPr>
          <a:xfrm>
            <a:off x="228600" y="640925"/>
            <a:ext cx="38844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Vamos criar um CRUD de Tasks para praticar</a:t>
            </a:r>
            <a:endParaRPr sz="2800"/>
          </a:p>
        </p:txBody>
      </p:sp>
      <p:sp>
        <p:nvSpPr>
          <p:cNvPr id="2110" name="Google Shape;2110;p144"/>
          <p:cNvSpPr txBox="1"/>
          <p:nvPr>
            <p:ph idx="1" type="body"/>
          </p:nvPr>
        </p:nvSpPr>
        <p:spPr>
          <a:xfrm>
            <a:off x="228600" y="1743625"/>
            <a:ext cx="34350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Home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Telas de Cadastro e Login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Tela de Tasks do usu</a:t>
            </a:r>
            <a:r>
              <a:rPr lang="en" sz="1200"/>
              <a:t>ário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Autentica</a:t>
            </a:r>
            <a:r>
              <a:rPr lang="en" sz="1200"/>
              <a:t>ção JWT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Componentes reutilizáveis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Estilo básico com Tailwind</a:t>
            </a:r>
            <a:endParaRPr sz="1200"/>
          </a:p>
        </p:txBody>
      </p:sp>
      <p:sp>
        <p:nvSpPr>
          <p:cNvPr id="2111" name="Google Shape;2111;p14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CRUD</a:t>
            </a:r>
            <a:endParaRPr/>
          </a:p>
        </p:txBody>
      </p:sp>
      <p:pic>
        <p:nvPicPr>
          <p:cNvPr id="2112" name="Google Shape;211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00" y="400435"/>
            <a:ext cx="4954501" cy="415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4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18" name="Google Shape;2118;p145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Cadastro</a:t>
            </a:r>
            <a:endParaRPr/>
          </a:p>
        </p:txBody>
      </p:sp>
      <p:sp>
        <p:nvSpPr>
          <p:cNvPr id="2119" name="Google Shape;2119;p145"/>
          <p:cNvSpPr txBox="1"/>
          <p:nvPr>
            <p:ph idx="1" type="body"/>
          </p:nvPr>
        </p:nvSpPr>
        <p:spPr>
          <a:xfrm>
            <a:off x="228600" y="1178225"/>
            <a:ext cx="4296600" cy="3274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Rota:</a:t>
            </a:r>
            <a:r>
              <a:rPr lang="en" sz="1200"/>
              <a:t> /register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Título:</a:t>
            </a:r>
            <a:r>
              <a:rPr lang="en" sz="1200"/>
              <a:t> Cadastro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Campos: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Usuário (obrigatório)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Email (obrigatório e formato válido)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Senha: (obrigatório e mínimo de 6 caracteres)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Ações: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Cria um novo usuário e redireciona para /tasks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Exibe mensagens de erro em caso de falha</a:t>
            </a:r>
            <a:br>
              <a:rPr lang="en" sz="1200"/>
            </a:br>
            <a:br>
              <a:rPr lang="en" sz="1200"/>
            </a:br>
            <a:br>
              <a:rPr lang="en" sz="1200"/>
            </a:br>
            <a:br>
              <a:rPr lang="en" sz="1200"/>
            </a:br>
            <a:endParaRPr sz="1200"/>
          </a:p>
        </p:txBody>
      </p:sp>
      <p:sp>
        <p:nvSpPr>
          <p:cNvPr id="2120" name="Google Shape;2120;p145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CRUD</a:t>
            </a:r>
            <a:endParaRPr/>
          </a:p>
        </p:txBody>
      </p:sp>
      <p:pic>
        <p:nvPicPr>
          <p:cNvPr id="2121" name="Google Shape;2121;p145" title="Screenshot 2025-06-16 at 17.24.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200" y="400183"/>
            <a:ext cx="4954798" cy="415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4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27" name="Google Shape;2127;p146"/>
          <p:cNvSpPr txBox="1"/>
          <p:nvPr>
            <p:ph type="title"/>
          </p:nvPr>
        </p:nvSpPr>
        <p:spPr>
          <a:xfrm>
            <a:off x="228600" y="290448"/>
            <a:ext cx="3655800" cy="1126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5</a:t>
            </a:r>
            <a:br>
              <a:rPr lang="en"/>
            </a:br>
            <a:r>
              <a:rPr lang="en" sz="2400"/>
              <a:t>(continua</a:t>
            </a:r>
            <a:r>
              <a:rPr lang="en" sz="2400"/>
              <a:t>ção)</a:t>
            </a:r>
            <a:endParaRPr sz="2400"/>
          </a:p>
        </p:txBody>
      </p:sp>
      <p:sp>
        <p:nvSpPr>
          <p:cNvPr id="2128" name="Google Shape;2128;p146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Projeto Guiado: Mini App Completo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129" name="Google Shape;2129;p146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2130" name="Google Shape;2130;p146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131" name="Google Shape;2131;p146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2132" name="Google Shape;2132;p14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3" name="Google Shape;2133;p14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47"/>
          <p:cNvSpPr txBox="1"/>
          <p:nvPr>
            <p:ph idx="1" type="body"/>
          </p:nvPr>
        </p:nvSpPr>
        <p:spPr>
          <a:xfrm>
            <a:off x="228600" y="1178225"/>
            <a:ext cx="4296600" cy="3274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Rota:</a:t>
            </a:r>
            <a:r>
              <a:rPr lang="en" sz="1200"/>
              <a:t> /login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Título:</a:t>
            </a:r>
            <a:r>
              <a:rPr lang="en" sz="1200"/>
              <a:t> Login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Campos: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Email (obrigatório)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Senha: (obrigat</a:t>
            </a:r>
            <a:r>
              <a:rPr lang="en" sz="1200"/>
              <a:t>ório</a:t>
            </a:r>
            <a:r>
              <a:rPr lang="en" sz="1200"/>
              <a:t>)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Ações: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Autentica o</a:t>
            </a:r>
            <a:r>
              <a:rPr lang="en" sz="1200"/>
              <a:t> usuário e redireciona para /tasks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Exibe mensagens de erro em caso de falha</a:t>
            </a:r>
            <a:br>
              <a:rPr lang="en" sz="1200"/>
            </a:br>
            <a:br>
              <a:rPr lang="en" sz="1200"/>
            </a:br>
            <a:br>
              <a:rPr lang="en" sz="1200"/>
            </a:br>
            <a:br>
              <a:rPr lang="en" sz="1200"/>
            </a:br>
            <a:endParaRPr sz="1200"/>
          </a:p>
        </p:txBody>
      </p:sp>
      <p:sp>
        <p:nvSpPr>
          <p:cNvPr id="2139" name="Google Shape;2139;p147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40" name="Google Shape;2140;p147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sp>
        <p:nvSpPr>
          <p:cNvPr id="2141" name="Google Shape;2141;p147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CRUD</a:t>
            </a:r>
            <a:endParaRPr/>
          </a:p>
        </p:txBody>
      </p:sp>
      <p:pic>
        <p:nvPicPr>
          <p:cNvPr id="2142" name="Google Shape;2142;p147" title="Screenshot 2025-06-16 at 17.24.1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500" y="400435"/>
            <a:ext cx="4954501" cy="415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14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48" name="Google Shape;2148;p148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2149" name="Google Shape;2149;p148"/>
          <p:cNvSpPr txBox="1"/>
          <p:nvPr>
            <p:ph idx="1" type="body"/>
          </p:nvPr>
        </p:nvSpPr>
        <p:spPr>
          <a:xfrm>
            <a:off x="228600" y="1178225"/>
            <a:ext cx="4296600" cy="3274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Rota:</a:t>
            </a:r>
            <a:r>
              <a:rPr lang="en" sz="1200"/>
              <a:t> /tasks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Título:</a:t>
            </a:r>
            <a:r>
              <a:rPr lang="en" sz="1200"/>
              <a:t> Tasks</a:t>
            </a: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Campos: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Input para nova task</a:t>
            </a:r>
            <a:br>
              <a:rPr lang="en" sz="1200"/>
            </a:br>
            <a:br>
              <a:rPr lang="en" sz="1200"/>
            </a:b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b="1" lang="en" sz="1200"/>
              <a:t>Ações: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Lista as tasks do usuário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Atualiza a lista ao incluir uma nova task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Permite o usu</a:t>
            </a:r>
            <a:r>
              <a:rPr lang="en" sz="1200"/>
              <a:t>ário concluir cada task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Atualiza a lista ao concluir uma task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Permite o usuário excluir cada task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Atualiza a lista ao excluir uma task</a:t>
            </a:r>
            <a:endParaRPr sz="1200"/>
          </a:p>
        </p:txBody>
      </p:sp>
      <p:sp>
        <p:nvSpPr>
          <p:cNvPr id="2150" name="Google Shape;2150;p14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CRUD</a:t>
            </a:r>
            <a:endParaRPr/>
          </a:p>
        </p:txBody>
      </p:sp>
      <p:pic>
        <p:nvPicPr>
          <p:cNvPr id="2151" name="Google Shape;2151;p148" title="Screenshot 2025-06-16 at 17.24.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500" y="400435"/>
            <a:ext cx="4954501" cy="415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149"/>
          <p:cNvSpPr/>
          <p:nvPr/>
        </p:nvSpPr>
        <p:spPr>
          <a:xfrm>
            <a:off x="315465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7" name="Google Shape;2157;p149">
            <a:hlinkClick r:id="rId4"/>
          </p:cNvPr>
          <p:cNvSpPr/>
          <p:nvPr/>
        </p:nvSpPr>
        <p:spPr>
          <a:xfrm>
            <a:off x="3386711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2158" name="Google Shape;2158;p149"/>
          <p:cNvGrpSpPr/>
          <p:nvPr/>
        </p:nvGrpSpPr>
        <p:grpSpPr>
          <a:xfrm>
            <a:off x="4558464" y="3950131"/>
            <a:ext cx="282600" cy="282600"/>
            <a:chOff x="4558464" y="3950131"/>
            <a:chExt cx="282600" cy="282600"/>
          </a:xfrm>
        </p:grpSpPr>
        <p:sp>
          <p:nvSpPr>
            <p:cNvPr id="2159" name="Google Shape;2159;p149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160" name="Google Shape;2160;p149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2161" name="Google Shape;2161;p149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2" name="Google Shape;2162;p149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63" name="Google Shape;2163;p149"/>
          <p:cNvSpPr/>
          <p:nvPr/>
        </p:nvSpPr>
        <p:spPr>
          <a:xfrm>
            <a:off x="608070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4" name="Google Shape;2164;p149">
            <a:hlinkClick r:id="rId5"/>
          </p:cNvPr>
          <p:cNvSpPr/>
          <p:nvPr/>
        </p:nvSpPr>
        <p:spPr>
          <a:xfrm>
            <a:off x="6309307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2165" name="Google Shape;2165;p149"/>
          <p:cNvGrpSpPr/>
          <p:nvPr/>
        </p:nvGrpSpPr>
        <p:grpSpPr>
          <a:xfrm>
            <a:off x="7477339" y="3950069"/>
            <a:ext cx="282600" cy="282600"/>
            <a:chOff x="4558464" y="3950131"/>
            <a:chExt cx="282600" cy="282600"/>
          </a:xfrm>
        </p:grpSpPr>
        <p:sp>
          <p:nvSpPr>
            <p:cNvPr id="2166" name="Google Shape;2166;p149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167" name="Google Shape;2167;p149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2168" name="Google Shape;2168;p149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149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70" name="Google Shape;2170;p149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tasks-crud-api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171" name="Google Shape;2171;p149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 e DB (Node)</a:t>
            </a:r>
            <a:endParaRPr/>
          </a:p>
        </p:txBody>
      </p:sp>
      <p:sp>
        <p:nvSpPr>
          <p:cNvPr id="2172" name="Google Shape;2172;p149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Projeto básico apenas para suportar as telas criadas no Front-End (não utilizem como referência para outros projetos)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73" name="Google Shape;2173;p149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tasks-crud-app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174" name="Google Shape;2174;p149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 (Next)</a:t>
            </a:r>
            <a:endParaRPr/>
          </a:p>
        </p:txBody>
      </p:sp>
      <p:sp>
        <p:nvSpPr>
          <p:cNvPr id="2175" name="Google Shape;2175;p149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Projeto criado demonstrando as melhores práticas para uma aplicação dessa natureza e </a:t>
            </a: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para servir de referência para outros projetos futuros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76" name="Google Shape;2176;p149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Tasks CRUD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177" name="Google Shape;2177;p149"/>
          <p:cNvSpPr txBox="1"/>
          <p:nvPr>
            <p:ph idx="7" type="subTitle"/>
          </p:nvPr>
        </p:nvSpPr>
        <p:spPr>
          <a:xfrm>
            <a:off x="3482800" y="4040735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 do projeto</a:t>
            </a:r>
            <a:endParaRPr/>
          </a:p>
        </p:txBody>
      </p:sp>
      <p:sp>
        <p:nvSpPr>
          <p:cNvPr id="2178" name="Google Shape;2178;p149"/>
          <p:cNvSpPr txBox="1"/>
          <p:nvPr>
            <p:ph idx="8" type="subTitle"/>
          </p:nvPr>
        </p:nvSpPr>
        <p:spPr>
          <a:xfrm>
            <a:off x="6405300" y="4040610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Repo do projeto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149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15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85" name="Google Shape;2185;p150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6</a:t>
            </a:r>
            <a:endParaRPr/>
          </a:p>
        </p:txBody>
      </p:sp>
      <p:sp>
        <p:nvSpPr>
          <p:cNvPr id="2186" name="Google Shape;2186;p150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Entrevistas Técnicas e Desafios Reais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187" name="Google Shape;2187;p150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2188" name="Google Shape;2188;p1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189" name="Google Shape;2189;p1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2190" name="Google Shape;2190;p1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1" name="Google Shape;2191;p1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15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2197" name="Google Shape;2197;p151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Obrigado!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8" name="Google Shape;2198;p151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151"/>
          <p:cNvSpPr/>
          <p:nvPr/>
        </p:nvSpPr>
        <p:spPr>
          <a:xfrm>
            <a:off x="6080700" y="2888275"/>
            <a:ext cx="2835000" cy="15645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0" name="Google Shape;2200;p151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Quer aprender mais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Bora conversar!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Chama no LinkedIn:</a:t>
            </a:r>
            <a:endParaRPr b="1"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https://www.linkedin.com/in/danieljxavier/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