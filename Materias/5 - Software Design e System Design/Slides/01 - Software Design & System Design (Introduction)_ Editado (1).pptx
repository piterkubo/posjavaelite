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6.xml" ContentType="application/vnd.openxmlformats-officedocument.presentationml.notesSlide+xml"/>
  <Override PartName="/ppt/comments/comment4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  <p:sldMasterId id="2147483661" r:id="rId5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  <p:embeddedFont>
      <p:font typeface="Poppins SemiBold" panose="00000700000000000000" pitchFamily="2" charset="0"/>
      <p:regular r:id="rId31"/>
      <p:bold r:id="rId32"/>
      <p:italic r:id="rId33"/>
      <p:boldItalic r:id="rId34"/>
    </p:embeddedFon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16">
          <p15:clr>
            <a:srgbClr val="FF9900"/>
          </p15:clr>
        </p15:guide>
        <p15:guide id="2" orient="horz" pos="228">
          <p15:clr>
            <a:srgbClr val="747775"/>
          </p15:clr>
        </p15:guide>
        <p15:guide id="3" orient="horz" pos="432">
          <p15:clr>
            <a:srgbClr val="747775"/>
          </p15:clr>
        </p15:guide>
        <p15:guide id="4" pos="5171">
          <p15:clr>
            <a:srgbClr val="FF9900"/>
          </p15:clr>
        </p15:guide>
        <p15:guide id="5" orient="horz" pos="2867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tavio Santana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E3A"/>
    <a:srgbClr val="009EDC"/>
    <a:srgbClr val="D2D2FF"/>
    <a:srgbClr val="16161D"/>
    <a:srgbClr val="79A8DD"/>
    <a:srgbClr val="4265C0"/>
    <a:srgbClr val="2E6EB6"/>
    <a:srgbClr val="19426B"/>
    <a:srgbClr val="29293D"/>
    <a:srgbClr val="0E9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25ED4C-3190-4B7F-93C2-51BAE1772B50}">
  <a:tblStyle styleId="{9625ED4C-3190-4B7F-93C2-51BAE1772B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4" y="62"/>
      </p:cViewPr>
      <p:guideLst>
        <p:guide pos="216"/>
        <p:guide orient="horz" pos="228"/>
        <p:guide orient="horz" pos="432"/>
        <p:guide pos="5171"/>
        <p:guide orient="horz" pos="2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4.fntdata"/><Relationship Id="rId39" Type="http://schemas.openxmlformats.org/officeDocument/2006/relationships/commentAuthors" Target="commentAuthors.xml"/><Relationship Id="rId21" Type="http://schemas.openxmlformats.org/officeDocument/2006/relationships/slide" Target="slides/slide16.xml"/><Relationship Id="rId34" Type="http://schemas.openxmlformats.org/officeDocument/2006/relationships/font" Target="fonts/font12.fntdata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7.fntdata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9.fntdata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 Kelle Rodrigues Barbosa" userId="S::joyce.barbosa@kroton.com.br::8c08e31e-b3ba-42b8-b150-8158ecd9d93c" providerId="AD" clId="Web-{55374BB7-F619-715C-699C-A1E1F9D1A857}"/>
    <pc:docChg chg="mod modMainMaster">
      <pc:chgData name="Joyce Kelle Rodrigues Barbosa" userId="S::joyce.barbosa@kroton.com.br::8c08e31e-b3ba-42b8-b150-8158ecd9d93c" providerId="AD" clId="Web-{55374BB7-F619-715C-699C-A1E1F9D1A857}" dt="2025-08-18T13:31:14.421" v="1" actId="33475"/>
      <pc:docMkLst>
        <pc:docMk/>
      </pc:docMkLst>
      <pc:sldMasterChg chg="addSp">
        <pc:chgData name="Joyce Kelle Rodrigues Barbosa" userId="S::joyce.barbosa@kroton.com.br::8c08e31e-b3ba-42b8-b150-8158ecd9d93c" providerId="AD" clId="Web-{55374BB7-F619-715C-699C-A1E1F9D1A857}" dt="2025-08-18T13:31:14.421" v="0" actId="33475"/>
        <pc:sldMasterMkLst>
          <pc:docMk/>
          <pc:sldMasterMk cId="0" sldId="2147483660"/>
        </pc:sldMasterMkLst>
        <pc:spChg chg="add">
          <ac:chgData name="Joyce Kelle Rodrigues Barbosa" userId="S::joyce.barbosa@kroton.com.br::8c08e31e-b3ba-42b8-b150-8158ecd9d93c" providerId="AD" clId="Web-{55374BB7-F619-715C-699C-A1E1F9D1A857}" dt="2025-08-18T13:31:14.421" v="0" actId="33475"/>
          <ac:spMkLst>
            <pc:docMk/>
            <pc:sldMasterMk cId="0" sldId="2147483660"/>
            <ac:spMk id="3" creationId="{BBFE9AD2-7635-E03E-C210-EFC41F539668}"/>
          </ac:spMkLst>
        </pc:spChg>
      </pc:sldMasterChg>
      <pc:sldMasterChg chg="addSp">
        <pc:chgData name="Joyce Kelle Rodrigues Barbosa" userId="S::joyce.barbosa@kroton.com.br::8c08e31e-b3ba-42b8-b150-8158ecd9d93c" providerId="AD" clId="Web-{55374BB7-F619-715C-699C-A1E1F9D1A857}" dt="2025-08-18T13:31:14.421" v="0" actId="33475"/>
        <pc:sldMasterMkLst>
          <pc:docMk/>
          <pc:sldMasterMk cId="0" sldId="2147483661"/>
        </pc:sldMasterMkLst>
        <pc:spChg chg="add">
          <ac:chgData name="Joyce Kelle Rodrigues Barbosa" userId="S::joyce.barbosa@kroton.com.br::8c08e31e-b3ba-42b8-b150-8158ecd9d93c" providerId="AD" clId="Web-{55374BB7-F619-715C-699C-A1E1F9D1A857}" dt="2025-08-18T13:31:14.421" v="0" actId="33475"/>
          <ac:spMkLst>
            <pc:docMk/>
            <pc:sldMasterMk cId="0" sldId="2147483661"/>
            <ac:spMk id="3" creationId="{B4C58608-FC80-1979-C288-0B8E346BF367}"/>
          </ac:spMkLst>
        </pc:spChg>
      </pc:sldMaster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6T15:34:05.959" idx="1">
    <p:pos x="4109" y="1742"/>
    <p:text>I found this one with weird color, could you enhance it, please?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6T15:29:59.298" idx="2">
    <p:pos x="4805" y="1012"/>
    <p:text>for some reason, I could not change all the circle to blue derivations, could you help me?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6T16:09:02.299" idx="3">
    <p:pos x="198" y="574"/>
    <p:text>Could you enhance this table, please?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6T16:16:30.722" idx="4">
    <p:pos x="2091" y="-495"/>
    <p:text>could you enhance it and make as circle flow?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6d57c2f8f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g36d57c2f8f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d57c2f8f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6d57c2f8fe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d57c2f8f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36d57c2f8f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d57c2f8fe_0_9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6d57c2f8fe_0_9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d57c2f8fe_0_10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36d57c2f8fe_0_10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d57c2f8fe_0_1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6d57c2f8fe_0_13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6d57c2f8fe_0_13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d57c2f8fe_0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36d57c2f8fe_0_13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6d57c2f8fe_0_13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d57c2f8fe_0_1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36d57c2f8fe_0_1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d57c2f8fe_0_1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36d57c2f8fe_0_1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d57c2f8fe_0_1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6d57c2f8fe_0_1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d57c2f8fe_0_1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36d57c2f8fe_0_1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d57c2f8fe_0_1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36d57c2f8fe_0_1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d5fa7020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36d5fa7020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6d5fa7020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d57c2f8fe_0_1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g36d57c2f8fe_0_1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6d57c2f8fe_0_1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g36d57c2f8fe_0_1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7" name="Google Shape;17;p5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5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35" name="Google Shape;35;p12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2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BFE9AD2-7635-E03E-C210-EFC41F53966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4C58608-FC80-1979-C288-0B8E346BF36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jpg"/><Relationship Id="rId9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comments" Target="../comments/commen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D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/>
        </p:nvSpPr>
        <p:spPr>
          <a:xfrm>
            <a:off x="1125220" y="2837180"/>
            <a:ext cx="563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An overview of Software Engineering</a:t>
            </a:r>
            <a:endParaRPr sz="1800" b="0" i="0" u="none" strike="noStrike" cap="none"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15"/>
          <p:cNvSpPr txBox="1"/>
          <p:nvPr/>
        </p:nvSpPr>
        <p:spPr>
          <a:xfrm>
            <a:off x="1125220" y="3711905"/>
            <a:ext cx="263424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Otávio Santana, Founder</a:t>
            </a:r>
            <a:endParaRPr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    otavio@os.expert</a:t>
            </a:r>
            <a:endParaRPr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" name="Google Shape;5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3314" y="4025869"/>
            <a:ext cx="177655" cy="1886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A6CBCC5-C810-F60F-0892-2AE7D0F3206B}"/>
              </a:ext>
            </a:extLst>
          </p:cNvPr>
          <p:cNvSpPr txBox="1"/>
          <p:nvPr/>
        </p:nvSpPr>
        <p:spPr>
          <a:xfrm>
            <a:off x="1125220" y="1539500"/>
            <a:ext cx="4632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4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Software Design &amp; System Design</a:t>
            </a:r>
            <a:endParaRPr lang="pt-BR" sz="4000" dirty="0">
              <a:solidFill>
                <a:schemeClr val="bg1"/>
              </a:solidFill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2E3E29B2-3DC5-7A66-9EB6-19579E807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314" y="460851"/>
            <a:ext cx="624840" cy="78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E3A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45062FE-CF07-E623-E746-673FFEFA3AD4}"/>
              </a:ext>
            </a:extLst>
          </p:cNvPr>
          <p:cNvSpPr/>
          <p:nvPr/>
        </p:nvSpPr>
        <p:spPr>
          <a:xfrm>
            <a:off x="4015740" y="0"/>
            <a:ext cx="5128260" cy="5143500"/>
          </a:xfrm>
          <a:prstGeom prst="rect">
            <a:avLst/>
          </a:prstGeom>
          <a:solidFill>
            <a:srgbClr val="16161D"/>
          </a:solidFill>
          <a:ln w="1270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Google Shape;55;p16"/>
          <p:cNvSpPr txBox="1"/>
          <p:nvPr/>
        </p:nvSpPr>
        <p:spPr>
          <a:xfrm>
            <a:off x="260278" y="1879217"/>
            <a:ext cx="4582800" cy="623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36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36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6"/>
          <p:cNvSpPr txBox="1"/>
          <p:nvPr/>
        </p:nvSpPr>
        <p:spPr>
          <a:xfrm>
            <a:off x="260278" y="2383252"/>
            <a:ext cx="3510300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20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Topics on this class</a:t>
            </a:r>
            <a:endParaRPr sz="200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6"/>
          <p:cNvSpPr txBox="1"/>
          <p:nvPr/>
        </p:nvSpPr>
        <p:spPr>
          <a:xfrm>
            <a:off x="4349924" y="1799759"/>
            <a:ext cx="4459891" cy="154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12750" marR="0" lvl="0" indent="-2857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2D2FF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rgbClr val="009EDC"/>
                </a:solidFill>
                <a:latin typeface="Poppins"/>
                <a:ea typeface="Poppins"/>
                <a:cs typeface="Poppins"/>
                <a:sym typeface="Poppins"/>
              </a:rPr>
              <a:t>Software System</a:t>
            </a:r>
            <a:endParaRPr sz="1800" dirty="0">
              <a:solidFill>
                <a:srgbClr val="009ED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2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2FF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rgbClr val="009EDC"/>
                </a:solidFill>
                <a:latin typeface="Poppins"/>
                <a:ea typeface="Poppins"/>
                <a:cs typeface="Poppins"/>
                <a:sym typeface="Poppins"/>
              </a:rPr>
              <a:t>Software Design</a:t>
            </a:r>
            <a:endParaRPr sz="1800" dirty="0">
              <a:solidFill>
                <a:srgbClr val="009ED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2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2FF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rgbClr val="009EDC"/>
                </a:solidFill>
                <a:latin typeface="Poppins"/>
                <a:ea typeface="Poppins"/>
                <a:cs typeface="Poppins"/>
                <a:sym typeface="Poppins"/>
              </a:rPr>
              <a:t>Software Architecture</a:t>
            </a:r>
            <a:endParaRPr sz="1800" dirty="0">
              <a:solidFill>
                <a:srgbClr val="009ED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2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2FF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rgbClr val="009EDC"/>
                </a:solidFill>
                <a:latin typeface="Poppins"/>
                <a:ea typeface="Poppins"/>
                <a:cs typeface="Poppins"/>
                <a:sym typeface="Poppins"/>
              </a:rPr>
              <a:t>Software Design vs Software Architecture vs Software Design</a:t>
            </a:r>
            <a:endParaRPr sz="1800" dirty="0">
              <a:solidFill>
                <a:srgbClr val="009ED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B6D6663-D6C3-1B72-ECD5-E5191801A6B4}"/>
              </a:ext>
            </a:extLst>
          </p:cNvPr>
          <p:cNvCxnSpPr/>
          <p:nvPr/>
        </p:nvCxnSpPr>
        <p:spPr>
          <a:xfrm>
            <a:off x="4015740" y="52039"/>
            <a:ext cx="0" cy="519684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5C3B01D-E4D5-E00A-DB44-AEB26D18D8F0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Google Shape;62;p17"/>
          <p:cNvSpPr txBox="1"/>
          <p:nvPr/>
        </p:nvSpPr>
        <p:spPr>
          <a:xfrm>
            <a:off x="239730" y="153148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Software History</a:t>
            </a:r>
            <a:endParaRPr sz="27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7"/>
          <p:cNvSpPr txBox="1"/>
          <p:nvPr/>
        </p:nvSpPr>
        <p:spPr>
          <a:xfrm>
            <a:off x="260278" y="435450"/>
            <a:ext cx="3510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Software became more complex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562" y="923332"/>
            <a:ext cx="4067020" cy="4067020"/>
          </a:xfrm>
          <a:prstGeom prst="roundRect">
            <a:avLst>
              <a:gd name="adj" fmla="val 4845"/>
            </a:avLst>
          </a:prstGeom>
          <a:noFill/>
          <a:ln>
            <a:noFill/>
          </a:ln>
        </p:spPr>
      </p:pic>
      <p:pic>
        <p:nvPicPr>
          <p:cNvPr id="65" name="Google Shape;65;p17" descr="Complex Futuristic Information Data (Provided by Getty Images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139" y="1464739"/>
            <a:ext cx="4385423" cy="2826549"/>
          </a:xfrm>
          <a:prstGeom prst="roundRect">
            <a:avLst>
              <a:gd name="adj" fmla="val 6153"/>
            </a:avLst>
          </a:prstGeom>
          <a:noFill/>
          <a:ln>
            <a:noFill/>
          </a:ln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E4D4D0EB-EB56-EFA4-8605-1FB980969E19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E206D9B-1F0C-B72B-45C5-D37C45CF9E4C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Google Shape;70;p18"/>
          <p:cNvSpPr txBox="1"/>
          <p:nvPr/>
        </p:nvSpPr>
        <p:spPr>
          <a:xfrm>
            <a:off x="260278" y="138143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Software History trend</a:t>
            </a:r>
            <a:endParaRPr sz="27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8"/>
          <p:cNvSpPr txBox="1"/>
          <p:nvPr/>
        </p:nvSpPr>
        <p:spPr>
          <a:xfrm>
            <a:off x="260278" y="435450"/>
            <a:ext cx="3510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Software became more complex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" name="Google Shape;72;p18"/>
          <p:cNvGrpSpPr/>
          <p:nvPr/>
        </p:nvGrpSpPr>
        <p:grpSpPr>
          <a:xfrm>
            <a:off x="803338" y="1574025"/>
            <a:ext cx="1606073" cy="2315200"/>
            <a:chOff x="796138" y="1574025"/>
            <a:chExt cx="1606073" cy="2315200"/>
          </a:xfrm>
        </p:grpSpPr>
        <p:grpSp>
          <p:nvGrpSpPr>
            <p:cNvPr id="73" name="Google Shape;73;p18"/>
            <p:cNvGrpSpPr/>
            <p:nvPr/>
          </p:nvGrpSpPr>
          <p:grpSpPr>
            <a:xfrm>
              <a:off x="796138" y="1695421"/>
              <a:ext cx="1606073" cy="908429"/>
              <a:chOff x="796138" y="1695421"/>
              <a:chExt cx="1606073" cy="908429"/>
            </a:xfrm>
          </p:grpSpPr>
          <p:cxnSp>
            <p:nvCxnSpPr>
              <p:cNvPr id="74" name="Google Shape;74;p18"/>
              <p:cNvCxnSpPr/>
              <p:nvPr/>
            </p:nvCxnSpPr>
            <p:spPr>
              <a:xfrm>
                <a:off x="1664415" y="1695421"/>
                <a:ext cx="718500" cy="741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D5CD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5" name="Google Shape;75;p18"/>
              <p:cNvSpPr/>
              <p:nvPr/>
            </p:nvSpPr>
            <p:spPr>
              <a:xfrm flipH="1">
                <a:off x="796138" y="2306625"/>
                <a:ext cx="1605900" cy="143400"/>
              </a:xfrm>
              <a:prstGeom prst="parallelogram">
                <a:avLst>
                  <a:gd name="adj" fmla="val 96952"/>
                </a:avLst>
              </a:prstGeom>
              <a:solidFill>
                <a:srgbClr val="0D5C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 </a:t>
                </a:r>
                <a:endParaRPr/>
              </a:p>
            </p:txBody>
          </p:sp>
          <p:sp>
            <p:nvSpPr>
              <p:cNvPr id="76" name="Google Shape;76;p18"/>
              <p:cNvSpPr/>
              <p:nvPr/>
            </p:nvSpPr>
            <p:spPr>
              <a:xfrm>
                <a:off x="796311" y="2460450"/>
                <a:ext cx="1605900" cy="143400"/>
              </a:xfrm>
              <a:prstGeom prst="parallelogram">
                <a:avLst>
                  <a:gd name="adj" fmla="val 96952"/>
                </a:avLst>
              </a:prstGeom>
              <a:solidFill>
                <a:srgbClr val="0942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7" name="Google Shape;77;p18"/>
            <p:cNvSpPr txBox="1"/>
            <p:nvPr/>
          </p:nvSpPr>
          <p:spPr>
            <a:xfrm>
              <a:off x="915823" y="2695025"/>
              <a:ext cx="1324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Hardware</a:t>
              </a:r>
              <a:endParaRPr sz="1000" b="1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" name="Google Shape;78;p18"/>
            <p:cNvSpPr txBox="1"/>
            <p:nvPr/>
          </p:nvSpPr>
          <p:spPr>
            <a:xfrm>
              <a:off x="918274" y="3151825"/>
              <a:ext cx="13242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Complexity was limited by hardware capacity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" name="Google Shape;79;p18"/>
            <p:cNvSpPr txBox="1"/>
            <p:nvPr/>
          </p:nvSpPr>
          <p:spPr>
            <a:xfrm>
              <a:off x="1085439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" name="Google Shape;80;p18"/>
          <p:cNvGrpSpPr/>
          <p:nvPr/>
        </p:nvGrpSpPr>
        <p:grpSpPr>
          <a:xfrm>
            <a:off x="2283710" y="1574025"/>
            <a:ext cx="1606073" cy="2461900"/>
            <a:chOff x="2283710" y="1574025"/>
            <a:chExt cx="1606073" cy="2461900"/>
          </a:xfrm>
        </p:grpSpPr>
        <p:cxnSp>
          <p:nvCxnSpPr>
            <p:cNvPr id="81" name="Google Shape;81;p18"/>
            <p:cNvCxnSpPr/>
            <p:nvPr/>
          </p:nvCxnSpPr>
          <p:spPr>
            <a:xfrm>
              <a:off x="3068166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rgbClr val="0D5CD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2" name="Google Shape;82;p18"/>
            <p:cNvSpPr/>
            <p:nvPr/>
          </p:nvSpPr>
          <p:spPr>
            <a:xfrm flipH="1">
              <a:off x="2283710" y="2306625"/>
              <a:ext cx="1605900" cy="143400"/>
            </a:xfrm>
            <a:prstGeom prst="parallelogram">
              <a:avLst>
                <a:gd name="adj" fmla="val 96952"/>
              </a:avLst>
            </a:prstGeom>
            <a:solidFill>
              <a:srgbClr val="0D5C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83" name="Google Shape;83;p18"/>
            <p:cNvSpPr/>
            <p:nvPr/>
          </p:nvSpPr>
          <p:spPr>
            <a:xfrm>
              <a:off x="2283883" y="2460450"/>
              <a:ext cx="1605900" cy="143400"/>
            </a:xfrm>
            <a:prstGeom prst="parallelogram">
              <a:avLst>
                <a:gd name="adj" fmla="val 96952"/>
              </a:avLst>
            </a:prstGeom>
            <a:solidFill>
              <a:srgbClr val="0942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8"/>
            <p:cNvSpPr txBox="1"/>
            <p:nvPr/>
          </p:nvSpPr>
          <p:spPr>
            <a:xfrm>
              <a:off x="2404931" y="2695025"/>
              <a:ext cx="1324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Moore’s Law</a:t>
              </a:r>
              <a:endParaRPr sz="1000" b="1" dirty="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" name="Google Shape;85;p18"/>
            <p:cNvSpPr txBox="1"/>
            <p:nvPr/>
          </p:nvSpPr>
          <p:spPr>
            <a:xfrm>
              <a:off x="2407375" y="3151825"/>
              <a:ext cx="1324200" cy="8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As hardware improved, developers were “allowed” to add more features, more layers, and serve more users.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" name="Google Shape;86;p18"/>
            <p:cNvSpPr txBox="1"/>
            <p:nvPr/>
          </p:nvSpPr>
          <p:spPr>
            <a:xfrm>
              <a:off x="2574547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dirty="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sz="800" dirty="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7" name="Google Shape;87;p18"/>
          <p:cNvGrpSpPr/>
          <p:nvPr/>
        </p:nvGrpSpPr>
        <p:grpSpPr>
          <a:xfrm>
            <a:off x="3667443" y="1574025"/>
            <a:ext cx="1606073" cy="2442700"/>
            <a:chOff x="3768859" y="1574025"/>
            <a:chExt cx="1606073" cy="2442700"/>
          </a:xfrm>
        </p:grpSpPr>
        <p:cxnSp>
          <p:nvCxnSpPr>
            <p:cNvPr id="88" name="Google Shape;88;p18"/>
            <p:cNvCxnSpPr/>
            <p:nvPr/>
          </p:nvCxnSpPr>
          <p:spPr>
            <a:xfrm>
              <a:off x="4637135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9" name="Google Shape;89;p18"/>
            <p:cNvSpPr/>
            <p:nvPr/>
          </p:nvSpPr>
          <p:spPr>
            <a:xfrm flipH="1">
              <a:off x="3768859" y="2306625"/>
              <a:ext cx="1605900" cy="143400"/>
            </a:xfrm>
            <a:prstGeom prst="parallelogram">
              <a:avLst>
                <a:gd name="adj" fmla="val 96952"/>
              </a:avLst>
            </a:prstGeom>
            <a:solidFill>
              <a:srgbClr val="C2C2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90" name="Google Shape;90;p18"/>
            <p:cNvSpPr/>
            <p:nvPr/>
          </p:nvSpPr>
          <p:spPr>
            <a:xfrm>
              <a:off x="3769032" y="2460450"/>
              <a:ext cx="1605900" cy="143400"/>
            </a:xfrm>
            <a:prstGeom prst="parallelogram">
              <a:avLst>
                <a:gd name="adj" fmla="val 96952"/>
              </a:avLst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8"/>
            <p:cNvSpPr txBox="1"/>
            <p:nvPr/>
          </p:nvSpPr>
          <p:spPr>
            <a:xfrm>
              <a:off x="3889991" y="2695025"/>
              <a:ext cx="1324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Distributed Era</a:t>
              </a:r>
              <a:endParaRPr sz="1000" b="1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" name="Google Shape;92;p18"/>
            <p:cNvSpPr txBox="1"/>
            <p:nvPr/>
          </p:nvSpPr>
          <p:spPr>
            <a:xfrm>
              <a:off x="3892451" y="3151825"/>
              <a:ext cx="1412100" cy="86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Software distributed, it requires rely on CDNs, talk to databases, caches, queues, 3rd-party services, etc.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" name="Google Shape;93;p18"/>
            <p:cNvSpPr txBox="1"/>
            <p:nvPr/>
          </p:nvSpPr>
          <p:spPr>
            <a:xfrm>
              <a:off x="4059607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4" name="Google Shape;94;p18"/>
          <p:cNvGrpSpPr/>
          <p:nvPr/>
        </p:nvGrpSpPr>
        <p:grpSpPr>
          <a:xfrm>
            <a:off x="5256641" y="1574025"/>
            <a:ext cx="1606073" cy="2315200"/>
            <a:chOff x="5256641" y="1574025"/>
            <a:chExt cx="1606073" cy="2315200"/>
          </a:xfrm>
        </p:grpSpPr>
        <p:cxnSp>
          <p:nvCxnSpPr>
            <p:cNvPr id="95" name="Google Shape;95;p18"/>
            <p:cNvCxnSpPr/>
            <p:nvPr/>
          </p:nvCxnSpPr>
          <p:spPr>
            <a:xfrm>
              <a:off x="6124917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6" name="Google Shape;96;p18"/>
            <p:cNvSpPr/>
            <p:nvPr/>
          </p:nvSpPr>
          <p:spPr>
            <a:xfrm flipH="1">
              <a:off x="5256641" y="2306625"/>
              <a:ext cx="1605900" cy="143400"/>
            </a:xfrm>
            <a:prstGeom prst="parallelogram">
              <a:avLst>
                <a:gd name="adj" fmla="val 96952"/>
              </a:avLst>
            </a:prstGeom>
            <a:solidFill>
              <a:srgbClr val="C2C2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97" name="Google Shape;97;p18"/>
            <p:cNvSpPr/>
            <p:nvPr/>
          </p:nvSpPr>
          <p:spPr>
            <a:xfrm>
              <a:off x="5256813" y="2460450"/>
              <a:ext cx="1605900" cy="143400"/>
            </a:xfrm>
            <a:prstGeom prst="parallelogram">
              <a:avLst>
                <a:gd name="adj" fmla="val 96952"/>
              </a:avLst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8"/>
            <p:cNvSpPr txBox="1"/>
            <p:nvPr/>
          </p:nvSpPr>
          <p:spPr>
            <a:xfrm>
              <a:off x="5377778" y="2695025"/>
              <a:ext cx="1324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Team Scale</a:t>
              </a:r>
              <a:endParaRPr sz="1000" b="1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" name="Google Shape;99;p18"/>
            <p:cNvSpPr txBox="1"/>
            <p:nvPr/>
          </p:nvSpPr>
          <p:spPr>
            <a:xfrm>
              <a:off x="5380229" y="3151825"/>
              <a:ext cx="13242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The code is not the problem. Coordinating people around it is.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" name="Google Shape;100;p18"/>
            <p:cNvSpPr txBox="1"/>
            <p:nvPr/>
          </p:nvSpPr>
          <p:spPr>
            <a:xfrm>
              <a:off x="554739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1" name="Google Shape;101;p18"/>
          <p:cNvGrpSpPr/>
          <p:nvPr/>
        </p:nvGrpSpPr>
        <p:grpSpPr>
          <a:xfrm>
            <a:off x="6741789" y="1574025"/>
            <a:ext cx="1606073" cy="2315200"/>
            <a:chOff x="6741789" y="1574025"/>
            <a:chExt cx="1606073" cy="2315200"/>
          </a:xfrm>
        </p:grpSpPr>
        <p:cxnSp>
          <p:nvCxnSpPr>
            <p:cNvPr id="102" name="Google Shape;102;p18"/>
            <p:cNvCxnSpPr/>
            <p:nvPr/>
          </p:nvCxnSpPr>
          <p:spPr>
            <a:xfrm>
              <a:off x="7610066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flipH="1">
              <a:off x="6741789" y="2306625"/>
              <a:ext cx="1605900" cy="143400"/>
            </a:xfrm>
            <a:prstGeom prst="parallelogram">
              <a:avLst>
                <a:gd name="adj" fmla="val 96952"/>
              </a:avLst>
            </a:prstGeom>
            <a:solidFill>
              <a:srgbClr val="C2C2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04" name="Google Shape;104;p18"/>
            <p:cNvSpPr/>
            <p:nvPr/>
          </p:nvSpPr>
          <p:spPr>
            <a:xfrm>
              <a:off x="6741962" y="2460450"/>
              <a:ext cx="1605900" cy="143400"/>
            </a:xfrm>
            <a:prstGeom prst="parallelogram">
              <a:avLst>
                <a:gd name="adj" fmla="val 96952"/>
              </a:avLst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8"/>
            <p:cNvSpPr txBox="1"/>
            <p:nvPr/>
          </p:nvSpPr>
          <p:spPr>
            <a:xfrm>
              <a:off x="6865689" y="2695025"/>
              <a:ext cx="1324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Accidental Complexity</a:t>
              </a:r>
              <a:endParaRPr sz="1000" b="1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" name="Google Shape;106;p18"/>
            <p:cNvSpPr txBox="1"/>
            <p:nvPr/>
          </p:nvSpPr>
          <p:spPr>
            <a:xfrm>
              <a:off x="6868139" y="3151825"/>
              <a:ext cx="13242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Business domains are inherently complex. What hurts is accidental complexity.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" name="Google Shape;107;p18"/>
            <p:cNvSpPr txBox="1"/>
            <p:nvPr/>
          </p:nvSpPr>
          <p:spPr>
            <a:xfrm>
              <a:off x="7035305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828016D-03F6-EC1D-66DE-714A32C6512F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20C1DD1-C960-B284-41E4-A6346F86FA2B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2" name="Google Shape;112;p19"/>
          <p:cNvSpPr txBox="1"/>
          <p:nvPr/>
        </p:nvSpPr>
        <p:spPr>
          <a:xfrm>
            <a:off x="242490" y="130175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Complexity with Layers and Tiers</a:t>
            </a:r>
            <a:endParaRPr sz="27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260278" y="435450"/>
            <a:ext cx="3510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Software became more complex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 rot="-711236">
            <a:off x="6107610" y="3069705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9"/>
          <p:cNvSpPr/>
          <p:nvPr/>
        </p:nvSpPr>
        <p:spPr>
          <a:xfrm rot="711236" flipH="1">
            <a:off x="4822872" y="3069705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" name="Google Shape;116;p19"/>
          <p:cNvGrpSpPr/>
          <p:nvPr/>
        </p:nvGrpSpPr>
        <p:grpSpPr>
          <a:xfrm>
            <a:off x="5228035" y="3125748"/>
            <a:ext cx="1712700" cy="1230715"/>
            <a:chOff x="5796625" y="2541798"/>
            <a:chExt cx="1712700" cy="1230715"/>
          </a:xfrm>
        </p:grpSpPr>
        <p:sp>
          <p:nvSpPr>
            <p:cNvPr id="117" name="Google Shape;117;p19"/>
            <p:cNvSpPr/>
            <p:nvPr/>
          </p:nvSpPr>
          <p:spPr>
            <a:xfrm rot="-1789476">
              <a:off x="6572742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9"/>
            <p:cNvSpPr txBox="1"/>
            <p:nvPr/>
          </p:nvSpPr>
          <p:spPr>
            <a:xfrm>
              <a:off x="6296627" y="2735579"/>
              <a:ext cx="8316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b="1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2010–present</a:t>
              </a:r>
              <a:endParaRPr sz="800" b="1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5796625" y="3069013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9"/>
            <p:cNvSpPr txBox="1"/>
            <p:nvPr/>
          </p:nvSpPr>
          <p:spPr>
            <a:xfrm>
              <a:off x="5796625" y="307186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b="1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Layer</a:t>
              </a: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: same as stage 3</a:t>
              </a:r>
              <a:endParaRPr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b="1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Tier</a:t>
              </a: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: N-tier </a:t>
              </a:r>
              <a:endParaRPr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endParaRPr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6607975" y="3004364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19"/>
          <p:cNvSpPr/>
          <p:nvPr/>
        </p:nvSpPr>
        <p:spPr>
          <a:xfrm rot="-711236">
            <a:off x="3541798" y="3069705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" name="Google Shape;123;p19"/>
          <p:cNvGrpSpPr/>
          <p:nvPr/>
        </p:nvGrpSpPr>
        <p:grpSpPr>
          <a:xfrm>
            <a:off x="3974960" y="973903"/>
            <a:ext cx="1712700" cy="2097426"/>
            <a:chOff x="4409300" y="369270"/>
            <a:chExt cx="1712700" cy="2097426"/>
          </a:xfrm>
        </p:grpSpPr>
        <p:sp>
          <p:nvSpPr>
            <p:cNvPr id="124" name="Google Shape;124;p19"/>
            <p:cNvSpPr/>
            <p:nvPr/>
          </p:nvSpPr>
          <p:spPr>
            <a:xfrm rot="-1789476">
              <a:off x="5185416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9"/>
            <p:cNvSpPr txBox="1"/>
            <p:nvPr/>
          </p:nvSpPr>
          <p:spPr>
            <a:xfrm>
              <a:off x="4921724" y="1985296"/>
              <a:ext cx="7845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b="1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1999–2010</a:t>
              </a:r>
              <a:endParaRPr sz="800" b="1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4409300" y="369270"/>
              <a:ext cx="1712700" cy="1554000"/>
            </a:xfrm>
            <a:prstGeom prst="roundRect">
              <a:avLst>
                <a:gd name="adj" fmla="val 4485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 rot="10800000">
              <a:off x="5220625" y="1919036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9"/>
            <p:cNvSpPr txBox="1"/>
            <p:nvPr/>
          </p:nvSpPr>
          <p:spPr>
            <a:xfrm>
              <a:off x="4409300" y="401121"/>
              <a:ext cx="1668600" cy="145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b="1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Layer</a:t>
              </a: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: Presentation, Business Logic (Service), Data Access (DAO).</a:t>
              </a:r>
              <a:endParaRPr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en" sz="800" b="1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Tier</a:t>
              </a: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: 3-tier (browser ↔ app server ↔ database).</a:t>
              </a:r>
              <a:endParaRPr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9" name="Google Shape;129;p19"/>
          <p:cNvSpPr/>
          <p:nvPr/>
        </p:nvSpPr>
        <p:spPr>
          <a:xfrm rot="711236" flipH="1">
            <a:off x="2250118" y="3069705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701C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" name="Google Shape;130;p19"/>
          <p:cNvGrpSpPr/>
          <p:nvPr/>
        </p:nvGrpSpPr>
        <p:grpSpPr>
          <a:xfrm>
            <a:off x="2718562" y="3125748"/>
            <a:ext cx="1940400" cy="1582302"/>
            <a:chOff x="3021989" y="2541798"/>
            <a:chExt cx="1940400" cy="1582302"/>
          </a:xfrm>
        </p:grpSpPr>
        <p:sp>
          <p:nvSpPr>
            <p:cNvPr id="131" name="Google Shape;131;p19"/>
            <p:cNvSpPr txBox="1"/>
            <p:nvPr/>
          </p:nvSpPr>
          <p:spPr>
            <a:xfrm>
              <a:off x="3529887" y="2735579"/>
              <a:ext cx="8247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b="1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1980s–1990s</a:t>
              </a:r>
              <a:endParaRPr sz="800" b="1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" name="Google Shape;132;p19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701C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3021989" y="3069000"/>
              <a:ext cx="1940400" cy="1055100"/>
            </a:xfrm>
            <a:prstGeom prst="roundRect">
              <a:avLst>
                <a:gd name="adj" fmla="val 4485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9"/>
            <p:cNvSpPr txBox="1"/>
            <p:nvPr/>
          </p:nvSpPr>
          <p:spPr>
            <a:xfrm>
              <a:off x="3066239" y="3106199"/>
              <a:ext cx="1896000" cy="101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Layer</a:t>
              </a: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: UI on the client, business + DB logic often mixed in stored procedures or thick clients.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Tier</a:t>
              </a: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: 2-tier (client ↔ database).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" name="Google Shape;135;p19"/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19"/>
          <p:cNvSpPr/>
          <p:nvPr/>
        </p:nvSpPr>
        <p:spPr>
          <a:xfrm rot="-711236">
            <a:off x="975993" y="3069705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701C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" name="Google Shape;137;p19"/>
          <p:cNvGrpSpPr/>
          <p:nvPr/>
        </p:nvGrpSpPr>
        <p:grpSpPr>
          <a:xfrm>
            <a:off x="1431735" y="1824576"/>
            <a:ext cx="1712700" cy="1246754"/>
            <a:chOff x="1637475" y="1219942"/>
            <a:chExt cx="1712700" cy="1246754"/>
          </a:xfrm>
        </p:grpSpPr>
        <p:sp>
          <p:nvSpPr>
            <p:cNvPr id="138" name="Google Shape;138;p19"/>
            <p:cNvSpPr/>
            <p:nvPr/>
          </p:nvSpPr>
          <p:spPr>
            <a:xfrm>
              <a:off x="1637475" y="1219942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9"/>
            <p:cNvSpPr txBox="1"/>
            <p:nvPr/>
          </p:nvSpPr>
          <p:spPr>
            <a:xfrm>
              <a:off x="1994602" y="1987196"/>
              <a:ext cx="9297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b="1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1960s–1970s</a:t>
              </a:r>
              <a:endParaRPr sz="900" b="1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" name="Google Shape;140;p19"/>
            <p:cNvSpPr txBox="1"/>
            <p:nvPr/>
          </p:nvSpPr>
          <p:spPr>
            <a:xfrm>
              <a:off x="1681725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1-tier architecture: UI + DB Mainframe era.</a:t>
              </a:r>
              <a:endParaRPr sz="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 rot="-1789476">
              <a:off x="2410765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701C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9"/>
            <p:cNvSpPr/>
            <p:nvPr/>
          </p:nvSpPr>
          <p:spPr>
            <a:xfrm rot="10800000">
              <a:off x="2372600" y="1919036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ACC86AA4-215C-C480-220D-599A6E90A316}"/>
              </a:ext>
            </a:extLst>
          </p:cNvPr>
          <p:cNvCxnSpPr>
            <a:cxnSpLocks/>
          </p:cNvCxnSpPr>
          <p:nvPr/>
        </p:nvCxnSpPr>
        <p:spPr>
          <a:xfrm flipH="1">
            <a:off x="0" y="844729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15BF38FE-C893-96CC-9125-0656BFC2D0B1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7" name="Google Shape;147;p20"/>
          <p:cNvSpPr txBox="1"/>
          <p:nvPr/>
        </p:nvSpPr>
        <p:spPr>
          <a:xfrm>
            <a:off x="238755" y="121234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Kigelia Light" panose="020B0502040204020203" pitchFamily="34" charset="0"/>
                <a:cs typeface="Poppins"/>
                <a:sym typeface="Poppins"/>
              </a:rPr>
              <a:t>Why Do Software Systems Exist?</a:t>
            </a:r>
            <a:endParaRPr sz="2700" b="0" i="0" u="none" strike="noStrike" cap="none" dirty="0">
              <a:solidFill>
                <a:schemeClr val="bg1"/>
              </a:solidFill>
              <a:latin typeface="Poppins"/>
              <a:ea typeface="Kigelia Light" panose="020B0502040204020203" pitchFamily="34" charset="0"/>
              <a:cs typeface="Poppins"/>
              <a:sym typeface="Poppins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260275" y="435450"/>
            <a:ext cx="557664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Software systems are strategic tools to manage complexity</a:t>
            </a:r>
            <a:endParaRPr sz="12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2461657" y="4683640"/>
            <a:ext cx="5056695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Software systems are the business strategy — not just the IT implementation.</a:t>
            </a:r>
            <a:endParaRPr sz="1100" dirty="0"/>
          </a:p>
        </p:txBody>
      </p:sp>
      <p:sp>
        <p:nvSpPr>
          <p:cNvPr id="150" name="Google Shape;150;p20"/>
          <p:cNvSpPr/>
          <p:nvPr/>
        </p:nvSpPr>
        <p:spPr>
          <a:xfrm>
            <a:off x="2774280" y="1234863"/>
            <a:ext cx="2540100" cy="2540100"/>
          </a:xfrm>
          <a:prstGeom prst="donut">
            <a:avLst>
              <a:gd name="adj" fmla="val 16067"/>
            </a:avLst>
          </a:prstGeom>
          <a:solidFill>
            <a:srgbClr val="000000">
              <a:alpha val="1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" name="Google Shape;151;p20"/>
          <p:cNvGrpSpPr/>
          <p:nvPr/>
        </p:nvGrpSpPr>
        <p:grpSpPr>
          <a:xfrm>
            <a:off x="1376998" y="1065157"/>
            <a:ext cx="1882407" cy="669600"/>
            <a:chOff x="1900218" y="996036"/>
            <a:chExt cx="1882407" cy="669600"/>
          </a:xfrm>
        </p:grpSpPr>
        <p:cxnSp>
          <p:nvCxnSpPr>
            <p:cNvPr id="152" name="Google Shape;152;p20"/>
            <p:cNvCxnSpPr/>
            <p:nvPr/>
          </p:nvCxnSpPr>
          <p:spPr>
            <a:xfrm>
              <a:off x="3438525" y="1309350"/>
              <a:ext cx="344100" cy="344100"/>
            </a:xfrm>
            <a:prstGeom prst="straightConnector1">
              <a:avLst/>
            </a:prstGeom>
            <a:noFill/>
            <a:ln w="19050" cap="flat" cmpd="sng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53" name="Google Shape;153;p20"/>
            <p:cNvSpPr txBox="1"/>
            <p:nvPr/>
          </p:nvSpPr>
          <p:spPr>
            <a:xfrm>
              <a:off x="1900218" y="996036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Roboto"/>
                  <a:ea typeface="Roboto"/>
                  <a:cs typeface="Roboto"/>
                  <a:sym typeface="Roboto"/>
                </a:rPr>
                <a:t>4 Software Design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latin typeface="Roboto"/>
                  <a:ea typeface="Roboto"/>
                  <a:cs typeface="Roboto"/>
                  <a:sym typeface="Roboto"/>
                </a:rPr>
                <a:t>Dive into classes, objects, and their responsibilities.</a:t>
              </a:r>
              <a:endParaRPr sz="8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4" name="Google Shape;154;p20"/>
          <p:cNvGrpSpPr/>
          <p:nvPr/>
        </p:nvGrpSpPr>
        <p:grpSpPr>
          <a:xfrm>
            <a:off x="1377006" y="3221424"/>
            <a:ext cx="1881224" cy="1367100"/>
            <a:chOff x="1900226" y="3152303"/>
            <a:chExt cx="1881224" cy="1367100"/>
          </a:xfrm>
        </p:grpSpPr>
        <p:cxnSp>
          <p:nvCxnSpPr>
            <p:cNvPr id="155" name="Google Shape;155;p20"/>
            <p:cNvCxnSpPr/>
            <p:nvPr/>
          </p:nvCxnSpPr>
          <p:spPr>
            <a:xfrm rot="10800000" flipH="1">
              <a:off x="3436150" y="3214625"/>
              <a:ext cx="345300" cy="342900"/>
            </a:xfrm>
            <a:prstGeom prst="straightConnector1">
              <a:avLst/>
            </a:prstGeom>
            <a:noFill/>
            <a:ln w="19050" cap="flat" cmpd="sng">
              <a:solidFill>
                <a:srgbClr val="79A8DD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56" name="Google Shape;156;p20"/>
            <p:cNvSpPr txBox="1"/>
            <p:nvPr/>
          </p:nvSpPr>
          <p:spPr>
            <a:xfrm>
              <a:off x="1900226" y="3152303"/>
              <a:ext cx="1604100" cy="136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dirty="0">
                  <a:latin typeface="Roboto"/>
                  <a:ea typeface="Roboto"/>
                  <a:cs typeface="Roboto"/>
                  <a:sym typeface="Roboto"/>
                </a:rPr>
                <a:t>3 Software Architecture</a:t>
              </a:r>
              <a:endParaRPr sz="8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b="1" dirty="0">
                  <a:latin typeface="Roboto"/>
                  <a:ea typeface="Roboto"/>
                  <a:cs typeface="Roboto"/>
                  <a:sym typeface="Roboto"/>
                </a:rPr>
                <a:t>Choose structural patterns (layers, services, etc.)</a:t>
              </a:r>
              <a:endParaRPr sz="800" b="1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800" b="1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b="1" dirty="0">
                  <a:latin typeface="Roboto"/>
                  <a:ea typeface="Roboto"/>
                  <a:cs typeface="Roboto"/>
                  <a:sym typeface="Roboto"/>
                </a:rPr>
                <a:t>Define boundaries and interactions between components.</a:t>
              </a:r>
              <a:endParaRPr sz="800" b="1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7" name="Google Shape;157;p20"/>
          <p:cNvSpPr/>
          <p:nvPr/>
        </p:nvSpPr>
        <p:spPr>
          <a:xfrm rot="-1800047" flipH="1">
            <a:off x="2698736" y="1155555"/>
            <a:ext cx="2690936" cy="2690936"/>
          </a:xfrm>
          <a:prstGeom prst="blockArc">
            <a:avLst>
              <a:gd name="adj1" fmla="val 14348563"/>
              <a:gd name="adj2" fmla="val 19872341"/>
              <a:gd name="adj3" fmla="val 910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8" name="Google Shape;158;p20"/>
          <p:cNvGrpSpPr/>
          <p:nvPr/>
        </p:nvGrpSpPr>
        <p:grpSpPr>
          <a:xfrm>
            <a:off x="4822530" y="3221422"/>
            <a:ext cx="2936524" cy="849900"/>
            <a:chOff x="5343425" y="3152301"/>
            <a:chExt cx="2936524" cy="849900"/>
          </a:xfrm>
        </p:grpSpPr>
        <p:cxnSp>
          <p:nvCxnSpPr>
            <p:cNvPr id="159" name="Google Shape;159;p20"/>
            <p:cNvCxnSpPr/>
            <p:nvPr/>
          </p:nvCxnSpPr>
          <p:spPr>
            <a:xfrm rot="10800000">
              <a:off x="5343425" y="3214625"/>
              <a:ext cx="354900" cy="3501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60" name="Google Shape;160;p20"/>
            <p:cNvSpPr txBox="1"/>
            <p:nvPr/>
          </p:nvSpPr>
          <p:spPr>
            <a:xfrm>
              <a:off x="5718549" y="3152301"/>
              <a:ext cx="2561400" cy="84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dirty="0">
                  <a:latin typeface="Roboto"/>
                  <a:ea typeface="Roboto"/>
                  <a:cs typeface="Roboto"/>
                  <a:sym typeface="Roboto"/>
                </a:rPr>
                <a:t>2 Software System Planning</a:t>
              </a:r>
              <a:endParaRPr sz="8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8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dirty="0">
                  <a:latin typeface="Roboto"/>
                  <a:ea typeface="Roboto"/>
                  <a:cs typeface="Roboto"/>
                  <a:sym typeface="Roboto"/>
                </a:rPr>
                <a:t>Model the system: what parts will it have? What responsibilities?</a:t>
              </a:r>
              <a:endParaRPr sz="800" b="1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1" name="Google Shape;161;p20"/>
          <p:cNvGrpSpPr/>
          <p:nvPr/>
        </p:nvGrpSpPr>
        <p:grpSpPr>
          <a:xfrm>
            <a:off x="4821555" y="1065146"/>
            <a:ext cx="2817875" cy="899100"/>
            <a:chOff x="5344775" y="996025"/>
            <a:chExt cx="2817875" cy="899100"/>
          </a:xfrm>
        </p:grpSpPr>
        <p:cxnSp>
          <p:nvCxnSpPr>
            <p:cNvPr id="162" name="Google Shape;162;p20"/>
            <p:cNvCxnSpPr/>
            <p:nvPr/>
          </p:nvCxnSpPr>
          <p:spPr>
            <a:xfrm flipH="1">
              <a:off x="5344775" y="1314450"/>
              <a:ext cx="336900" cy="339000"/>
            </a:xfrm>
            <a:prstGeom prst="straightConnector1">
              <a:avLst/>
            </a:prstGeom>
            <a:noFill/>
            <a:ln w="19050" cap="flat" cmpd="sng">
              <a:solidFill>
                <a:srgbClr val="19426B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63" name="Google Shape;163;p20"/>
            <p:cNvSpPr txBox="1"/>
            <p:nvPr/>
          </p:nvSpPr>
          <p:spPr>
            <a:xfrm>
              <a:off x="5718550" y="996025"/>
              <a:ext cx="2444100" cy="89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00" dirty="0">
                  <a:latin typeface="Roboto"/>
                  <a:ea typeface="Roboto"/>
                  <a:cs typeface="Roboto"/>
                  <a:sym typeface="Roboto"/>
                </a:rPr>
                <a:t>1 Complexity Mapping</a:t>
              </a:r>
              <a:r>
                <a:rPr lang="en" sz="600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6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800" b="1" dirty="0">
                  <a:latin typeface="Roboto"/>
                  <a:ea typeface="Roboto"/>
                  <a:cs typeface="Roboto"/>
                  <a:sym typeface="Roboto"/>
                </a:rPr>
                <a:t>Understand the domain, stakeholders, inputs, and outcomes.</a:t>
              </a:r>
              <a:endParaRPr sz="800" b="1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4" name="Google Shape;164;p20"/>
          <p:cNvSpPr txBox="1"/>
          <p:nvPr/>
        </p:nvSpPr>
        <p:spPr>
          <a:xfrm>
            <a:off x="3322564" y="2125581"/>
            <a:ext cx="14436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Software Engineering</a:t>
            </a:r>
            <a:endParaRPr sz="1200"/>
          </a:p>
        </p:txBody>
      </p:sp>
      <p:sp>
        <p:nvSpPr>
          <p:cNvPr id="165" name="Google Shape;165;p20"/>
          <p:cNvSpPr/>
          <p:nvPr/>
        </p:nvSpPr>
        <p:spPr>
          <a:xfrm rot="1800047">
            <a:off x="2696623" y="1155555"/>
            <a:ext cx="2690936" cy="2690936"/>
          </a:xfrm>
          <a:prstGeom prst="blockArc">
            <a:avLst>
              <a:gd name="adj1" fmla="val 14545937"/>
              <a:gd name="adj2" fmla="val 19902139"/>
              <a:gd name="adj3" fmla="val 9115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0"/>
          <p:cNvSpPr/>
          <p:nvPr/>
        </p:nvSpPr>
        <p:spPr>
          <a:xfrm rot="9000757">
            <a:off x="2690744" y="1155141"/>
            <a:ext cx="2690226" cy="2690226"/>
          </a:xfrm>
          <a:prstGeom prst="blockArc">
            <a:avLst>
              <a:gd name="adj1" fmla="val 18041678"/>
              <a:gd name="adj2" fmla="val 1798478"/>
              <a:gd name="adj3" fmla="val 9595"/>
            </a:avLst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71438" dist="9525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0"/>
          <p:cNvSpPr/>
          <p:nvPr/>
        </p:nvSpPr>
        <p:spPr>
          <a:xfrm rot="-9000757" flipH="1">
            <a:off x="2698414" y="1155891"/>
            <a:ext cx="2690226" cy="2690226"/>
          </a:xfrm>
          <a:prstGeom prst="blockArc">
            <a:avLst>
              <a:gd name="adj1" fmla="val 17967225"/>
              <a:gd name="adj2" fmla="val 1529547"/>
              <a:gd name="adj3" fmla="val 9279"/>
            </a:avLst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0"/>
          <p:cNvSpPr/>
          <p:nvPr/>
        </p:nvSpPr>
        <p:spPr>
          <a:xfrm rot="8100000">
            <a:off x="2642899" y="2326571"/>
            <a:ext cx="363170" cy="363170"/>
          </a:xfrm>
          <a:prstGeom prst="rtTriangl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0"/>
          <p:cNvSpPr/>
          <p:nvPr/>
        </p:nvSpPr>
        <p:spPr>
          <a:xfrm rot="-2700000">
            <a:off x="5075408" y="2319409"/>
            <a:ext cx="363170" cy="363170"/>
          </a:xfrm>
          <a:prstGeom prst="rtTriangle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0"/>
          <p:cNvSpPr/>
          <p:nvPr/>
        </p:nvSpPr>
        <p:spPr>
          <a:xfrm rot="2700000">
            <a:off x="3858803" y="3532182"/>
            <a:ext cx="363170" cy="363170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0"/>
          <p:cNvSpPr/>
          <p:nvPr/>
        </p:nvSpPr>
        <p:spPr>
          <a:xfrm rot="-8100000">
            <a:off x="3859495" y="1096514"/>
            <a:ext cx="363170" cy="363170"/>
          </a:xfrm>
          <a:prstGeom prst="rtTriangl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AD7579C1-7A67-AD5E-60ED-3A48A906444C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E3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EA1F9D6-FEB2-3DC5-DC17-FF9DF7370B23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7" name="Google Shape;177;p21"/>
          <p:cNvSpPr/>
          <p:nvPr/>
        </p:nvSpPr>
        <p:spPr>
          <a:xfrm>
            <a:off x="5417133" y="1279982"/>
            <a:ext cx="2606700" cy="3181800"/>
          </a:xfrm>
          <a:prstGeom prst="rect">
            <a:avLst/>
          </a:prstGeom>
          <a:gradFill>
            <a:gsLst>
              <a:gs pos="0">
                <a:srgbClr val="4265C0"/>
              </a:gs>
              <a:gs pos="30000">
                <a:srgbClr val="4265C0"/>
              </a:gs>
              <a:gs pos="64000">
                <a:srgbClr val="308DD3"/>
              </a:gs>
              <a:gs pos="100000">
                <a:srgbClr val="308DD3"/>
              </a:gs>
            </a:gsLst>
            <a:lin ang="5400012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272400" y="105205"/>
            <a:ext cx="4299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r>
              <a:rPr lang="en" sz="2100" b="1" i="0" u="none" strike="noStrike" dirty="0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1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Engineering</a:t>
            </a:r>
            <a:endParaRPr sz="3000" b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272400" y="460460"/>
            <a:ext cx="1981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Definitions</a:t>
            </a:r>
            <a:r>
              <a:rPr lang="en" i="0" u="none" strike="noStrik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503169" y="2283562"/>
            <a:ext cx="4569299" cy="99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0" u="none" strike="noStrik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“Software engineering is the application of an empirical, scientific approach to finding efficient, economical solutions to practical problems in software.”</a:t>
            </a:r>
            <a:endParaRPr sz="1500" dirty="0">
              <a:solidFill>
                <a:schemeClr val="bg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9654" y="1358657"/>
            <a:ext cx="2416525" cy="3024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0FECA09D-4815-8418-A337-471BB2D4439C}"/>
              </a:ext>
            </a:extLst>
          </p:cNvPr>
          <p:cNvCxnSpPr>
            <a:cxnSpLocks/>
          </p:cNvCxnSpPr>
          <p:nvPr/>
        </p:nvCxnSpPr>
        <p:spPr>
          <a:xfrm flipH="1">
            <a:off x="0" y="844729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E3A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F41304B-21F9-EC72-F1DC-31FFEAE95290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F95014B5-94CA-FE24-61E6-A282CD2595BE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9" name="Google Shape;189;p22"/>
          <p:cNvSpPr/>
          <p:nvPr/>
        </p:nvSpPr>
        <p:spPr>
          <a:xfrm>
            <a:off x="5717823" y="1376627"/>
            <a:ext cx="2416099" cy="3181800"/>
          </a:xfrm>
          <a:prstGeom prst="rect">
            <a:avLst/>
          </a:prstGeom>
          <a:gradFill>
            <a:gsLst>
              <a:gs pos="0">
                <a:srgbClr val="4265C0"/>
              </a:gs>
              <a:gs pos="30000">
                <a:srgbClr val="4265C0"/>
              </a:gs>
              <a:gs pos="64000">
                <a:srgbClr val="308DD3"/>
              </a:gs>
              <a:gs pos="100000">
                <a:srgbClr val="308DD3"/>
              </a:gs>
            </a:gsLst>
            <a:lin ang="5400012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274134" y="122324"/>
            <a:ext cx="4299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What Is a Software System?</a:t>
            </a:r>
            <a:endParaRPr sz="3000" b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266700" y="467886"/>
            <a:ext cx="5551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A strategic solution to organize and automate complexity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652048" y="1782404"/>
            <a:ext cx="4516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“System design is the process of </a:t>
            </a:r>
            <a:r>
              <a:rPr lang="en" b="1" dirty="0">
                <a:solidFill>
                  <a:schemeClr val="bg1"/>
                </a:solidFill>
              </a:rPr>
              <a:t>defining the architecture</a:t>
            </a:r>
            <a:r>
              <a:rPr lang="en" dirty="0">
                <a:solidFill>
                  <a:schemeClr val="bg1"/>
                </a:solidFill>
              </a:rPr>
              <a:t>, components, modules, interfaces, and data for a system to satisfy specified requirements”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95" name="Google Shape;19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200" y="1455302"/>
            <a:ext cx="2193074" cy="300444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652048" y="2495429"/>
            <a:ext cx="4120800" cy="1637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“The process of defining the </a:t>
            </a:r>
            <a:r>
              <a:rPr lang="en" b="1" dirty="0">
                <a:solidFill>
                  <a:schemeClr val="bg1"/>
                </a:solidFill>
              </a:rPr>
              <a:t>architecture, components</a:t>
            </a:r>
            <a:r>
              <a:rPr lang="en" dirty="0">
                <a:solidFill>
                  <a:schemeClr val="bg1"/>
                </a:solidFill>
              </a:rPr>
              <a:t>, interfaces, and behavior of a system to satisfy specified requirements.”</a:t>
            </a:r>
            <a:endParaRPr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ISO/IEC/IEEE 42010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445BD1A-7255-2C0C-2603-83358DBC7EDA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A9D7DA23-A56F-982F-9875-1581FBB50456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1" name="Google Shape;201;p23"/>
          <p:cNvSpPr txBox="1"/>
          <p:nvPr/>
        </p:nvSpPr>
        <p:spPr>
          <a:xfrm>
            <a:off x="258434" y="129257"/>
            <a:ext cx="6063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What is </a:t>
            </a:r>
            <a:r>
              <a:rPr lang="en" sz="180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Software Architecture?</a:t>
            </a:r>
            <a:endParaRPr sz="1800" b="1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2" name="Google Shape;20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0788" y="1188351"/>
            <a:ext cx="1130051" cy="141327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9"/>
              </a:srgbClr>
            </a:outerShdw>
          </a:effectLst>
        </p:spPr>
      </p:pic>
      <p:pic>
        <p:nvPicPr>
          <p:cNvPr id="203" name="Google Shape;203;p23"/>
          <p:cNvPicPr preferRelativeResize="0"/>
          <p:nvPr/>
        </p:nvPicPr>
        <p:blipFill rotWithShape="1">
          <a:blip r:embed="rId4">
            <a:alphaModFix/>
          </a:blip>
          <a:srcRect t="258" b="258"/>
          <a:stretch/>
        </p:blipFill>
        <p:spPr>
          <a:xfrm>
            <a:off x="3170968" y="1196515"/>
            <a:ext cx="1084736" cy="141327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9"/>
              </a:srgbClr>
            </a:outerShdw>
          </a:effectLst>
        </p:spPr>
      </p:pic>
      <p:pic>
        <p:nvPicPr>
          <p:cNvPr id="204" name="Google Shape;204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09935" y="1172318"/>
            <a:ext cx="1084736" cy="141015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9"/>
              </a:srgbClr>
            </a:outerShdw>
          </a:effectLst>
        </p:spPr>
      </p:pic>
      <p:pic>
        <p:nvPicPr>
          <p:cNvPr id="205" name="Google Shape;205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37864" y="1181352"/>
            <a:ext cx="1121730" cy="1381443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9"/>
              </a:srgbClr>
            </a:outerShdw>
          </a:effectLst>
        </p:spPr>
      </p:pic>
      <p:pic>
        <p:nvPicPr>
          <p:cNvPr id="206" name="Google Shape;206;p2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60136" y="3035787"/>
            <a:ext cx="1111982" cy="145637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9"/>
              </a:srgbClr>
            </a:outerShdw>
          </a:effectLst>
        </p:spPr>
      </p:pic>
      <p:pic>
        <p:nvPicPr>
          <p:cNvPr id="207" name="Google Shape;207;p2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03391" y="3012913"/>
            <a:ext cx="1111981" cy="145637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9"/>
              </a:srgbClr>
            </a:outerShdw>
          </a:effectLst>
        </p:spPr>
      </p:pic>
      <p:pic>
        <p:nvPicPr>
          <p:cNvPr id="208" name="Google Shape;208;p2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50869" y="3009607"/>
            <a:ext cx="1111981" cy="145968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9"/>
              </a:srgbClr>
            </a:outerShdw>
          </a:effectLst>
        </p:spPr>
      </p:pic>
      <p:sp>
        <p:nvSpPr>
          <p:cNvPr id="209" name="Google Shape;209;p23"/>
          <p:cNvSpPr/>
          <p:nvPr/>
        </p:nvSpPr>
        <p:spPr>
          <a:xfrm>
            <a:off x="249750" y="454986"/>
            <a:ext cx="485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The strategic part of Software Development</a:t>
            </a:r>
            <a:endParaRPr sz="1400" i="0" u="none" strike="noStrike" cap="none"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CD06022-43D8-A38D-DFEE-7CA4E626C5CE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8E54D24A-B727-458C-C4C0-B6E158088A67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4" name="Google Shape;214;p24"/>
          <p:cNvSpPr txBox="1"/>
          <p:nvPr/>
        </p:nvSpPr>
        <p:spPr>
          <a:xfrm>
            <a:off x="259373" y="146965"/>
            <a:ext cx="6063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Philosophy on Software Architecture</a:t>
            </a:r>
            <a:endParaRPr sz="1800" b="1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510058" y="1711760"/>
            <a:ext cx="4577315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Software architecture</a:t>
            </a:r>
            <a:r>
              <a:rPr lang="en" dirty="0">
                <a:latin typeface="Poppins"/>
                <a:ea typeface="Poppins"/>
                <a:cs typeface="Poppins"/>
                <a:sym typeface="Poppins"/>
              </a:rPr>
              <a:t> defines a system’s components, interactions, and principles. It balances </a:t>
            </a: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technology</a:t>
            </a:r>
            <a:r>
              <a:rPr lang="en" dirty="0"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people</a:t>
            </a:r>
            <a:r>
              <a:rPr lang="en" dirty="0">
                <a:latin typeface="Poppins"/>
                <a:ea typeface="Poppins"/>
                <a:cs typeface="Poppins"/>
                <a:sym typeface="Poppins"/>
              </a:rPr>
              <a:t>—</a:t>
            </a: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strategically</a:t>
            </a:r>
            <a:r>
              <a:rPr lang="en" dirty="0">
                <a:latin typeface="Poppins"/>
                <a:ea typeface="Poppins"/>
                <a:cs typeface="Poppins"/>
                <a:sym typeface="Poppins"/>
              </a:rPr>
              <a:t> guiding collaboration, scalability, adaptability, and </a:t>
            </a: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efficiency</a:t>
            </a:r>
            <a:r>
              <a:rPr lang="en" dirty="0">
                <a:latin typeface="Poppins"/>
                <a:ea typeface="Poppins"/>
                <a:cs typeface="Poppins"/>
                <a:sym typeface="Poppins"/>
              </a:rPr>
              <a:t> to foster innovation and maintainability with </a:t>
            </a: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simplicity</a:t>
            </a:r>
            <a:r>
              <a:rPr lang="en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228550" y="448575"/>
            <a:ext cx="4566474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Technology, People, and Simplicity</a:t>
            </a:r>
            <a:endParaRPr sz="1400" i="0" u="none" strike="noStrike" cap="none"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7" name="Google Shape;21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1160" y="1154430"/>
            <a:ext cx="3391382" cy="3391382"/>
          </a:xfrm>
          <a:prstGeom prst="roundRect">
            <a:avLst>
              <a:gd name="adj" fmla="val 6248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6207581-72A4-2AEF-6935-CA2463E39DAD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62F94FE3-8CA8-16AC-C110-052AC27EF370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2" name="Google Shape;222;p25"/>
          <p:cNvSpPr txBox="1"/>
          <p:nvPr/>
        </p:nvSpPr>
        <p:spPr>
          <a:xfrm>
            <a:off x="239730" y="144040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People</a:t>
            </a:r>
            <a:endParaRPr sz="27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260275" y="480054"/>
            <a:ext cx="4492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Software with people through people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576330" y="2120832"/>
            <a:ext cx="42462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Bias: </a:t>
            </a: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Complexity, Choice paradox and Broken windows theory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Culture: </a:t>
            </a: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Quality and avoid complexity.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Structure: </a:t>
            </a: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 Conway's law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600" b="1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5" name="Google Shape;22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2585" y="1214087"/>
            <a:ext cx="3383390" cy="3383390"/>
          </a:xfrm>
          <a:prstGeom prst="roundRect">
            <a:avLst>
              <a:gd name="adj" fmla="val 4213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3D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/>
        </p:nvSpPr>
        <p:spPr>
          <a:xfrm>
            <a:off x="460479" y="676065"/>
            <a:ext cx="6063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Why do we need architecture?</a:t>
            </a:r>
            <a:endParaRPr sz="1800" b="1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429656" y="945401"/>
            <a:ext cx="36271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Technology, People, and Simplicity</a:t>
            </a:r>
            <a:endParaRPr sz="1400" i="0" u="none" strike="noStrike" cap="none"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p26"/>
          <p:cNvPicPr preferRelativeResize="0"/>
          <p:nvPr/>
        </p:nvPicPr>
        <p:blipFill rotWithShape="1">
          <a:blip r:embed="rId3">
            <a:alphaModFix/>
          </a:blip>
          <a:srcRect l="18131" r="18137"/>
          <a:stretch/>
        </p:blipFill>
        <p:spPr>
          <a:xfrm>
            <a:off x="5557550" y="0"/>
            <a:ext cx="490038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6"/>
          <p:cNvSpPr txBox="1"/>
          <p:nvPr/>
        </p:nvSpPr>
        <p:spPr>
          <a:xfrm>
            <a:off x="919773" y="1830290"/>
            <a:ext cx="2744700" cy="2331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A single point of failure</a:t>
            </a:r>
            <a:endParaRPr sz="11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</a:br>
            <a:r>
              <a:rPr lang="en" i="0" u="none" strike="noStrike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Culture</a:t>
            </a:r>
            <a:endParaRPr dirty="0">
              <a:solidFill>
                <a:schemeClr val="bg1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</a:br>
            <a:r>
              <a:rPr lang="en" i="0" u="none" strike="noStrike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Methodology</a:t>
            </a:r>
            <a:endParaRPr dirty="0">
              <a:solidFill>
                <a:schemeClr val="bg1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</a:br>
            <a:r>
              <a:rPr lang="en" i="0" u="none" strike="noStrike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Technology</a:t>
            </a:r>
            <a:endParaRPr dirty="0">
              <a:solidFill>
                <a:schemeClr val="bg1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grpSp>
        <p:nvGrpSpPr>
          <p:cNvPr id="234" name="Google Shape;234;p26"/>
          <p:cNvGrpSpPr/>
          <p:nvPr/>
        </p:nvGrpSpPr>
        <p:grpSpPr>
          <a:xfrm>
            <a:off x="460479" y="1906380"/>
            <a:ext cx="406125" cy="406125"/>
            <a:chOff x="1245087" y="3204418"/>
            <a:chExt cx="541500" cy="541500"/>
          </a:xfrm>
        </p:grpSpPr>
        <p:sp>
          <p:nvSpPr>
            <p:cNvPr id="235" name="Google Shape;235;p26"/>
            <p:cNvSpPr/>
            <p:nvPr/>
          </p:nvSpPr>
          <p:spPr>
            <a:xfrm>
              <a:off x="1245087" y="3204418"/>
              <a:ext cx="541500" cy="541500"/>
            </a:xfrm>
            <a:prstGeom prst="ellipse">
              <a:avLst/>
            </a:prstGeom>
            <a:gradFill>
              <a:gsLst>
                <a:gs pos="0">
                  <a:srgbClr val="259BE6"/>
                </a:gs>
                <a:gs pos="100000">
                  <a:srgbClr val="4265C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6" name="Google Shape;236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57624" y="3286226"/>
              <a:ext cx="336224" cy="336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7" name="Google Shape;237;p26"/>
          <p:cNvGrpSpPr/>
          <p:nvPr/>
        </p:nvGrpSpPr>
        <p:grpSpPr>
          <a:xfrm>
            <a:off x="460479" y="2484889"/>
            <a:ext cx="406125" cy="406125"/>
            <a:chOff x="1245087" y="3204418"/>
            <a:chExt cx="541500" cy="541500"/>
          </a:xfrm>
        </p:grpSpPr>
        <p:sp>
          <p:nvSpPr>
            <p:cNvPr id="238" name="Google Shape;238;p26"/>
            <p:cNvSpPr/>
            <p:nvPr/>
          </p:nvSpPr>
          <p:spPr>
            <a:xfrm>
              <a:off x="1245087" y="3204418"/>
              <a:ext cx="541500" cy="541500"/>
            </a:xfrm>
            <a:prstGeom prst="ellipse">
              <a:avLst/>
            </a:prstGeom>
            <a:gradFill>
              <a:gsLst>
                <a:gs pos="0">
                  <a:srgbClr val="259BE6"/>
                </a:gs>
                <a:gs pos="100000">
                  <a:srgbClr val="4265C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9" name="Google Shape;239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57624" y="3286226"/>
              <a:ext cx="336224" cy="336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0" name="Google Shape;240;p26"/>
          <p:cNvGrpSpPr/>
          <p:nvPr/>
        </p:nvGrpSpPr>
        <p:grpSpPr>
          <a:xfrm>
            <a:off x="467907" y="3108686"/>
            <a:ext cx="406125" cy="406125"/>
            <a:chOff x="1245087" y="3204418"/>
            <a:chExt cx="541500" cy="541500"/>
          </a:xfrm>
        </p:grpSpPr>
        <p:sp>
          <p:nvSpPr>
            <p:cNvPr id="241" name="Google Shape;241;p26"/>
            <p:cNvSpPr/>
            <p:nvPr/>
          </p:nvSpPr>
          <p:spPr>
            <a:xfrm>
              <a:off x="1245087" y="3204418"/>
              <a:ext cx="541500" cy="541500"/>
            </a:xfrm>
            <a:prstGeom prst="ellipse">
              <a:avLst/>
            </a:prstGeom>
            <a:gradFill>
              <a:gsLst>
                <a:gs pos="0">
                  <a:srgbClr val="259BE6"/>
                </a:gs>
                <a:gs pos="100000">
                  <a:srgbClr val="4265C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2" name="Google Shape;242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57624" y="3286226"/>
              <a:ext cx="336224" cy="336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" name="Google Shape;243;p26"/>
          <p:cNvGrpSpPr/>
          <p:nvPr/>
        </p:nvGrpSpPr>
        <p:grpSpPr>
          <a:xfrm>
            <a:off x="475334" y="3706111"/>
            <a:ext cx="406125" cy="406125"/>
            <a:chOff x="1245087" y="3204418"/>
            <a:chExt cx="541500" cy="541500"/>
          </a:xfrm>
        </p:grpSpPr>
        <p:sp>
          <p:nvSpPr>
            <p:cNvPr id="244" name="Google Shape;244;p26"/>
            <p:cNvSpPr/>
            <p:nvPr/>
          </p:nvSpPr>
          <p:spPr>
            <a:xfrm>
              <a:off x="1245087" y="3204418"/>
              <a:ext cx="541500" cy="541500"/>
            </a:xfrm>
            <a:prstGeom prst="ellipse">
              <a:avLst/>
            </a:prstGeom>
            <a:gradFill>
              <a:gsLst>
                <a:gs pos="0">
                  <a:srgbClr val="259BE6"/>
                </a:gs>
                <a:gs pos="100000">
                  <a:srgbClr val="4265C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5" name="Google Shape;245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57624" y="3286226"/>
              <a:ext cx="336224" cy="3362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445FBD-FF2A-5508-7FDB-8A64A79BBFEB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95DD4D3-4F7E-D780-A520-7DCD06FB6C01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0" name="Google Shape;250;p27"/>
          <p:cNvSpPr txBox="1"/>
          <p:nvPr/>
        </p:nvSpPr>
        <p:spPr>
          <a:xfrm>
            <a:off x="258434" y="173367"/>
            <a:ext cx="6063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What is </a:t>
            </a:r>
            <a:r>
              <a:rPr lang="en" sz="180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Software </a:t>
            </a: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Design</a:t>
            </a:r>
            <a:r>
              <a:rPr lang="en" sz="180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1800" b="1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249750" y="486210"/>
            <a:ext cx="485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The tactic part of Software Development</a:t>
            </a:r>
            <a:endParaRPr sz="1400" i="0" u="none" strike="noStrike" cap="none"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2" name="Google Shape;2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109" y="1660270"/>
            <a:ext cx="1138775" cy="1492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3" name="Google Shape;2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3122" y="1660270"/>
            <a:ext cx="1204231" cy="1492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4" name="Google Shape;25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0484" y="1645758"/>
            <a:ext cx="1160950" cy="152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29959" y="1645771"/>
            <a:ext cx="1277975" cy="15721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56" name="Google Shape;256;p27"/>
          <p:cNvSpPr txBox="1"/>
          <p:nvPr/>
        </p:nvSpPr>
        <p:spPr>
          <a:xfrm>
            <a:off x="957109" y="3607445"/>
            <a:ext cx="59964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“Design is about assigning </a:t>
            </a:r>
            <a:r>
              <a:rPr lang="en" b="1"/>
              <a:t>responsibilities</a:t>
            </a:r>
            <a:r>
              <a:rPr lang="en"/>
              <a:t> to the </a:t>
            </a:r>
            <a:r>
              <a:rPr lang="en" b="1"/>
              <a:t>right classes</a:t>
            </a:r>
            <a:r>
              <a:rPr lang="en"/>
              <a:t>, in the right way, for the </a:t>
            </a:r>
            <a:r>
              <a:rPr lang="en" b="1"/>
              <a:t>right reasons</a:t>
            </a:r>
            <a:r>
              <a:rPr lang="en"/>
              <a:t>.”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01111E2-8E0F-34B3-4557-B469DD3C8175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9215EA6-9D5B-65EF-68E1-9915FB09D4FC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3" name="Google Shape;263;p28"/>
          <p:cNvSpPr txBox="1"/>
          <p:nvPr/>
        </p:nvSpPr>
        <p:spPr>
          <a:xfrm>
            <a:off x="266700" y="172675"/>
            <a:ext cx="34581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Architecture vs Design</a:t>
            </a:r>
            <a:endParaRPr sz="11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p28"/>
          <p:cNvSpPr txBox="1"/>
          <p:nvPr/>
        </p:nvSpPr>
        <p:spPr>
          <a:xfrm>
            <a:off x="266700" y="518875"/>
            <a:ext cx="5370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The boundaries to DDD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5" name="Google Shape;2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7000" y="1404955"/>
            <a:ext cx="2151775" cy="2488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225" y="1788175"/>
            <a:ext cx="6522199" cy="2226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EC41D0F-A8BC-9BDF-3544-2525748BC944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35B02662-8788-EEA5-5366-37C0B7B4CEB0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1" name="Google Shape;271;p29"/>
          <p:cNvSpPr txBox="1"/>
          <p:nvPr/>
        </p:nvSpPr>
        <p:spPr>
          <a:xfrm>
            <a:off x="258434" y="647"/>
            <a:ext cx="60630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Architecture, Design, and System Design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" name="Google Shape;272;p29"/>
          <p:cNvSpPr/>
          <p:nvPr/>
        </p:nvSpPr>
        <p:spPr>
          <a:xfrm>
            <a:off x="249750" y="323650"/>
            <a:ext cx="4973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Three levels of structure, three kinds of complexity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73" name="Google Shape;273;p29"/>
          <p:cNvGraphicFramePr/>
          <p:nvPr>
            <p:extLst>
              <p:ext uri="{D42A27DB-BD31-4B8C-83A1-F6EECF244321}">
                <p14:modId xmlns:p14="http://schemas.microsoft.com/office/powerpoint/2010/main" val="2278515356"/>
              </p:ext>
            </p:extLst>
          </p:nvPr>
        </p:nvGraphicFramePr>
        <p:xfrm>
          <a:off x="444915" y="1182600"/>
          <a:ext cx="8254170" cy="3222209"/>
        </p:xfrm>
        <a:graphic>
          <a:graphicData uri="http://schemas.openxmlformats.org/drawingml/2006/table">
            <a:tbl>
              <a:tblPr>
                <a:noFill/>
                <a:tableStyleId>{9625ED4C-3190-4B7F-93C2-51BAE1772B50}</a:tableStyleId>
              </a:tblPr>
              <a:tblGrid>
                <a:gridCol w="975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2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96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bg1"/>
                          </a:solidFill>
                        </a:rPr>
                        <a:t>Dimension</a:t>
                      </a:r>
                      <a:endParaRPr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bg1"/>
                          </a:solidFill>
                        </a:rPr>
                        <a:t>System Design</a:t>
                      </a:r>
                      <a:endParaRPr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bg1"/>
                          </a:solidFill>
                        </a:rPr>
                        <a:t>Software Architecture</a:t>
                      </a:r>
                      <a:endParaRPr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bg1"/>
                          </a:solidFill>
                        </a:rPr>
                        <a:t>Software Design</a:t>
                      </a:r>
                      <a:endParaRPr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69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Role</a:t>
                      </a:r>
                      <a:endParaRPr sz="1000" b="1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A8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i="1" dirty="0"/>
                        <a:t>Planner</a:t>
                      </a:r>
                      <a:endParaRPr sz="1000" i="1" dirty="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A8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i="1"/>
                        <a:t>Strategist</a:t>
                      </a:r>
                      <a:endParaRPr sz="1000" i="1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A8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i="1" dirty="0"/>
                        <a:t>Tactician</a:t>
                      </a:r>
                      <a:endParaRPr sz="1000" i="1" dirty="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A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3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Focus</a:t>
                      </a:r>
                      <a:endParaRPr sz="1000" b="1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A8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Business goals, scale, constraints</a:t>
                      </a:r>
                      <a:endParaRPr sz="1300" dirty="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Structure, components, boundaries</a:t>
                      </a:r>
                      <a:endParaRPr sz="130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Implementation, logic, patterns</a:t>
                      </a:r>
                      <a:endParaRPr sz="1300" dirty="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Scope</a:t>
                      </a:r>
                      <a:endParaRPr sz="1000" b="1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A8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Entire ecosystem / product</a:t>
                      </a:r>
                      <a:endParaRPr sz="1300" dirty="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One system or service</a:t>
                      </a:r>
                      <a:endParaRPr sz="130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One module or feature</a:t>
                      </a:r>
                      <a:endParaRPr sz="130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3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Main Questions</a:t>
                      </a:r>
                      <a:endParaRPr sz="1000" b="1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A8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What should the system do? At what scale?</a:t>
                      </a:r>
                      <a:endParaRPr sz="130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What are the major parts and how do they talk?</a:t>
                      </a:r>
                      <a:endParaRPr sz="1300" dirty="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How should each part work internally?</a:t>
                      </a:r>
                      <a:endParaRPr sz="130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3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Stakeholders</a:t>
                      </a:r>
                      <a:endParaRPr sz="1000" b="1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A8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CTO, architects, product, SREs</a:t>
                      </a:r>
                      <a:endParaRPr sz="130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Architects, leads, developers</a:t>
                      </a:r>
                      <a:endParaRPr sz="1300" dirty="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Developers, tech leads</a:t>
                      </a:r>
                      <a:endParaRPr sz="1300" dirty="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2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/>
                        <a:t>Nature</a:t>
                      </a:r>
                      <a:endParaRPr sz="1000" b="1" dirty="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A8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Planning / Problem framing</a:t>
                      </a:r>
                      <a:endParaRPr sz="1300" dirty="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Strategic structuring</a:t>
                      </a:r>
                      <a:endParaRPr sz="130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Tactical implementation</a:t>
                      </a:r>
                      <a:endParaRPr sz="1300" dirty="0"/>
                    </a:p>
                  </a:txBody>
                  <a:tcPr marL="87045" marR="87045" marT="87045" marB="8704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4277A41B-EA44-7EA5-9844-13272249D35D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8" name="Google Shape;278;p30"/>
          <p:cNvSpPr txBox="1"/>
          <p:nvPr/>
        </p:nvSpPr>
        <p:spPr>
          <a:xfrm>
            <a:off x="265109" y="-17553"/>
            <a:ext cx="5211883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Architecture, Design, and System Design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" name="Google Shape;279;p30"/>
          <p:cNvSpPr/>
          <p:nvPr/>
        </p:nvSpPr>
        <p:spPr>
          <a:xfrm>
            <a:off x="256425" y="296672"/>
            <a:ext cx="4973400" cy="615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30"/>
          <p:cNvSpPr txBox="1"/>
          <p:nvPr/>
        </p:nvSpPr>
        <p:spPr>
          <a:xfrm>
            <a:off x="256425" y="2429985"/>
            <a:ext cx="473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Design brings those structures to life in working code</a:t>
            </a:r>
            <a:r>
              <a:rPr lang="en" dirty="0">
                <a:solidFill>
                  <a:schemeClr val="bg1"/>
                </a:solidFill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256425" y="1826560"/>
            <a:ext cx="440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System Design frames the problem and constraints.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82" name="Google Shape;282;p30"/>
          <p:cNvSpPr txBox="1"/>
          <p:nvPr/>
        </p:nvSpPr>
        <p:spPr>
          <a:xfrm>
            <a:off x="265109" y="3033410"/>
            <a:ext cx="4331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Architecture structures the system to meet those constraints.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Google Shape;164;p20">
            <a:extLst>
              <a:ext uri="{FF2B5EF4-FFF2-40B4-BE49-F238E27FC236}">
                <a16:creationId xmlns:a16="http://schemas.microsoft.com/office/drawing/2014/main" id="{13634846-C65F-AA45-6FCF-59E47C830B7C}"/>
              </a:ext>
            </a:extLst>
          </p:cNvPr>
          <p:cNvSpPr txBox="1"/>
          <p:nvPr/>
        </p:nvSpPr>
        <p:spPr>
          <a:xfrm>
            <a:off x="5229825" y="2035249"/>
            <a:ext cx="998265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System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Design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31" name="Google Shape;164;p20">
            <a:extLst>
              <a:ext uri="{FF2B5EF4-FFF2-40B4-BE49-F238E27FC236}">
                <a16:creationId xmlns:a16="http://schemas.microsoft.com/office/drawing/2014/main" id="{A9E9EFD6-3ECA-40F2-A387-15072C06801C}"/>
              </a:ext>
            </a:extLst>
          </p:cNvPr>
          <p:cNvSpPr txBox="1"/>
          <p:nvPr/>
        </p:nvSpPr>
        <p:spPr>
          <a:xfrm>
            <a:off x="6009093" y="3474933"/>
            <a:ext cx="14436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Design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32" name="Google Shape;164;p20">
            <a:extLst>
              <a:ext uri="{FF2B5EF4-FFF2-40B4-BE49-F238E27FC236}">
                <a16:creationId xmlns:a16="http://schemas.microsoft.com/office/drawing/2014/main" id="{16062C5D-9591-3A8F-74D8-FBBDAD9CE711}"/>
              </a:ext>
            </a:extLst>
          </p:cNvPr>
          <p:cNvSpPr txBox="1"/>
          <p:nvPr/>
        </p:nvSpPr>
        <p:spPr>
          <a:xfrm>
            <a:off x="7077722" y="2035249"/>
            <a:ext cx="14436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Software </a:t>
            </a:r>
            <a:br>
              <a:rPr lang="en" sz="12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Architecture</a:t>
            </a:r>
            <a:endParaRPr sz="1200" dirty="0">
              <a:solidFill>
                <a:schemeClr val="tx1"/>
              </a:solidFill>
            </a:endParaRPr>
          </a:p>
        </p:txBody>
      </p:sp>
      <p:pic>
        <p:nvPicPr>
          <p:cNvPr id="7" name="Imagem 6" descr="Tela preta com letras brancas&#10;&#10;O conteúdo gerado por IA pode estar incorreto.">
            <a:extLst>
              <a:ext uri="{FF2B5EF4-FFF2-40B4-BE49-F238E27FC236}">
                <a16:creationId xmlns:a16="http://schemas.microsoft.com/office/drawing/2014/main" id="{394172D6-FA6D-C4E0-7B9B-B74E9E04D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893" y="3093271"/>
            <a:ext cx="617448" cy="552738"/>
          </a:xfrm>
          <a:prstGeom prst="rect">
            <a:avLst/>
          </a:prstGeom>
        </p:spPr>
      </p:pic>
      <p:pic>
        <p:nvPicPr>
          <p:cNvPr id="16" name="Imagem 15" descr="Imagem em preto e branco&#10;&#10;O conteúdo gerado por IA pode estar incorreto.">
            <a:extLst>
              <a:ext uri="{FF2B5EF4-FFF2-40B4-BE49-F238E27FC236}">
                <a16:creationId xmlns:a16="http://schemas.microsoft.com/office/drawing/2014/main" id="{E8E09E12-4ED6-93F8-7E98-76121B045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 flipV="1">
            <a:off x="7452694" y="1656348"/>
            <a:ext cx="642298" cy="543991"/>
          </a:xfrm>
          <a:prstGeom prst="rect">
            <a:avLst/>
          </a:prstGeom>
        </p:spPr>
      </p:pic>
      <p:pic>
        <p:nvPicPr>
          <p:cNvPr id="20" name="Imagem 19" descr="Imagem em preto e branco&#10;&#10;O conteúdo gerado por IA pode estar incorreto.">
            <a:extLst>
              <a:ext uri="{FF2B5EF4-FFF2-40B4-BE49-F238E27FC236}">
                <a16:creationId xmlns:a16="http://schemas.microsoft.com/office/drawing/2014/main" id="{6CE93371-C595-6D21-59C8-1CD0E58F90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1118" y="1486413"/>
            <a:ext cx="775677" cy="716010"/>
          </a:xfrm>
          <a:prstGeom prst="rect">
            <a:avLst/>
          </a:prstGeom>
        </p:spPr>
      </p:pic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6E6DC71F-A2C4-FD1B-1A53-8368EE250002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77C32354-4071-C406-A253-0B97F7557F9C}"/>
              </a:ext>
            </a:extLst>
          </p:cNvPr>
          <p:cNvCxnSpPr/>
          <p:nvPr/>
        </p:nvCxnSpPr>
        <p:spPr>
          <a:xfrm>
            <a:off x="6333893" y="2131359"/>
            <a:ext cx="81775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708F037-CC99-E6A5-E040-EF91F6A35BBF}"/>
              </a:ext>
            </a:extLst>
          </p:cNvPr>
          <p:cNvCxnSpPr>
            <a:cxnSpLocks/>
          </p:cNvCxnSpPr>
          <p:nvPr/>
        </p:nvCxnSpPr>
        <p:spPr>
          <a:xfrm flipH="1">
            <a:off x="7188819" y="2876719"/>
            <a:ext cx="647873" cy="5364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883576B-8C6F-4B98-C114-75EC4F428346}"/>
              </a:ext>
            </a:extLst>
          </p:cNvPr>
          <p:cNvCxnSpPr>
            <a:cxnSpLocks/>
          </p:cNvCxnSpPr>
          <p:nvPr/>
        </p:nvCxnSpPr>
        <p:spPr>
          <a:xfrm flipH="1" flipV="1">
            <a:off x="5728958" y="2876719"/>
            <a:ext cx="604935" cy="53009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4BF2EB6E0AA3499D5D22DB6C773100" ma:contentTypeVersion="47" ma:contentTypeDescription="Crie um novo documento." ma:contentTypeScope="" ma:versionID="dffb45610ec274493f1df6af23dbe6ac">
  <xsd:schema xmlns:xsd="http://www.w3.org/2001/XMLSchema" xmlns:xs="http://www.w3.org/2001/XMLSchema" xmlns:p="http://schemas.microsoft.com/office/2006/metadata/properties" xmlns:ns2="2074a592-0284-4838-a99a-676a646e30ba" xmlns:ns3="e20d8d4b-1949-445f-b54d-8717a3d10a21" targetNamespace="http://schemas.microsoft.com/office/2006/metadata/properties" ma:root="true" ma:fieldsID="8dcf4bf69a9820a60792a588e054d98e" ns2:_="" ns3:_="">
    <xsd:import namespace="2074a592-0284-4838-a99a-676a646e30ba"/>
    <xsd:import namespace="e20d8d4b-1949-445f-b54d-8717a3d10a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Status" minOccurs="0"/>
                <xsd:element ref="ns2:Coordena_x00e7__x00e3_o" minOccurs="0"/>
                <xsd:element ref="ns2:Data_Recebimento" minOccurs="0"/>
                <xsd:element ref="ns2:Data_Rev_Coord" minOccurs="0"/>
                <xsd:element ref="ns2:Obs_x002e_" minOccurs="0"/>
                <xsd:element ref="ns2:Nome_Comercial" minOccurs="0"/>
                <xsd:element ref="ns2:Disciplina" minOccurs="0"/>
                <xsd:element ref="ns3:SharedWithUsers" minOccurs="0"/>
                <xsd:element ref="ns3:SharedWithDetails" minOccurs="0"/>
                <xsd:element ref="ns2:Sequencia" minOccurs="0"/>
                <xsd:element ref="ns2:Data_envio_materiais" minOccurs="0"/>
                <xsd:element ref="ns2:Iniciodadisciplina" minOccurs="0"/>
                <xsd:element ref="ns2:Status_Entrega" minOccurs="0"/>
                <xsd:element ref="ns2:Nome_do_professor" minOccurs="0"/>
                <xsd:element ref="ns2:Datadafinaliza_x00e7__x00e3_o" minOccurs="0"/>
                <xsd:element ref="ns2:MediaServiceLocation" minOccurs="0"/>
                <xsd:element ref="ns2:Emailseler" minOccurs="0"/>
                <xsd:element ref="ns2:Analista" minOccurs="0"/>
                <xsd:element ref="ns2:Analista_respons_x00e1_veel" minOccurs="0"/>
                <xsd:element ref="ns2:Titula_x00e7__x00e3_o" minOccurs="0"/>
                <xsd:element ref="ns2:NOME_SELLER" minOccurs="0"/>
                <xsd:element ref="ns2:Analista_Responsav_x00e9_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4a592-0284-4838-a99a-676a646e30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771e4ab9-48e6-401e-8cb3-95486c831b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tatus" ma:index="20" nillable="true" ma:displayName="Status" ma:default="Bruto" ma:format="Dropdown" ma:internalName="Status">
      <xsd:simpleType>
        <xsd:union memberTypes="dms:Text">
          <xsd:simpleType>
            <xsd:restriction base="dms:Choice">
              <xsd:enumeration value="Atrasado"/>
              <xsd:enumeration value="Bruto"/>
              <xsd:enumeration value="Ajuste Infoprod"/>
              <xsd:enumeration value="Recebimento Parcial"/>
              <xsd:enumeration value="Não obrigatório"/>
              <xsd:enumeration value="Desconsiderar"/>
              <xsd:enumeration value="Liberado para disponibilização"/>
              <xsd:enumeration value="Revisão de questão"/>
              <xsd:enumeration value="Embed"/>
              <xsd:enumeration value="Disponibilizado"/>
              <xsd:enumeration value="BQ enviado para cadastro"/>
              <xsd:enumeration value="BQ Cadastrado"/>
              <xsd:enumeration value="Turma concluída"/>
              <xsd:enumeration value="Excluir do Cosmos"/>
              <xsd:enumeration value="Podcast | Em produção"/>
              <xsd:enumeration value="Formulário preenchido - banner"/>
              <xsd:enumeration value="Documentação conferida"/>
              <xsd:enumeration value="Documentação pendente"/>
              <xsd:enumeration value="Documentação"/>
              <xsd:enumeration value="Aguardando validação acadêmica"/>
              <xsd:enumeration value="Titulação divergente"/>
              <xsd:enumeration value="Lançamento suspenso"/>
              <xsd:enumeration value="Descontinuado"/>
              <xsd:enumeration value="Disciplina Cogna"/>
              <xsd:enumeration value="Disponibilizado Cogna"/>
              <xsd:enumeration value="Curso lançado"/>
              <xsd:enumeration value="Lançamento em breve"/>
              <xsd:enumeration value="Reaproveitar conteúdo"/>
              <xsd:enumeration value="NÃO reaproveitar da turma anterior"/>
            </xsd:restriction>
          </xsd:simpleType>
        </xsd:union>
      </xsd:simpleType>
    </xsd:element>
    <xsd:element name="Coordena_x00e7__x00e3_o" ma:index="21" nillable="true" ma:displayName="Coordenação" ma:format="Dropdown" ma:list="UserInfo" ma:SharePointGroup="0" ma:internalName="Coordena_x00e7__x00e3_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a_Recebimento" ma:index="22" nillable="true" ma:displayName="Data_Recebimento_Material" ma:format="DateOnly" ma:internalName="Data_Recebimento">
      <xsd:simpleType>
        <xsd:restriction base="dms:DateTime"/>
      </xsd:simpleType>
    </xsd:element>
    <xsd:element name="Data_Rev_Coord" ma:index="23" nillable="true" ma:displayName="Data_Rev_Coord" ma:format="DateOnly" ma:internalName="Data_Rev_Coord">
      <xsd:simpleType>
        <xsd:restriction base="dms:DateTime"/>
      </xsd:simpleType>
    </xsd:element>
    <xsd:element name="Obs_x002e_" ma:index="24" nillable="true" ma:displayName="Obs." ma:format="Dropdown" ma:internalName="Obs_x002e_">
      <xsd:simpleType>
        <xsd:restriction base="dms:Note">
          <xsd:maxLength value="255"/>
        </xsd:restriction>
      </xsd:simpleType>
    </xsd:element>
    <xsd:element name="Nome_Comercial" ma:index="25" nillable="true" ma:displayName="Nome_Comercial" ma:format="Dropdown" ma:internalName="Nome_Comercial">
      <xsd:simpleType>
        <xsd:restriction base="dms:Note">
          <xsd:maxLength value="255"/>
        </xsd:restriction>
      </xsd:simpleType>
    </xsd:element>
    <xsd:element name="Disciplina" ma:index="26" nillable="true" ma:displayName="Disciplina" ma:format="Dropdown" ma:internalName="Disciplina">
      <xsd:simpleType>
        <xsd:restriction base="dms:Note">
          <xsd:maxLength value="255"/>
        </xsd:restriction>
      </xsd:simpleType>
    </xsd:element>
    <xsd:element name="Sequencia" ma:index="29" nillable="true" ma:displayName="Sequencia" ma:format="Dropdown" ma:internalName="Sequencia" ma:percentage="FALSE">
      <xsd:simpleType>
        <xsd:restriction base="dms:Number"/>
      </xsd:simpleType>
    </xsd:element>
    <xsd:element name="Data_envio_materiais" ma:index="30" nillable="true" ma:displayName="Data_Envio_materiais" ma:format="DateOnly" ma:internalName="Data_envio_materiais">
      <xsd:simpleType>
        <xsd:restriction base="dms:DateTime"/>
      </xsd:simpleType>
    </xsd:element>
    <xsd:element name="Iniciodadisciplina" ma:index="31" nillable="true" ma:displayName="Inicio da disciplina" ma:format="DateOnly" ma:indexed="true" ma:internalName="Iniciodadisciplina">
      <xsd:simpleType>
        <xsd:restriction base="dms:DateTime"/>
      </xsd:simpleType>
    </xsd:element>
    <xsd:element name="Status_Entrega" ma:index="32" nillable="true" ma:displayName="Status_Entrega" ma:format="Dropdown" ma:internalName="Status_Entrega">
      <xsd:simpleType>
        <xsd:restriction base="dms:Choice">
          <xsd:enumeration value="Atrasado"/>
        </xsd:restriction>
      </xsd:simpleType>
    </xsd:element>
    <xsd:element name="Nome_do_professor" ma:index="34" nillable="true" ma:displayName="Nome_do_professor" ma:format="Dropdown" ma:internalName="Nome_do_professor">
      <xsd:simpleType>
        <xsd:restriction base="dms:Text">
          <xsd:maxLength value="255"/>
        </xsd:restriction>
      </xsd:simpleType>
    </xsd:element>
    <xsd:element name="Datadafinaliza_x00e7__x00e3_o" ma:index="35" nillable="true" ma:displayName="Data_finalizacao_disciplina" ma:format="DateOnly" ma:internalName="Datadafinaliza_x00e7__x00e3_o">
      <xsd:simpleType>
        <xsd:restriction base="dms:DateTime"/>
      </xsd:simpleType>
    </xsd:element>
    <xsd:element name="MediaServiceLocation" ma:index="36" nillable="true" ma:displayName="Location" ma:indexed="true" ma:internalName="MediaServiceLocation" ma:readOnly="true">
      <xsd:simpleType>
        <xsd:restriction base="dms:Text"/>
      </xsd:simpleType>
    </xsd:element>
    <xsd:element name="Emailseler" ma:index="37" nillable="true" ma:displayName="Email_seller" ma:format="Dropdown" ma:internalName="Emailseler">
      <xsd:simpleType>
        <xsd:restriction base="dms:Text">
          <xsd:maxLength value="255"/>
        </xsd:restriction>
      </xsd:simpleType>
    </xsd:element>
    <xsd:element name="Analista" ma:index="38" nillable="true" ma:displayName="Analista" ma:format="Dropdown" ma:internalName="Analista">
      <xsd:simpleType>
        <xsd:restriction base="dms:Text">
          <xsd:maxLength value="255"/>
        </xsd:restriction>
      </xsd:simpleType>
    </xsd:element>
    <xsd:element name="Analista_respons_x00e1_veel" ma:index="39" nillable="true" ma:displayName="Email_Analista_responsáveel" ma:format="Dropdown" ma:internalName="Analista_respons_x00e1_veel">
      <xsd:simpleType>
        <xsd:restriction base="dms:Text">
          <xsd:maxLength value="255"/>
        </xsd:restriction>
      </xsd:simpleType>
    </xsd:element>
    <xsd:element name="Titula_x00e7__x00e3_o" ma:index="40" nillable="true" ma:displayName="Titulação" ma:format="Dropdown" ma:internalName="Titula_x00e7__x00e3_o">
      <xsd:simpleType>
        <xsd:restriction base="dms:Choice">
          <xsd:enumeration value="Especialista"/>
          <xsd:enumeration value="Mestre"/>
          <xsd:enumeration value="Doutor(a)"/>
        </xsd:restriction>
      </xsd:simpleType>
    </xsd:element>
    <xsd:element name="NOME_SELLER" ma:index="41" nillable="true" ma:displayName="Nome_Seller" ma:format="Dropdown" ma:internalName="NOME_SELLER">
      <xsd:simpleType>
        <xsd:restriction base="dms:Text">
          <xsd:maxLength value="255"/>
        </xsd:restriction>
      </xsd:simpleType>
    </xsd:element>
    <xsd:element name="Analista_Responsav_x00e9_l" ma:index="42" nillable="true" ma:displayName="Nome_Analista_Responsavél" ma:format="Dropdown" ma:internalName="Analista_Responsav_x00e9_l">
      <xsd:simpleType>
        <xsd:restriction base="dms:Choice">
          <xsd:enumeration value="Diana"/>
          <xsd:enumeration value="Joyce"/>
          <xsd:enumeration value="Lucas"/>
        </xsd:restriction>
      </xsd:simpleType>
    </xsd:element>
    <xsd:element name="MediaServiceBillingMetadata" ma:index="4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0d8d4b-1949-445f-b54d-8717a3d10a2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5443eb-cbbb-44e0-b5db-83270feeb83d}" ma:internalName="TaxCatchAll" ma:showField="CatchAllData" ma:web="e20d8d4b-1949-445f-b54d-8717a3d10a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_x002e_ xmlns="2074a592-0284-4838-a99a-676a646e30ba" xsi:nil="true"/>
    <Sequencia xmlns="2074a592-0284-4838-a99a-676a646e30ba" xsi:nil="true"/>
    <Iniciodadisciplina xmlns="2074a592-0284-4838-a99a-676a646e30ba" xsi:nil="true"/>
    <Titula_x00e7__x00e3_o xmlns="2074a592-0284-4838-a99a-676a646e30ba" xsi:nil="true"/>
    <Data_Rev_Coord xmlns="2074a592-0284-4838-a99a-676a646e30ba" xsi:nil="true"/>
    <Nome_do_professor xmlns="2074a592-0284-4838-a99a-676a646e30ba" xsi:nil="true"/>
    <Analista xmlns="2074a592-0284-4838-a99a-676a646e30ba" xsi:nil="true"/>
    <Coordena_x00e7__x00e3_o xmlns="2074a592-0284-4838-a99a-676a646e30ba">
      <UserInfo>
        <DisplayName/>
        <AccountId xsi:nil="true"/>
        <AccountType/>
      </UserInfo>
    </Coordena_x00e7__x00e3_o>
    <Data_envio_materiais xmlns="2074a592-0284-4838-a99a-676a646e30ba" xsi:nil="true"/>
    <Datadafinaliza_x00e7__x00e3_o xmlns="2074a592-0284-4838-a99a-676a646e30ba" xsi:nil="true"/>
    <NOME_SELLER xmlns="2074a592-0284-4838-a99a-676a646e30ba" xsi:nil="true"/>
    <Analista_respons_x00e1_veel xmlns="2074a592-0284-4838-a99a-676a646e30ba" xsi:nil="true"/>
    <Nome_Comercial xmlns="2074a592-0284-4838-a99a-676a646e30ba" xsi:nil="true"/>
    <Disciplina xmlns="2074a592-0284-4838-a99a-676a646e30ba" xsi:nil="true"/>
    <Emailseler xmlns="2074a592-0284-4838-a99a-676a646e30ba" xsi:nil="true"/>
    <Status xmlns="2074a592-0284-4838-a99a-676a646e30ba">Disponibilizado</Status>
    <TaxCatchAll xmlns="e20d8d4b-1949-445f-b54d-8717a3d10a21" xsi:nil="true"/>
    <Analista_Responsav_x00e9_l xmlns="2074a592-0284-4838-a99a-676a646e30ba" xsi:nil="true"/>
    <lcf76f155ced4ddcb4097134ff3c332f xmlns="2074a592-0284-4838-a99a-676a646e30ba">
      <Terms xmlns="http://schemas.microsoft.com/office/infopath/2007/PartnerControls"/>
    </lcf76f155ced4ddcb4097134ff3c332f>
    <Data_Recebimento xmlns="2074a592-0284-4838-a99a-676a646e30ba" xsi:nil="true"/>
    <Status_Entrega xmlns="2074a592-0284-4838-a99a-676a646e30b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7DAA44-D286-4980-9CFC-EC3DD4B744F8}"/>
</file>

<file path=customXml/itemProps2.xml><?xml version="1.0" encoding="utf-8"?>
<ds:datastoreItem xmlns:ds="http://schemas.openxmlformats.org/officeDocument/2006/customXml" ds:itemID="{EBA44104-1CFE-4BAC-A782-8D97627740A5}">
  <ds:schemaRefs>
    <ds:schemaRef ds:uri="http://schemas.microsoft.com/office/2006/metadata/properties"/>
    <ds:schemaRef ds:uri="http://schemas.microsoft.com/office/infopath/2007/PartnerControls"/>
    <ds:schemaRef ds:uri="2074a592-0284-4838-a99a-676a646e30ba"/>
    <ds:schemaRef ds:uri="e20d8d4b-1949-445f-b54d-8717a3d10a21"/>
  </ds:schemaRefs>
</ds:datastoreItem>
</file>

<file path=customXml/itemProps3.xml><?xml version="1.0" encoding="utf-8"?>
<ds:datastoreItem xmlns:ds="http://schemas.openxmlformats.org/officeDocument/2006/customXml" ds:itemID="{38DD050D-DC31-405A-8AC4-DAFC9F25508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dc42001-9759-4b38-a906-152fbf37e35a}" enabled="1" method="Privileged" siteId="{a50e7b76-8ea5-492c-bf17-97d652fc3ce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730</Words>
  <Application>Microsoft Office PowerPoint</Application>
  <PresentationFormat>Apresentação na tela (16:9)</PresentationFormat>
  <Paragraphs>157</Paragraphs>
  <Slides>16</Slides>
  <Notes>16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16</vt:i4>
      </vt:variant>
    </vt:vector>
  </HeadingPairs>
  <TitlesOfParts>
    <vt:vector size="18" baseType="lpstr">
      <vt:lpstr>Main</vt:lpstr>
      <vt:lpstr>Main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Priscila Da Silva</dc:creator>
  <cp:lastModifiedBy>PRISCILA FERNANDA DA SILVA TADS028</cp:lastModifiedBy>
  <cp:revision>5</cp:revision>
  <dcterms:modified xsi:type="dcterms:W3CDTF">2025-08-18T13:31:16Z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0x0101003C4BF2EB6E0AA3499D5D22DB6C773100</vt:lpwstr>
  </property>
  <property fmtid="{D5CDD505-2E9C-101B-9397-08002B2CF9AE}" pid="3" name="ClassificationContentMarkingFooterLocations">
    <vt:lpwstr>Main:3\Main:3</vt:lpwstr>
  </property>
  <property fmtid="{D5CDD505-2E9C-101B-9397-08002B2CF9AE}" pid="4" name="ClassificationContentMarkingFooterText">
    <vt:lpwstr>Público</vt:lpwstr>
  </property>
  <property fmtid="{D5CDD505-2E9C-101B-9397-08002B2CF9AE}" pid="5" name="MediaServiceImageTags">
    <vt:lpwstr/>
  </property>
</Properties>
</file>