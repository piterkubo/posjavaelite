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3.xml" ContentType="application/vnd.openxmlformats-officedocument.presentationml.comment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4.xml" ContentType="application/vnd.openxmlformats-officedocument.presentationml.comment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  <p:sldMasterId id="2147483667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6858000" cy="9144000"/>
  <p:embeddedFontLst>
    <p:embeddedFont>
      <p:font typeface="League Spartan" panose="020B0604020202020204" charset="0"/>
      <p:regular r:id="rId37"/>
      <p:bold r:id="rId38"/>
    </p:embeddedFont>
    <p:embeddedFont>
      <p:font typeface="League Spartan Light" panose="020B0604020202020204" charset="0"/>
      <p:regular r:id="rId39"/>
      <p:bold r:id="rId40"/>
    </p:embeddedFont>
    <p:embeddedFont>
      <p:font typeface="League Spartan Medium" panose="020B0604020202020204" charset="0"/>
      <p:regular r:id="rId41"/>
      <p:bold r:id="rId42"/>
    </p:embeddedFont>
    <p:embeddedFont>
      <p:font typeface="Montserrat" panose="00000500000000000000" pitchFamily="2" charset="0"/>
      <p:regular r:id="rId43"/>
      <p:bold r:id="rId44"/>
      <p:italic r:id="rId45"/>
      <p:boldItalic r:id="rId46"/>
    </p:embeddedFont>
    <p:embeddedFont>
      <p:font typeface="Montserrat Light" panose="00000400000000000000" pitchFamily="2" charset="0"/>
      <p:regular r:id="rId47"/>
      <p:bold r:id="rId48"/>
      <p:italic r:id="rId49"/>
      <p:boldItalic r:id="rId50"/>
    </p:embeddedFont>
    <p:embeddedFont>
      <p:font typeface="Montserrat Medium" panose="00000600000000000000" pitchFamily="2" charset="0"/>
      <p:regular r:id="rId51"/>
      <p:bold r:id="rId52"/>
      <p:italic r:id="rId53"/>
      <p:boldItalic r:id="rId54"/>
    </p:embeddedFont>
    <p:embeddedFont>
      <p:font typeface="Palatino Linotype" panose="02040502050505030304" pitchFamily="18" charset="0"/>
      <p:regular r:id="rId55"/>
      <p:bold r:id="rId56"/>
      <p:italic r:id="rId57"/>
      <p:boldItalic r:id="rId58"/>
    </p:embeddedFont>
    <p:embeddedFont>
      <p:font typeface="Poppins" panose="00000500000000000000" pitchFamily="2" charset="0"/>
      <p:regular r:id="rId59"/>
      <p:bold r:id="rId60"/>
      <p:italic r:id="rId61"/>
      <p:boldItalic r:id="rId62"/>
    </p:embeddedFont>
    <p:embeddedFont>
      <p:font typeface="Roboto" panose="02000000000000000000" pitchFamily="2" charset="0"/>
      <p:regular r:id="rId63"/>
      <p:bold r:id="rId64"/>
      <p:italic r:id="rId65"/>
      <p:boldItalic r:id="rId66"/>
    </p:embeddedFont>
    <p:embeddedFont>
      <p:font typeface="Roboto Light" panose="02000000000000000000" pitchFamily="2" charset="0"/>
      <p:regular r:id="rId67"/>
      <p:bold r:id="rId68"/>
      <p:italic r:id="rId69"/>
      <p:boldItalic r:id="rId70"/>
    </p:embeddedFont>
    <p:embeddedFont>
      <p:font typeface="Roboto Mono" panose="00000009000000000000" pitchFamily="49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tavio Santana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C"/>
    <a:srgbClr val="F8F8F9"/>
    <a:srgbClr val="F7F7F6"/>
    <a:srgbClr val="F2F2F2"/>
    <a:srgbClr val="16161D"/>
    <a:srgbClr val="ECB14C"/>
    <a:srgbClr val="F3CA71"/>
    <a:srgbClr val="D2D2FF"/>
    <a:srgbClr val="242430"/>
    <a:srgbClr val="BA4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603A6C-0B2D-4A7E-B235-EB2711AA7651}">
  <a:tblStyle styleId="{BF603A6C-0B2D-4A7E-B235-EB2711AA765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8EC"/>
          </a:solidFill>
        </a:fill>
      </a:tcStyle>
    </a:wholeTbl>
    <a:band1H>
      <a:tcTxStyle b="off" i="off"/>
      <a:tcStyle>
        <a:tcBdr/>
        <a:fill>
          <a:solidFill>
            <a:srgbClr val="CBCF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BCF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1D518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1D518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1D518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D518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CBEE280-630F-4CF1-82A0-CADAD221C852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009EDC">
              <a:alpha val="4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09EDC">
              <a:alpha val="4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9ED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009EDC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7" y="91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63" Type="http://schemas.openxmlformats.org/officeDocument/2006/relationships/font" Target="fonts/font27.fntdata"/><Relationship Id="rId68" Type="http://schemas.openxmlformats.org/officeDocument/2006/relationships/font" Target="fonts/font32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74" Type="http://schemas.openxmlformats.org/officeDocument/2006/relationships/font" Target="fonts/font38.fntdata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25.fntdata"/><Relationship Id="rId82" Type="http://schemas.openxmlformats.org/officeDocument/2006/relationships/customXml" Target="../customXml/item3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64" Type="http://schemas.openxmlformats.org/officeDocument/2006/relationships/font" Target="fonts/font28.fntdata"/><Relationship Id="rId69" Type="http://schemas.openxmlformats.org/officeDocument/2006/relationships/font" Target="fonts/font33.fntdata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font" Target="fonts/font15.fntdata"/><Relationship Id="rId72" Type="http://schemas.openxmlformats.org/officeDocument/2006/relationships/font" Target="fonts/font36.fntdata"/><Relationship Id="rId80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67" Type="http://schemas.openxmlformats.org/officeDocument/2006/relationships/font" Target="fonts/font31.fntdata"/><Relationship Id="rId20" Type="http://schemas.openxmlformats.org/officeDocument/2006/relationships/slide" Target="slides/slide17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font" Target="fonts/font26.fntdata"/><Relationship Id="rId70" Type="http://schemas.openxmlformats.org/officeDocument/2006/relationships/font" Target="fonts/font34.fntdata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font" Target="fonts/font29.fntdata"/><Relationship Id="rId73" Type="http://schemas.openxmlformats.org/officeDocument/2006/relationships/font" Target="fonts/font37.fntdata"/><Relationship Id="rId78" Type="http://schemas.openxmlformats.org/officeDocument/2006/relationships/theme" Target="theme/theme1.xml"/><Relationship Id="rId81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font" Target="fonts/font3.fntdata"/><Relationship Id="rId34" Type="http://schemas.openxmlformats.org/officeDocument/2006/relationships/slide" Target="slides/slide31.xml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font" Target="fonts/font3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66" Type="http://schemas.openxmlformats.org/officeDocument/2006/relationships/font" Target="fonts/font30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8T17:19:14.749" idx="1">
    <p:pos x="3644" y="482"/>
    <p:text>Could you generate a new one, once this picture is not mine.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8T17:21:35.627" idx="2">
    <p:pos x="3179" y="800"/>
    <p:text>This picture is not mine, could you generate a new one?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8T17:29:56.484" idx="3">
    <p:pos x="2697" y="585"/>
    <p:text>this picture is not mine, could you generate a new one, please?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8T17:33:32.810" idx="4">
    <p:pos x="769" y="561"/>
    <p:text>Please, generate a new picture it coulde be simpler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230fa3cf_0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mundo das apps, existe vasta base de conhecimento porém com dbs já não é assim. </a:t>
            </a:r>
            <a:endParaRPr/>
          </a:p>
        </p:txBody>
      </p:sp>
      <p:sp>
        <p:nvSpPr>
          <p:cNvPr id="71" name="Google Shape;71;g36e230fa3c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e230fa3cf_0_2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mundo das apps, existe vasta base de conhecimento porém com dbs já não é assim. </a:t>
            </a:r>
            <a:endParaRPr/>
          </a:p>
        </p:txBody>
      </p:sp>
      <p:sp>
        <p:nvSpPr>
          <p:cNvPr id="84" name="Google Shape;84;g36e230fa3c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e230fa3cf_0_2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96" name="Google Shape;96;g36e230fa3cf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e230fa3cf_0_3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113" name="Google Shape;113;g36e230fa3cf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e230fa3cf_0_4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191" name="Google Shape;191;g36e230fa3cf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e230fa3cf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6e230fa3cf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e230fa3cf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6e230fa3cf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e230fa3cf_0_5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228" name="Google Shape;228;g36e230fa3cf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e230fa3cf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6e230fa3cf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e230fa3cf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6e230fa3cf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e230fa3cf_0_6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332" name="Google Shape;332;g36e230fa3c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e230fa3cf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g36e230fa3cf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e230fa3cf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36e230fa3cf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e230fa3cf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6e230fa3cf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e230fa3cf_0_6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366" name="Google Shape;366;g36e230fa3cf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6e230fa3cf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g36e230fa3cf_0_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e230fa3cf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g36e230fa3cf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e230fa3cf_0_6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413" name="Google Shape;413;g36e230fa3cf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e230fa3cf_0_8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434" name="Google Shape;434;g36e230fa3cf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e230fa3cf_0_9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450" name="Google Shape;450;g36e230fa3cf_0_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e230fa3cf_0_9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Ingest – Capture data from sources (APIs, DBs, devices)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Store – Persist in raw or structured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Process – Clean, enrich, transform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Analyze – Enable insights and decisions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Serve – Deliver to dashboards, ML, or APIs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8" name="Google Shape;458;g36e230fa3cf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e230fa3cf_0_9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Ingest – Capture data from sources (APIs, DBs, devices)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Store – Persist in raw or structured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– Clean, enrich, transform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Analyze – Enable insights and decisions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Serve – Deliver to dashboards, ML, or APIs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6" name="Google Shape;466;g36e230fa3cf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e33e6c14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Ingest – Capture data from sources (APIs, DBs, devices)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Store – Persist in raw or structured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– Clean, enrich, transform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Analyze – Enable insights and decisions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Serve – Deliver to dashboards, ML, or APIs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36e33e6c1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e33e6c145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Ingest – Capture data from sources (APIs, DBs, devices)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Store – Persist in raw or structured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– Clean, enrich, transform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Analyze – Enable insights and decisions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Serve – Deliver to dashboards, ML, or APIs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5" name="Google Shape;485;g36e33e6c14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e33e6c145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Ingest – Capture data from sources (APIs, DBs, devices)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Store – Persist in raw or structured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– Clean, enrich, transform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Analyze – Enable insights and decisions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Serve – Deliver to dashboards, ML, or APIs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3" name="Google Shape;493;g36e33e6c14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6e33e6c145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Ingest – Capture data from sources (APIs, DBs, devices)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Store – Persist in raw or structured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– Clean, enrich, transform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Analyze – Enable insights and decisions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Serve – Deliver to dashboards, ML, or APIs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1" name="Google Shape;501;g36e33e6c14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e230fa3cf_0_8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508" name="Google Shape;508;g36e230fa3cf_0_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6e230fa3cf_0_8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https://ourworldindata.org/grapher/historical-cost-of-computer-memory-and-storage</a:t>
            </a:r>
            <a:endParaRPr/>
          </a:p>
        </p:txBody>
      </p:sp>
      <p:sp>
        <p:nvSpPr>
          <p:cNvPr id="522" name="Google Shape;522;g36e230fa3cf_0_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6e230fa3cf_0_7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endParaRPr/>
          </a:p>
        </p:txBody>
      </p:sp>
      <p:sp>
        <p:nvSpPr>
          <p:cNvPr id="535" name="Google Shape;535;g36e230fa3cf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e230fa3cf_0_7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555" name="Google Shape;555;g36e230fa3cf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1pPr>
            <a:lvl2pPr lvl="1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2pPr>
            <a:lvl3pPr lvl="2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3pPr>
            <a:lvl4pPr lvl="3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4pPr>
            <a:lvl5pPr lvl="4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5pPr>
            <a:lvl6pPr lvl="5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6pPr>
            <a:lvl7pPr lvl="6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7pPr>
            <a:lvl8pPr lvl="7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8pPr>
            <a:lvl9pPr lvl="8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comments" Target="../comments/commen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comments" Target="../comments/commen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5" Type="http://schemas.openxmlformats.org/officeDocument/2006/relationships/comments" Target="../comments/comment3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5" Type="http://schemas.openxmlformats.org/officeDocument/2006/relationships/comments" Target="../comments/comment4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D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ctrTitle"/>
          </p:nvPr>
        </p:nvSpPr>
        <p:spPr>
          <a:xfrm>
            <a:off x="886200" y="1229286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40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21"/>
          <p:cNvSpPr txBox="1"/>
          <p:nvPr/>
        </p:nvSpPr>
        <p:spPr>
          <a:xfrm>
            <a:off x="886200" y="2781111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Databases</a:t>
            </a:r>
            <a:endParaRPr sz="1800" b="0" i="0" u="none" strike="noStrike" cap="none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21"/>
          <p:cNvSpPr txBox="1"/>
          <p:nvPr/>
        </p:nvSpPr>
        <p:spPr>
          <a:xfrm>
            <a:off x="886200" y="4319700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25" y="4628400"/>
            <a:ext cx="130350" cy="1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653D52F9-7309-37DB-50AE-BFB97B5F5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00" y="384750"/>
            <a:ext cx="480151" cy="6001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EE726B-CCDB-FD40-8650-A723AD263E86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E6BC5C9-BD0A-6A3F-93A0-DA402280B21D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Google Shape;66;p22"/>
          <p:cNvSpPr txBox="1"/>
          <p:nvPr/>
        </p:nvSpPr>
        <p:spPr>
          <a:xfrm>
            <a:off x="276900" y="144040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22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D2D2FF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i="0" u="none" strike="noStrike" cap="none" dirty="0">
              <a:solidFill>
                <a:srgbClr val="D2D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2"/>
          <p:cNvSpPr txBox="1"/>
          <p:nvPr/>
        </p:nvSpPr>
        <p:spPr>
          <a:xfrm>
            <a:off x="260278" y="1572313"/>
            <a:ext cx="7356900" cy="209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NoSQL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NewSQL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CAP / PACELC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ETL (Extract, Transform, Load)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ELT (Extract, Load, Transform)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Data warehousing and data lakes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A4142D-57F5-CB6E-97BC-15EDB57DA37E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DAB5DCF-F126-1397-5D11-BC2D9772B6DA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Google Shape;73;p23"/>
          <p:cNvSpPr/>
          <p:nvPr/>
        </p:nvSpPr>
        <p:spPr>
          <a:xfrm>
            <a:off x="3590706" y="1958196"/>
            <a:ext cx="2470800" cy="15873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3"/>
          <p:cNvSpPr/>
          <p:nvPr/>
        </p:nvSpPr>
        <p:spPr>
          <a:xfrm>
            <a:off x="6616461" y="1958196"/>
            <a:ext cx="2245800" cy="15873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3"/>
          <p:cNvSpPr/>
          <p:nvPr/>
        </p:nvSpPr>
        <p:spPr>
          <a:xfrm>
            <a:off x="422694" y="2045329"/>
            <a:ext cx="2470800" cy="14319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23" descr="Royalty-Free photo: Black and gray animal illustration | PickPi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258" y="2112384"/>
            <a:ext cx="2343442" cy="126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3" descr="File:Christ Church Library, Oxford-17003872028.jpg - Wikimedia Comm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7224" y="2080452"/>
            <a:ext cx="2217768" cy="1344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3" descr="The Why and How of Distributed Database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2707" y="2045329"/>
            <a:ext cx="1988599" cy="139689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3"/>
          <p:cNvSpPr txBox="1"/>
          <p:nvPr/>
        </p:nvSpPr>
        <p:spPr>
          <a:xfrm>
            <a:off x="228080" y="232349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Database evolutions</a:t>
            </a:r>
            <a:endParaRPr sz="18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23"/>
          <p:cNvSpPr/>
          <p:nvPr/>
        </p:nvSpPr>
        <p:spPr>
          <a:xfrm>
            <a:off x="3175950" y="2571750"/>
            <a:ext cx="203664" cy="407330"/>
          </a:xfrm>
          <a:custGeom>
            <a:avLst/>
            <a:gdLst/>
            <a:ahLst/>
            <a:cxnLst/>
            <a:rect l="l" t="t" r="r" b="b"/>
            <a:pathLst>
              <a:path w="221374" h="442750" extrusionOk="0">
                <a:moveTo>
                  <a:pt x="0" y="0"/>
                </a:moveTo>
                <a:lnTo>
                  <a:pt x="221374" y="221375"/>
                </a:lnTo>
                <a:lnTo>
                  <a:pt x="0" y="442750"/>
                </a:lnTo>
                <a:close/>
              </a:path>
            </a:pathLst>
          </a:custGeom>
          <a:solidFill>
            <a:srgbClr val="3884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3"/>
          <p:cNvSpPr/>
          <p:nvPr/>
        </p:nvSpPr>
        <p:spPr>
          <a:xfrm>
            <a:off x="6268775" y="2571750"/>
            <a:ext cx="203664" cy="407330"/>
          </a:xfrm>
          <a:custGeom>
            <a:avLst/>
            <a:gdLst/>
            <a:ahLst/>
            <a:cxnLst/>
            <a:rect l="l" t="t" r="r" b="b"/>
            <a:pathLst>
              <a:path w="221374" h="442750" extrusionOk="0">
                <a:moveTo>
                  <a:pt x="0" y="0"/>
                </a:moveTo>
                <a:lnTo>
                  <a:pt x="221374" y="221375"/>
                </a:lnTo>
                <a:lnTo>
                  <a:pt x="0" y="442750"/>
                </a:lnTo>
                <a:close/>
              </a:path>
            </a:pathLst>
          </a:custGeom>
          <a:solidFill>
            <a:srgbClr val="3884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D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/>
        </p:nvSpPr>
        <p:spPr>
          <a:xfrm>
            <a:off x="386150" y="1927750"/>
            <a:ext cx="38748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Do Modern Applications </a:t>
            </a:r>
            <a:endParaRPr sz="2700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rgbClr val="009ED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Need Data Storage?</a:t>
            </a:r>
            <a:endParaRPr sz="2700" dirty="0">
              <a:solidFill>
                <a:srgbClr val="009ED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88" name="Google Shape;88;p24"/>
          <p:cNvCxnSpPr>
            <a:cxnSpLocks/>
            <a:stCxn id="86" idx="3"/>
            <a:endCxn id="89" idx="1"/>
          </p:cNvCxnSpPr>
          <p:nvPr/>
        </p:nvCxnSpPr>
        <p:spPr>
          <a:xfrm flipV="1">
            <a:off x="4260950" y="2057342"/>
            <a:ext cx="1464611" cy="528458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0" name="Google Shape;90;p24"/>
          <p:cNvCxnSpPr>
            <a:cxnSpLocks/>
          </p:cNvCxnSpPr>
          <p:nvPr/>
        </p:nvCxnSpPr>
        <p:spPr>
          <a:xfrm>
            <a:off x="4257437" y="2588226"/>
            <a:ext cx="1472045" cy="51292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2" name="Google Shape;92;p24"/>
          <p:cNvCxnSpPr>
            <a:cxnSpLocks/>
          </p:cNvCxnSpPr>
          <p:nvPr/>
        </p:nvCxnSpPr>
        <p:spPr>
          <a:xfrm>
            <a:off x="4255328" y="2585800"/>
            <a:ext cx="1475762" cy="60874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3" name="Google Shape;93;p24"/>
          <p:cNvSpPr txBox="1"/>
          <p:nvPr/>
        </p:nvSpPr>
        <p:spPr>
          <a:xfrm>
            <a:off x="5747863" y="2929098"/>
            <a:ext cx="30000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The new opportunities</a:t>
            </a:r>
            <a:endParaRPr sz="15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24"/>
          <p:cNvSpPr txBox="1"/>
          <p:nvPr/>
        </p:nvSpPr>
        <p:spPr>
          <a:xfrm>
            <a:off x="5732995" y="2371650"/>
            <a:ext cx="30000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The current opportunity</a:t>
            </a:r>
            <a:endParaRPr sz="15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24"/>
          <p:cNvSpPr txBox="1"/>
          <p:nvPr/>
        </p:nvSpPr>
        <p:spPr>
          <a:xfrm>
            <a:off x="5725561" y="1791900"/>
            <a:ext cx="300000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It's where the state is</a:t>
            </a:r>
            <a:endParaRPr sz="15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/>
        </p:nvSpPr>
        <p:spPr>
          <a:xfrm>
            <a:off x="533338" y="1751022"/>
            <a:ext cx="20439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Maturity Model</a:t>
            </a:r>
            <a:endParaRPr sz="1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782" y="1757311"/>
            <a:ext cx="374125" cy="37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350607" y="3065253"/>
            <a:ext cx="2425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Database flavors</a:t>
            </a:r>
            <a:endParaRPr sz="1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51475" y="2340472"/>
            <a:ext cx="1748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Paradigms</a:t>
            </a:r>
            <a:endParaRPr sz="17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826" y="2376220"/>
            <a:ext cx="374904" cy="37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003" y="3102302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5"/>
          <p:cNvSpPr/>
          <p:nvPr/>
        </p:nvSpPr>
        <p:spPr>
          <a:xfrm>
            <a:off x="4259126" y="162250"/>
            <a:ext cx="4170900" cy="4766400"/>
          </a:xfrm>
          <a:prstGeom prst="rect">
            <a:avLst/>
          </a:prstGeom>
          <a:gradFill>
            <a:gsLst>
              <a:gs pos="0">
                <a:srgbClr val="308DD3"/>
              </a:gs>
              <a:gs pos="10000">
                <a:srgbClr val="308DD3"/>
              </a:gs>
              <a:gs pos="77000">
                <a:srgbClr val="4265C0"/>
              </a:gs>
              <a:gs pos="100000">
                <a:srgbClr val="4265C0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5"/>
          <p:cNvPicPr preferRelativeResize="0"/>
          <p:nvPr/>
        </p:nvPicPr>
        <p:blipFill rotWithShape="1">
          <a:blip r:embed="rId6">
            <a:alphaModFix/>
          </a:blip>
          <a:srcRect t="-590" b="18582"/>
          <a:stretch/>
        </p:blipFill>
        <p:spPr>
          <a:xfrm>
            <a:off x="4342938" y="228662"/>
            <a:ext cx="4003275" cy="45585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</p:pic>
      <p:sp>
        <p:nvSpPr>
          <p:cNvPr id="107" name="Google Shape;107;p25"/>
          <p:cNvSpPr/>
          <p:nvPr/>
        </p:nvSpPr>
        <p:spPr>
          <a:xfrm>
            <a:off x="3324263" y="162250"/>
            <a:ext cx="825612" cy="4694100"/>
          </a:xfrm>
          <a:prstGeom prst="leftBrace">
            <a:avLst>
              <a:gd name="adj1" fmla="val 123429"/>
              <a:gd name="adj2" fmla="val 54015"/>
            </a:avLst>
          </a:prstGeom>
          <a:noFill/>
          <a:ln w="9525" cap="flat" cmpd="sng">
            <a:solidFill>
              <a:srgbClr val="4285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DBEF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321538" y="409274"/>
            <a:ext cx="294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Persistence landscape</a:t>
            </a:r>
            <a:endParaRPr sz="1800" b="1" i="0" u="none" strike="noStrike" cap="none" dirty="0">
              <a:solidFill>
                <a:srgbClr val="061B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316739" y="729324"/>
            <a:ext cx="168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State of affairs</a:t>
            </a:r>
            <a:endParaRPr sz="14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5"/>
          <p:cNvSpPr txBox="1"/>
          <p:nvPr/>
        </p:nvSpPr>
        <p:spPr>
          <a:xfrm>
            <a:off x="258625" y="4680301"/>
            <a:ext cx="193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https://survey.stackoverflow.co/2023/</a:t>
            </a:r>
            <a:endParaRPr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BC5B3C-0C4E-09CA-74DC-E41F98399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27"/>
            <a:ext cx="9144000" cy="856358"/>
          </a:xfrm>
          <a:prstGeom prst="rect">
            <a:avLst/>
          </a:prstGeom>
        </p:spPr>
      </p:pic>
      <p:graphicFrame>
        <p:nvGraphicFramePr>
          <p:cNvPr id="115" name="Google Shape;115;p26"/>
          <p:cNvGraphicFramePr/>
          <p:nvPr/>
        </p:nvGraphicFramePr>
        <p:xfrm>
          <a:off x="319457" y="2022562"/>
          <a:ext cx="982875" cy="1265360"/>
        </p:xfrm>
        <a:graphic>
          <a:graphicData uri="http://schemas.openxmlformats.org/drawingml/2006/table">
            <a:tbl>
              <a:tblPr firstRow="1" bandRow="1">
                <a:noFill/>
                <a:tableStyleId>{BF603A6C-0B2D-4A7E-B235-EB2711AA7651}</a:tableStyleId>
              </a:tblPr>
              <a:tblGrid>
                <a:gridCol w="24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36225" marR="36225" marT="18125" marB="181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6" name="Google Shape;116;p26"/>
          <p:cNvGrpSpPr/>
          <p:nvPr/>
        </p:nvGrpSpPr>
        <p:grpSpPr>
          <a:xfrm>
            <a:off x="1816165" y="1911254"/>
            <a:ext cx="1198761" cy="1425651"/>
            <a:chOff x="9563738" y="1888011"/>
            <a:chExt cx="2493781" cy="2965782"/>
          </a:xfrm>
        </p:grpSpPr>
        <p:grpSp>
          <p:nvGrpSpPr>
            <p:cNvPr id="117" name="Google Shape;117;p26"/>
            <p:cNvGrpSpPr/>
            <p:nvPr/>
          </p:nvGrpSpPr>
          <p:grpSpPr>
            <a:xfrm>
              <a:off x="10494164" y="1888011"/>
              <a:ext cx="1563355" cy="2965782"/>
              <a:chOff x="10494164" y="1888011"/>
              <a:chExt cx="1563355" cy="2965782"/>
            </a:xfrm>
          </p:grpSpPr>
          <p:sp>
            <p:nvSpPr>
              <p:cNvPr id="118" name="Google Shape;118;p26"/>
              <p:cNvSpPr/>
              <p:nvPr/>
            </p:nvSpPr>
            <p:spPr>
              <a:xfrm>
                <a:off x="11057663" y="3370903"/>
                <a:ext cx="473305" cy="813077"/>
              </a:xfrm>
              <a:custGeom>
                <a:avLst/>
                <a:gdLst/>
                <a:ahLst/>
                <a:cxnLst/>
                <a:rect l="l" t="t" r="r" b="b"/>
                <a:pathLst>
                  <a:path w="473305" h="813077" extrusionOk="0">
                    <a:moveTo>
                      <a:pt x="0" y="0"/>
                    </a:moveTo>
                    <a:lnTo>
                      <a:pt x="236652" y="0"/>
                    </a:lnTo>
                    <a:lnTo>
                      <a:pt x="236652" y="813077"/>
                    </a:lnTo>
                    <a:lnTo>
                      <a:pt x="473305" y="813077"/>
                    </a:lnTo>
                  </a:path>
                </a:pathLst>
              </a:custGeom>
              <a:noFill/>
              <a:ln w="12700" cap="flat" cmpd="sng">
                <a:solidFill>
                  <a:srgbClr val="13406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69375" tIns="287250" rIns="169375" bIns="2872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"/>
                  <a:buFont typeface="Calibri"/>
                  <a:buNone/>
                </a:pPr>
                <a:endParaRPr sz="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26"/>
              <p:cNvSpPr/>
              <p:nvPr/>
            </p:nvSpPr>
            <p:spPr>
              <a:xfrm>
                <a:off x="11057663" y="2534344"/>
                <a:ext cx="436358" cy="836558"/>
              </a:xfrm>
              <a:custGeom>
                <a:avLst/>
                <a:gdLst/>
                <a:ahLst/>
                <a:cxnLst/>
                <a:rect l="l" t="t" r="r" b="b"/>
                <a:pathLst>
                  <a:path w="436358" h="836558" extrusionOk="0">
                    <a:moveTo>
                      <a:pt x="0" y="836558"/>
                    </a:moveTo>
                    <a:lnTo>
                      <a:pt x="218179" y="836558"/>
                    </a:lnTo>
                    <a:lnTo>
                      <a:pt x="218179" y="0"/>
                    </a:lnTo>
                    <a:lnTo>
                      <a:pt x="436358" y="0"/>
                    </a:lnTo>
                  </a:path>
                </a:pathLst>
              </a:custGeom>
              <a:noFill/>
              <a:ln w="12700" cap="flat" cmpd="sng">
                <a:solidFill>
                  <a:srgbClr val="13406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55450" tIns="296000" rIns="155450" bIns="296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"/>
                  <a:buFont typeface="Calibri"/>
                  <a:buNone/>
                </a:pPr>
                <a:endParaRPr sz="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26"/>
              <p:cNvSpPr/>
              <p:nvPr/>
            </p:nvSpPr>
            <p:spPr>
              <a:xfrm rot="-5400000">
                <a:off x="9293022" y="3089153"/>
                <a:ext cx="2965782" cy="563498"/>
              </a:xfrm>
              <a:custGeom>
                <a:avLst/>
                <a:gdLst/>
                <a:ahLst/>
                <a:cxnLst/>
                <a:rect l="l" t="t" r="r" b="b"/>
                <a:pathLst>
                  <a:path w="2965782" h="563498" extrusionOk="0">
                    <a:moveTo>
                      <a:pt x="0" y="0"/>
                    </a:moveTo>
                    <a:lnTo>
                      <a:pt x="2965782" y="0"/>
                    </a:lnTo>
                    <a:lnTo>
                      <a:pt x="2965782" y="563498"/>
                    </a:lnTo>
                    <a:lnTo>
                      <a:pt x="0" y="5634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083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7600" tIns="17600" rIns="17600" bIns="17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26"/>
              <p:cNvSpPr/>
              <p:nvPr/>
            </p:nvSpPr>
            <p:spPr>
              <a:xfrm rot="-5400000">
                <a:off x="11160979" y="2229548"/>
                <a:ext cx="1229583" cy="563498"/>
              </a:xfrm>
              <a:custGeom>
                <a:avLst/>
                <a:gdLst/>
                <a:ahLst/>
                <a:cxnLst/>
                <a:rect l="l" t="t" r="r" b="b"/>
                <a:pathLst>
                  <a:path w="1229583" h="563498" extrusionOk="0">
                    <a:moveTo>
                      <a:pt x="0" y="0"/>
                    </a:moveTo>
                    <a:lnTo>
                      <a:pt x="1229583" y="0"/>
                    </a:lnTo>
                    <a:lnTo>
                      <a:pt x="1229583" y="563498"/>
                    </a:lnTo>
                    <a:lnTo>
                      <a:pt x="0" y="5634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083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7600" tIns="17600" rIns="17600" bIns="17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26"/>
              <p:cNvSpPr/>
              <p:nvPr/>
            </p:nvSpPr>
            <p:spPr>
              <a:xfrm rot="-5400000">
                <a:off x="11160979" y="3871716"/>
                <a:ext cx="1229583" cy="563498"/>
              </a:xfrm>
              <a:custGeom>
                <a:avLst/>
                <a:gdLst/>
                <a:ahLst/>
                <a:cxnLst/>
                <a:rect l="l" t="t" r="r" b="b"/>
                <a:pathLst>
                  <a:path w="1229583" h="563498" extrusionOk="0">
                    <a:moveTo>
                      <a:pt x="0" y="0"/>
                    </a:moveTo>
                    <a:lnTo>
                      <a:pt x="1229583" y="0"/>
                    </a:lnTo>
                    <a:lnTo>
                      <a:pt x="1229583" y="563498"/>
                    </a:lnTo>
                    <a:lnTo>
                      <a:pt x="0" y="5634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083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7600" tIns="17600" rIns="17600" bIns="17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26"/>
            <p:cNvGrpSpPr/>
            <p:nvPr/>
          </p:nvGrpSpPr>
          <p:grpSpPr>
            <a:xfrm rot="10800000">
              <a:off x="9563738" y="1888012"/>
              <a:ext cx="1498265" cy="2903139"/>
              <a:chOff x="8216108" y="548032"/>
              <a:chExt cx="1498265" cy="2903139"/>
            </a:xfrm>
          </p:grpSpPr>
          <p:sp>
            <p:nvSpPr>
              <p:cNvPr id="124" name="Google Shape;124;p26"/>
              <p:cNvSpPr/>
              <p:nvPr/>
            </p:nvSpPr>
            <p:spPr>
              <a:xfrm>
                <a:off x="8751637" y="1959099"/>
                <a:ext cx="449814" cy="772722"/>
              </a:xfrm>
              <a:custGeom>
                <a:avLst/>
                <a:gdLst/>
                <a:ahLst/>
                <a:cxnLst/>
                <a:rect l="l" t="t" r="r" b="b"/>
                <a:pathLst>
                  <a:path w="449814" h="772722" extrusionOk="0">
                    <a:moveTo>
                      <a:pt x="0" y="0"/>
                    </a:moveTo>
                    <a:lnTo>
                      <a:pt x="224907" y="0"/>
                    </a:lnTo>
                    <a:lnTo>
                      <a:pt x="224907" y="772722"/>
                    </a:lnTo>
                    <a:lnTo>
                      <a:pt x="449814" y="772722"/>
                    </a:lnTo>
                  </a:path>
                </a:pathLst>
              </a:custGeom>
              <a:noFill/>
              <a:ln w="12700" cap="flat" cmpd="sng">
                <a:solidFill>
                  <a:srgbClr val="13406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61450" tIns="273000" rIns="161450" bIns="273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"/>
                  <a:buFont typeface="Calibri"/>
                  <a:buNone/>
                </a:pPr>
                <a:endParaRPr sz="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6"/>
              <p:cNvSpPr/>
              <p:nvPr/>
            </p:nvSpPr>
            <p:spPr>
              <a:xfrm>
                <a:off x="8751637" y="1164061"/>
                <a:ext cx="414700" cy="795037"/>
              </a:xfrm>
              <a:custGeom>
                <a:avLst/>
                <a:gdLst/>
                <a:ahLst/>
                <a:cxnLst/>
                <a:rect l="l" t="t" r="r" b="b"/>
                <a:pathLst>
                  <a:path w="414700" h="795037" extrusionOk="0">
                    <a:moveTo>
                      <a:pt x="0" y="795037"/>
                    </a:moveTo>
                    <a:lnTo>
                      <a:pt x="207350" y="795037"/>
                    </a:lnTo>
                    <a:lnTo>
                      <a:pt x="207350" y="0"/>
                    </a:lnTo>
                    <a:lnTo>
                      <a:pt x="414700" y="0"/>
                    </a:lnTo>
                  </a:path>
                </a:pathLst>
              </a:custGeom>
              <a:noFill/>
              <a:ln w="12700" cap="flat" cmpd="sng">
                <a:solidFill>
                  <a:srgbClr val="13406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48225" tIns="281325" rIns="148225" bIns="281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"/>
                  <a:buFont typeface="Calibri"/>
                  <a:buNone/>
                </a:pPr>
                <a:endParaRPr sz="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6"/>
              <p:cNvSpPr/>
              <p:nvPr/>
            </p:nvSpPr>
            <p:spPr>
              <a:xfrm rot="-5400000">
                <a:off x="7032303" y="1731837"/>
                <a:ext cx="2903139" cy="535530"/>
              </a:xfrm>
              <a:custGeom>
                <a:avLst/>
                <a:gdLst/>
                <a:ahLst/>
                <a:cxnLst/>
                <a:rect l="l" t="t" r="r" b="b"/>
                <a:pathLst>
                  <a:path w="2818582" h="535530" extrusionOk="0">
                    <a:moveTo>
                      <a:pt x="0" y="0"/>
                    </a:moveTo>
                    <a:lnTo>
                      <a:pt x="2818582" y="0"/>
                    </a:lnTo>
                    <a:lnTo>
                      <a:pt x="2818582" y="535530"/>
                    </a:lnTo>
                    <a:lnTo>
                      <a:pt x="0" y="5355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083"/>
              </a:solidFill>
              <a:ln>
                <a:noFill/>
              </a:ln>
            </p:spPr>
            <p:txBody>
              <a:bodyPr spcFirstLastPara="1" wrap="square" lIns="16675" tIns="16675" rIns="16650" bIns="16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00"/>
                  <a:buFont typeface="Calibri"/>
                  <a:buNone/>
                </a:pPr>
                <a:endParaRPr sz="2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26"/>
              <p:cNvSpPr/>
              <p:nvPr/>
            </p:nvSpPr>
            <p:spPr>
              <a:xfrm rot="-5400000">
                <a:off x="8862329" y="917952"/>
                <a:ext cx="1168556" cy="535530"/>
              </a:xfrm>
              <a:custGeom>
                <a:avLst/>
                <a:gdLst/>
                <a:ahLst/>
                <a:cxnLst/>
                <a:rect l="l" t="t" r="r" b="b"/>
                <a:pathLst>
                  <a:path w="1168556" h="535530" extrusionOk="0">
                    <a:moveTo>
                      <a:pt x="0" y="0"/>
                    </a:moveTo>
                    <a:lnTo>
                      <a:pt x="1168556" y="0"/>
                    </a:lnTo>
                    <a:lnTo>
                      <a:pt x="1168556" y="535530"/>
                    </a:lnTo>
                    <a:lnTo>
                      <a:pt x="0" y="5355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083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6675" tIns="16675" rIns="16675" bIns="16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00"/>
                  <a:buFont typeface="Calibri"/>
                  <a:buNone/>
                </a:pPr>
                <a:endParaRPr sz="2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26"/>
              <p:cNvSpPr/>
              <p:nvPr/>
            </p:nvSpPr>
            <p:spPr>
              <a:xfrm rot="-5400000">
                <a:off x="8862329" y="2516346"/>
                <a:ext cx="1168556" cy="535530"/>
              </a:xfrm>
              <a:custGeom>
                <a:avLst/>
                <a:gdLst/>
                <a:ahLst/>
                <a:cxnLst/>
                <a:rect l="l" t="t" r="r" b="b"/>
                <a:pathLst>
                  <a:path w="1168556" h="535530" extrusionOk="0">
                    <a:moveTo>
                      <a:pt x="0" y="0"/>
                    </a:moveTo>
                    <a:lnTo>
                      <a:pt x="1168556" y="0"/>
                    </a:lnTo>
                    <a:lnTo>
                      <a:pt x="1168556" y="535530"/>
                    </a:lnTo>
                    <a:lnTo>
                      <a:pt x="0" y="5355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083"/>
              </a:solidFill>
              <a:ln w="12700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6675" tIns="16675" rIns="16675" bIns="16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00"/>
                  <a:buFont typeface="Calibri"/>
                  <a:buNone/>
                </a:pPr>
                <a:endParaRPr sz="2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" name="Google Shape;129;p26"/>
          <p:cNvSpPr txBox="1"/>
          <p:nvPr/>
        </p:nvSpPr>
        <p:spPr>
          <a:xfrm>
            <a:off x="843223" y="1351961"/>
            <a:ext cx="2065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 Database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6"/>
          <p:cNvSpPr txBox="1"/>
          <p:nvPr/>
        </p:nvSpPr>
        <p:spPr>
          <a:xfrm>
            <a:off x="228600" y="146826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Database solutions</a:t>
            </a:r>
            <a:endParaRPr sz="18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244275" y="459449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Polyglot Persistence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26"/>
          <p:cNvGraphicFramePr/>
          <p:nvPr/>
        </p:nvGraphicFramePr>
        <p:xfrm>
          <a:off x="3627853" y="2458087"/>
          <a:ext cx="1314000" cy="644080"/>
        </p:xfrm>
        <a:graphic>
          <a:graphicData uri="http://schemas.openxmlformats.org/drawingml/2006/table">
            <a:tbl>
              <a:tblPr firstRow="1" bandRow="1">
                <a:noFill/>
                <a:tableStyleId>{BF603A6C-0B2D-4A7E-B235-EB2711AA7651}</a:tableStyleId>
              </a:tblPr>
              <a:tblGrid>
                <a:gridCol w="13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3" name="Google Shape;133;p26"/>
          <p:cNvGrpSpPr/>
          <p:nvPr/>
        </p:nvGrpSpPr>
        <p:grpSpPr>
          <a:xfrm>
            <a:off x="5053068" y="2357878"/>
            <a:ext cx="787302" cy="1032520"/>
            <a:chOff x="8682028" y="1961519"/>
            <a:chExt cx="1049736" cy="1376693"/>
          </a:xfrm>
        </p:grpSpPr>
        <p:sp>
          <p:nvSpPr>
            <p:cNvPr id="134" name="Google Shape;134;p26"/>
            <p:cNvSpPr/>
            <p:nvPr/>
          </p:nvSpPr>
          <p:spPr>
            <a:xfrm>
              <a:off x="8824859" y="213360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9072210" y="248187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8682028" y="2600251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9302760" y="196151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8943738" y="2991386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9441837" y="275388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9495064" y="2287893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26"/>
            <p:cNvCxnSpPr>
              <a:stCxn id="134" idx="6"/>
              <a:endCxn id="137" idx="3"/>
            </p:cNvCxnSpPr>
            <p:nvPr/>
          </p:nvCxnSpPr>
          <p:spPr>
            <a:xfrm rot="10800000" flipH="1">
              <a:off x="9061559" y="2163452"/>
              <a:ext cx="276000" cy="88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2" name="Google Shape;142;p26"/>
            <p:cNvCxnSpPr>
              <a:stCxn id="134" idx="3"/>
              <a:endCxn id="136" idx="0"/>
            </p:cNvCxnSpPr>
            <p:nvPr/>
          </p:nvCxnSpPr>
          <p:spPr>
            <a:xfrm flipH="1">
              <a:off x="8800423" y="2335638"/>
              <a:ext cx="59100" cy="2646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3" name="Google Shape;143;p26"/>
            <p:cNvCxnSpPr>
              <a:stCxn id="136" idx="4"/>
              <a:endCxn id="135" idx="3"/>
            </p:cNvCxnSpPr>
            <p:nvPr/>
          </p:nvCxnSpPr>
          <p:spPr>
            <a:xfrm rot="10800000" flipH="1">
              <a:off x="8800378" y="2683951"/>
              <a:ext cx="306600" cy="1530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4" name="Google Shape;144;p26"/>
            <p:cNvCxnSpPr>
              <a:stCxn id="134" idx="5"/>
              <a:endCxn id="135" idx="1"/>
            </p:cNvCxnSpPr>
            <p:nvPr/>
          </p:nvCxnSpPr>
          <p:spPr>
            <a:xfrm>
              <a:off x="9026895" y="2335638"/>
              <a:ext cx="80100" cy="1809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5" name="Google Shape;145;p26"/>
            <p:cNvCxnSpPr>
              <a:endCxn id="140" idx="0"/>
            </p:cNvCxnSpPr>
            <p:nvPr/>
          </p:nvCxnSpPr>
          <p:spPr>
            <a:xfrm>
              <a:off x="9421114" y="2079993"/>
              <a:ext cx="192300" cy="2079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6" name="Google Shape;146;p26"/>
            <p:cNvCxnSpPr>
              <a:stCxn id="140" idx="4"/>
              <a:endCxn id="139" idx="0"/>
            </p:cNvCxnSpPr>
            <p:nvPr/>
          </p:nvCxnSpPr>
          <p:spPr>
            <a:xfrm flipH="1">
              <a:off x="9560314" y="2524593"/>
              <a:ext cx="53100" cy="2292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7" name="Google Shape;147;p26"/>
            <p:cNvCxnSpPr>
              <a:stCxn id="138" idx="7"/>
              <a:endCxn id="135" idx="4"/>
            </p:cNvCxnSpPr>
            <p:nvPr/>
          </p:nvCxnSpPr>
          <p:spPr>
            <a:xfrm rot="10800000" flipH="1">
              <a:off x="9145774" y="2718550"/>
              <a:ext cx="44700" cy="307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48" name="Google Shape;148;p26"/>
            <p:cNvCxnSpPr>
              <a:stCxn id="135" idx="6"/>
              <a:endCxn id="139" idx="1"/>
            </p:cNvCxnSpPr>
            <p:nvPr/>
          </p:nvCxnSpPr>
          <p:spPr>
            <a:xfrm>
              <a:off x="9308910" y="2600229"/>
              <a:ext cx="167700" cy="1884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9" name="Google Shape;149;p26"/>
            <p:cNvSpPr/>
            <p:nvPr/>
          </p:nvSpPr>
          <p:spPr>
            <a:xfrm>
              <a:off x="9280539" y="310151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0" name="Google Shape;150;p26"/>
            <p:cNvCxnSpPr>
              <a:endCxn id="149" idx="6"/>
            </p:cNvCxnSpPr>
            <p:nvPr/>
          </p:nvCxnSpPr>
          <p:spPr>
            <a:xfrm flipH="1">
              <a:off x="9517239" y="2955862"/>
              <a:ext cx="77700" cy="2640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51" name="Google Shape;151;p26"/>
          <p:cNvGrpSpPr/>
          <p:nvPr/>
        </p:nvGrpSpPr>
        <p:grpSpPr>
          <a:xfrm>
            <a:off x="6265856" y="2242078"/>
            <a:ext cx="1118255" cy="1155842"/>
            <a:chOff x="10613733" y="1699799"/>
            <a:chExt cx="1491007" cy="1541123"/>
          </a:xfrm>
        </p:grpSpPr>
        <p:sp>
          <p:nvSpPr>
            <p:cNvPr id="152" name="Google Shape;152;p26"/>
            <p:cNvSpPr/>
            <p:nvPr/>
          </p:nvSpPr>
          <p:spPr>
            <a:xfrm>
              <a:off x="11358071" y="169979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11603201" y="2089411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11121326" y="2092607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10814023" y="2492765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11312139" y="2524393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11785630" y="2524638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10613733" y="299419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10932889" y="2999724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11548884" y="300422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11868040" y="3004221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2" name="Google Shape;162;p26"/>
            <p:cNvCxnSpPr>
              <a:stCxn id="152" idx="3"/>
              <a:endCxn id="154" idx="0"/>
            </p:cNvCxnSpPr>
            <p:nvPr/>
          </p:nvCxnSpPr>
          <p:spPr>
            <a:xfrm flipH="1">
              <a:off x="11239735" y="1901835"/>
              <a:ext cx="153000" cy="1908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3" name="Google Shape;163;p26"/>
            <p:cNvCxnSpPr>
              <a:stCxn id="154" idx="3"/>
              <a:endCxn id="155" idx="7"/>
            </p:cNvCxnSpPr>
            <p:nvPr/>
          </p:nvCxnSpPr>
          <p:spPr>
            <a:xfrm flipH="1">
              <a:off x="11016190" y="2294643"/>
              <a:ext cx="139800" cy="2328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4" name="Google Shape;164;p26"/>
            <p:cNvCxnSpPr>
              <a:stCxn id="154" idx="4"/>
              <a:endCxn id="156" idx="1"/>
            </p:cNvCxnSpPr>
            <p:nvPr/>
          </p:nvCxnSpPr>
          <p:spPr>
            <a:xfrm>
              <a:off x="11239676" y="2329307"/>
              <a:ext cx="107100" cy="2298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5" name="Google Shape;165;p26"/>
            <p:cNvCxnSpPr/>
            <p:nvPr/>
          </p:nvCxnSpPr>
          <p:spPr>
            <a:xfrm flipH="1">
              <a:off x="10762696" y="2711252"/>
              <a:ext cx="118500" cy="274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6" name="Google Shape;166;p26"/>
            <p:cNvCxnSpPr>
              <a:stCxn id="155" idx="4"/>
              <a:endCxn id="159" idx="0"/>
            </p:cNvCxnSpPr>
            <p:nvPr/>
          </p:nvCxnSpPr>
          <p:spPr>
            <a:xfrm>
              <a:off x="10932373" y="2729465"/>
              <a:ext cx="118800" cy="2703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7" name="Google Shape;167;p26"/>
            <p:cNvCxnSpPr>
              <a:stCxn id="152" idx="5"/>
              <a:endCxn id="153" idx="0"/>
            </p:cNvCxnSpPr>
            <p:nvPr/>
          </p:nvCxnSpPr>
          <p:spPr>
            <a:xfrm>
              <a:off x="11560107" y="1901835"/>
              <a:ext cx="161400" cy="187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8" name="Google Shape;168;p26"/>
            <p:cNvCxnSpPr>
              <a:stCxn id="153" idx="5"/>
              <a:endCxn id="157" idx="0"/>
            </p:cNvCxnSpPr>
            <p:nvPr/>
          </p:nvCxnSpPr>
          <p:spPr>
            <a:xfrm>
              <a:off x="11805237" y="2291447"/>
              <a:ext cx="98700" cy="233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9" name="Google Shape;169;p26"/>
            <p:cNvCxnSpPr>
              <a:stCxn id="157" idx="4"/>
            </p:cNvCxnSpPr>
            <p:nvPr/>
          </p:nvCxnSpPr>
          <p:spPr>
            <a:xfrm>
              <a:off x="11903980" y="2761338"/>
              <a:ext cx="98100" cy="2532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0" name="Google Shape;170;p26"/>
            <p:cNvCxnSpPr>
              <a:stCxn id="157" idx="3"/>
            </p:cNvCxnSpPr>
            <p:nvPr/>
          </p:nvCxnSpPr>
          <p:spPr>
            <a:xfrm flipH="1">
              <a:off x="11708094" y="2726674"/>
              <a:ext cx="112200" cy="3312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1" name="Google Shape;171;p26"/>
          <p:cNvGrpSpPr/>
          <p:nvPr/>
        </p:nvGrpSpPr>
        <p:grpSpPr>
          <a:xfrm>
            <a:off x="7765076" y="2353611"/>
            <a:ext cx="1280603" cy="1060895"/>
            <a:chOff x="6606667" y="3700836"/>
            <a:chExt cx="1707471" cy="1414526"/>
          </a:xfrm>
        </p:grpSpPr>
        <p:sp>
          <p:nvSpPr>
            <p:cNvPr id="172" name="Google Shape;172;p26"/>
            <p:cNvSpPr/>
            <p:nvPr/>
          </p:nvSpPr>
          <p:spPr>
            <a:xfrm>
              <a:off x="6611765" y="3724612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7729883" y="3700836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6611765" y="4105056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6606667" y="4479706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6606667" y="4854356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7732560" y="4092166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7729883" y="4484124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7735438" y="4872362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26"/>
            <p:cNvCxnSpPr/>
            <p:nvPr/>
          </p:nvCxnSpPr>
          <p:spPr>
            <a:xfrm rot="10800000" flipH="1">
              <a:off x="7249412" y="3822003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81" name="Google Shape;181;p26"/>
            <p:cNvCxnSpPr/>
            <p:nvPr/>
          </p:nvCxnSpPr>
          <p:spPr>
            <a:xfrm rot="10800000" flipH="1">
              <a:off x="7244314" y="4202447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82" name="Google Shape;182;p26"/>
            <p:cNvCxnSpPr/>
            <p:nvPr/>
          </p:nvCxnSpPr>
          <p:spPr>
            <a:xfrm rot="10800000" flipH="1">
              <a:off x="7244314" y="4584800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83" name="Google Shape;183;p26"/>
            <p:cNvCxnSpPr/>
            <p:nvPr/>
          </p:nvCxnSpPr>
          <p:spPr>
            <a:xfrm rot="10800000" flipH="1">
              <a:off x="7226304" y="4954007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84" name="Google Shape;184;p26"/>
          <p:cNvSpPr txBox="1"/>
          <p:nvPr/>
        </p:nvSpPr>
        <p:spPr>
          <a:xfrm>
            <a:off x="3727152" y="2053794"/>
            <a:ext cx="1256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Wide-Column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5312885" y="2037797"/>
            <a:ext cx="1256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6535676" y="2000425"/>
            <a:ext cx="89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7782005" y="2029200"/>
            <a:ext cx="709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Value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5452045" y="1507942"/>
            <a:ext cx="2065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NoSQL Database</a:t>
            </a:r>
            <a:endParaRPr sz="14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0DB227-4E1C-6A89-7025-D3B731BF5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546"/>
            <a:ext cx="9144000" cy="856358"/>
          </a:xfrm>
          <a:prstGeom prst="rect">
            <a:avLst/>
          </a:prstGeom>
        </p:spPr>
      </p:pic>
      <p:sp>
        <p:nvSpPr>
          <p:cNvPr id="193" name="Google Shape;193;p27"/>
          <p:cNvSpPr/>
          <p:nvPr/>
        </p:nvSpPr>
        <p:spPr>
          <a:xfrm>
            <a:off x="3149351" y="11066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Apollo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243468" y="146826"/>
            <a:ext cx="1956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Key-value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251711" y="452008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3149351" y="23350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Ares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3149351" y="35634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5172263" y="35634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Love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6106976" y="35634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Beauty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5172251" y="23350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War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5172251" y="1106650"/>
            <a:ext cx="1031400" cy="1031400"/>
          </a:xfrm>
          <a:prstGeom prst="ellipse">
            <a:avLst/>
          </a:prstGeom>
          <a:noFill/>
          <a:ln w="9525" cap="flat" cmpd="sng">
            <a:solidFill>
              <a:srgbClr val="161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3133458" y="3885491"/>
            <a:ext cx="1063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Aphrodite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4397056" y="1543441"/>
            <a:ext cx="640500" cy="78900"/>
          </a:xfrm>
          <a:prstGeom prst="rightArrow">
            <a:avLst>
              <a:gd name="adj1" fmla="val 38023"/>
              <a:gd name="adj2" fmla="val 186470"/>
            </a:avLst>
          </a:prstGeom>
          <a:solidFill>
            <a:srgbClr val="9ACE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4375458" y="2811291"/>
            <a:ext cx="640500" cy="78900"/>
          </a:xfrm>
          <a:prstGeom prst="rightArrow">
            <a:avLst>
              <a:gd name="adj1" fmla="val 38023"/>
              <a:gd name="adj2" fmla="val 186470"/>
            </a:avLst>
          </a:prstGeom>
          <a:solidFill>
            <a:srgbClr val="9ACE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4378567" y="4079141"/>
            <a:ext cx="640500" cy="78900"/>
          </a:xfrm>
          <a:prstGeom prst="rightArrow">
            <a:avLst>
              <a:gd name="adj1" fmla="val 38023"/>
              <a:gd name="adj2" fmla="val 186470"/>
            </a:avLst>
          </a:prstGeom>
          <a:solidFill>
            <a:srgbClr val="9ACE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1326395" y="1407091"/>
            <a:ext cx="7428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sz="1700" b="1"/>
          </a:p>
        </p:txBody>
      </p:sp>
      <p:cxnSp>
        <p:nvCxnSpPr>
          <p:cNvPr id="207" name="Google Shape;207;p27"/>
          <p:cNvCxnSpPr>
            <a:stCxn id="206" idx="1"/>
            <a:endCxn id="196" idx="2"/>
          </p:cNvCxnSpPr>
          <p:nvPr/>
        </p:nvCxnSpPr>
        <p:spPr>
          <a:xfrm>
            <a:off x="1326395" y="1622341"/>
            <a:ext cx="1823100" cy="1228500"/>
          </a:xfrm>
          <a:prstGeom prst="curvedConnector3">
            <a:avLst>
              <a:gd name="adj1" fmla="val -18363"/>
            </a:avLst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8" name="Google Shape;208;p27"/>
          <p:cNvSpPr txBox="1"/>
          <p:nvPr/>
        </p:nvSpPr>
        <p:spPr>
          <a:xfrm>
            <a:off x="7319320" y="1367641"/>
            <a:ext cx="7428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Value</a:t>
            </a:r>
            <a:endParaRPr sz="1700" b="1"/>
          </a:p>
        </p:txBody>
      </p:sp>
      <p:cxnSp>
        <p:nvCxnSpPr>
          <p:cNvPr id="209" name="Google Shape;209;p27"/>
          <p:cNvCxnSpPr>
            <a:stCxn id="208" idx="3"/>
            <a:endCxn id="200" idx="6"/>
          </p:cNvCxnSpPr>
          <p:nvPr/>
        </p:nvCxnSpPr>
        <p:spPr>
          <a:xfrm flipH="1">
            <a:off x="6203651" y="1582891"/>
            <a:ext cx="1858469" cy="1267859"/>
          </a:xfrm>
          <a:prstGeom prst="curvedConnector3">
            <a:avLst>
              <a:gd name="adj1" fmla="val -22300"/>
            </a:avLst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18C972-AA0F-5C9F-A164-90A2505E80B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2D2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  <a:solidFill>
            <a:srgbClr val="D2D2FF"/>
          </a:solidFill>
        </p:spPr>
      </p:pic>
      <p:pic>
        <p:nvPicPr>
          <p:cNvPr id="214" name="Google Shape;214;p28" descr="Redis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6440" y="4662309"/>
            <a:ext cx="1258600" cy="420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28"/>
          <p:cNvGraphicFramePr/>
          <p:nvPr>
            <p:extLst>
              <p:ext uri="{D42A27DB-BD31-4B8C-83A1-F6EECF244321}">
                <p14:modId xmlns:p14="http://schemas.microsoft.com/office/powerpoint/2010/main" val="1056250171"/>
              </p:ext>
            </p:extLst>
          </p:nvPr>
        </p:nvGraphicFramePr>
        <p:xfrm>
          <a:off x="1133185" y="1263070"/>
          <a:ext cx="6877630" cy="2976918"/>
        </p:xfrm>
        <a:graphic>
          <a:graphicData uri="http://schemas.openxmlformats.org/drawingml/2006/table">
            <a:tbl>
              <a:tblPr firstRow="1">
                <a:noFill/>
                <a:tableStyleId>{0CBEE280-630F-4CF1-82A0-CADAD221C852}</a:tableStyleId>
              </a:tblPr>
              <a:tblGrid>
                <a:gridCol w="190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 dirty="0"/>
                        <a:t>Use Case</a:t>
                      </a:r>
                      <a:endParaRPr sz="1300" u="none" strike="noStrike" cap="none" dirty="0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 dirty="0"/>
                        <a:t>Description</a:t>
                      </a:r>
                      <a:endParaRPr sz="1300" u="none" strike="noStrike" cap="none" dirty="0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Caching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Speeds up data retrieval by storing frequently accessed data in memory, reducing the need to fetch it from the backend.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Session Management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Stores and manages user sessions, enhancing application performance and scalability.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Real-time Analytics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Powers real-time dashboards and analytics by swiftly processing and aggregating data.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/>
                        <a:t>Pub/Sub Messaging</a:t>
                      </a:r>
                      <a:endParaRPr sz="13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strike="noStrike" cap="none" dirty="0"/>
                        <a:t>Facilitates real-time communication between components through publish-subscribe messaging patterns.</a:t>
                      </a:r>
                      <a:endParaRPr sz="1300" u="none" strike="noStrike" cap="none" dirty="0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35520" marR="135520" marT="90347" marB="9034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" name="Google Shape;216;p28"/>
          <p:cNvSpPr txBox="1"/>
          <p:nvPr/>
        </p:nvSpPr>
        <p:spPr>
          <a:xfrm>
            <a:off x="302940" y="198864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Redis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288879" y="489185"/>
            <a:ext cx="2862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Use cases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07AA9DB-A75D-44A3-306E-7549479A8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pic>
        <p:nvPicPr>
          <p:cNvPr id="222" name="Google Shape;222;p29" descr="Redis Partitioning And Redis Cluster Local Setup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8872" y="1027411"/>
            <a:ext cx="5726255" cy="334031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 txBox="1"/>
          <p:nvPr/>
        </p:nvSpPr>
        <p:spPr>
          <a:xfrm>
            <a:off x="281445" y="171053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Redis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281445" y="481751"/>
            <a:ext cx="2862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Clusters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9" descr="Redis -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2700" y="4551822"/>
            <a:ext cx="1258600" cy="4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FF86F3-E102-307A-D51D-5D379DF2E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16" y="-19944"/>
            <a:ext cx="9144000" cy="856358"/>
          </a:xfrm>
          <a:prstGeom prst="rect">
            <a:avLst/>
          </a:prstGeom>
        </p:spPr>
      </p:pic>
      <p:sp>
        <p:nvSpPr>
          <p:cNvPr id="230" name="Google Shape;230;p30"/>
          <p:cNvSpPr/>
          <p:nvPr/>
        </p:nvSpPr>
        <p:spPr>
          <a:xfrm>
            <a:off x="2520000" y="1615930"/>
            <a:ext cx="4582800" cy="2764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2594552" y="1695383"/>
            <a:ext cx="1094700" cy="471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2594552" y="2377424"/>
            <a:ext cx="1094700" cy="471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2594552" y="3085472"/>
            <a:ext cx="1094700" cy="471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2781137" y="1779114"/>
            <a:ext cx="735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Apollo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2594552" y="3791595"/>
            <a:ext cx="1094700" cy="471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2651168" y="2470916"/>
            <a:ext cx="9966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25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Aphrodite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2835835" y="3169202"/>
            <a:ext cx="59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Ares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2771159" y="3875326"/>
            <a:ext cx="756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Kratos</a:t>
            </a:r>
            <a:endParaRPr sz="1350" i="0" u="none" strike="noStrike" cap="non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4181573" y="1898538"/>
            <a:ext cx="1011600" cy="2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5739118" y="1873415"/>
            <a:ext cx="1164300" cy="2556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4257850" y="1695718"/>
            <a:ext cx="1174800" cy="20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Duty</a:t>
            </a:r>
            <a:endParaRPr sz="1250" i="0" u="none" strike="noStrike" cap="none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4263725" y="3440996"/>
            <a:ext cx="1174800" cy="20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Dead</a:t>
            </a:r>
            <a:r>
              <a:rPr lang="en" sz="130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" sz="13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Gods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4268325" y="2461355"/>
            <a:ext cx="1164300" cy="2742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30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Love, happy</a:t>
            </a:r>
            <a:endParaRPr sz="1300" i="0" u="none" strike="noStrike" cap="none">
              <a:solidFill>
                <a:srgbClr val="26262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4263100" y="1899818"/>
            <a:ext cx="1164300" cy="2067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Sun</a:t>
            </a:r>
            <a:endParaRPr sz="1300" i="0" u="none" strike="noStrike" cap="none">
              <a:solidFill>
                <a:srgbClr val="26262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4263100" y="3090380"/>
            <a:ext cx="1164300" cy="183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latin typeface="Montserrat Light"/>
                <a:ea typeface="Montserrat Light"/>
                <a:cs typeface="Montserrat Light"/>
                <a:sym typeface="Montserrat Light"/>
              </a:rPr>
              <a:t>War</a:t>
            </a:r>
            <a:endParaRPr sz="130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4268325" y="3651905"/>
            <a:ext cx="1164300" cy="2067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13</a:t>
            </a:r>
            <a:endParaRPr sz="1300" i="0" u="none" strike="noStrike" cap="none">
              <a:solidFill>
                <a:srgbClr val="26262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5739125" y="1695730"/>
            <a:ext cx="1164300" cy="20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Color</a:t>
            </a:r>
            <a:endParaRPr sz="13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5739125" y="2461355"/>
            <a:ext cx="1164300" cy="2742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Sword</a:t>
            </a:r>
            <a:endParaRPr sz="1300" i="0" u="none" strike="noStrike" cap="none">
              <a:solidFill>
                <a:srgbClr val="26262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2520000" y="1126735"/>
            <a:ext cx="1258200" cy="417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4222028" y="1127682"/>
            <a:ext cx="1258200" cy="417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2673471" y="1173289"/>
            <a:ext cx="950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Row-key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4410820" y="1174300"/>
            <a:ext cx="9600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Columns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253" name="Google Shape;253;p30"/>
          <p:cNvCxnSpPr/>
          <p:nvPr/>
        </p:nvCxnSpPr>
        <p:spPr>
          <a:xfrm>
            <a:off x="3951385" y="1615918"/>
            <a:ext cx="0" cy="2764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4" name="Google Shape;254;p30"/>
          <p:cNvSpPr txBox="1"/>
          <p:nvPr/>
        </p:nvSpPr>
        <p:spPr>
          <a:xfrm>
            <a:off x="228600" y="117090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Wide-Column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281445" y="407411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4263725" y="2303705"/>
            <a:ext cx="1174800" cy="20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Duty</a:t>
            </a:r>
            <a:endParaRPr sz="13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257850" y="2911680"/>
            <a:ext cx="1174800" cy="20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Duty</a:t>
            </a:r>
            <a:endParaRPr sz="1250" i="0" u="none" strike="noStrike" cap="none">
              <a:solidFill>
                <a:srgbClr val="26262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5733875" y="2303705"/>
            <a:ext cx="1174800" cy="20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weapon</a:t>
            </a:r>
            <a:endParaRPr sz="1250" i="0" u="none" strike="noStrike" cap="non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6DC9821-75C4-037C-2251-B10B03994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479"/>
            <a:ext cx="9144000" cy="856358"/>
          </a:xfrm>
          <a:prstGeom prst="rect">
            <a:avLst/>
          </a:prstGeom>
        </p:spPr>
      </p:pic>
      <p:sp>
        <p:nvSpPr>
          <p:cNvPr id="265" name="Google Shape;265;p31"/>
          <p:cNvSpPr txBox="1"/>
          <p:nvPr/>
        </p:nvSpPr>
        <p:spPr>
          <a:xfrm>
            <a:off x="228600" y="11709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Apache Cassandra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221628" y="421485"/>
            <a:ext cx="23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User Cases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31"/>
          <p:cNvGraphicFramePr/>
          <p:nvPr>
            <p:extLst>
              <p:ext uri="{D42A27DB-BD31-4B8C-83A1-F6EECF244321}">
                <p14:modId xmlns:p14="http://schemas.microsoft.com/office/powerpoint/2010/main" val="3212365611"/>
              </p:ext>
            </p:extLst>
          </p:nvPr>
        </p:nvGraphicFramePr>
        <p:xfrm>
          <a:off x="1543050" y="1047750"/>
          <a:ext cx="6057900" cy="3130550"/>
        </p:xfrm>
        <a:graphic>
          <a:graphicData uri="http://schemas.openxmlformats.org/drawingml/2006/table">
            <a:tbl>
              <a:tblPr firstRow="1">
                <a:noFill/>
                <a:tableStyleId>{0CBEE280-630F-4CF1-82A0-CADAD221C852}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 dirty="0"/>
                        <a:t>Use Case</a:t>
                      </a:r>
                      <a:endParaRPr sz="1100" u="none" strike="noStrike" cap="none" dirty="0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Description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Online Retail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Managing e-commerce platforms, handling product catalogs, user profiles, and transaction records.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Social Media Analytics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Monitoring and analyzing social media interactions, tracking trends, and user engagement.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Real-Time Analytics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Enabling quick analysis of data streams for instant insights, critical in financial and logistics sectors.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Logging and Monitoring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 dirty="0"/>
                        <a:t>Centralized storage and analysis of logs and monitoring data from applications and servers.</a:t>
                      </a:r>
                      <a:endParaRPr sz="1100" u="none" strike="noStrike" cap="none" dirty="0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68" name="Google Shape;26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602" y="4499217"/>
            <a:ext cx="704795" cy="472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11F5A1E-E176-4DB6-53DE-74D8EEBB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537"/>
            <a:ext cx="9144000" cy="856358"/>
          </a:xfrm>
          <a:prstGeom prst="rect">
            <a:avLst/>
          </a:prstGeom>
        </p:spPr>
      </p:pic>
      <p:grpSp>
        <p:nvGrpSpPr>
          <p:cNvPr id="273" name="Google Shape;273;p32"/>
          <p:cNvGrpSpPr/>
          <p:nvPr/>
        </p:nvGrpSpPr>
        <p:grpSpPr>
          <a:xfrm>
            <a:off x="1416048" y="1373644"/>
            <a:ext cx="6197908" cy="2687282"/>
            <a:chOff x="1035075" y="1506420"/>
            <a:chExt cx="4648525" cy="2015501"/>
          </a:xfrm>
        </p:grpSpPr>
        <p:grpSp>
          <p:nvGrpSpPr>
            <p:cNvPr id="274" name="Google Shape;274;p32"/>
            <p:cNvGrpSpPr/>
            <p:nvPr/>
          </p:nvGrpSpPr>
          <p:grpSpPr>
            <a:xfrm rot="1384190">
              <a:off x="2201521" y="1745599"/>
              <a:ext cx="1522949" cy="1480692"/>
              <a:chOff x="7563454" y="2698717"/>
              <a:chExt cx="3030836" cy="2946740"/>
            </a:xfrm>
          </p:grpSpPr>
          <p:sp>
            <p:nvSpPr>
              <p:cNvPr id="275" name="Google Shape;275;p32"/>
              <p:cNvSpPr/>
              <p:nvPr/>
            </p:nvSpPr>
            <p:spPr>
              <a:xfrm>
                <a:off x="7845763" y="2885367"/>
                <a:ext cx="2565000" cy="2565000"/>
              </a:xfrm>
              <a:prstGeom prst="ellipse">
                <a:avLst/>
              </a:prstGeom>
              <a:solidFill>
                <a:srgbClr val="76C2E8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32"/>
              <p:cNvSpPr/>
              <p:nvPr/>
            </p:nvSpPr>
            <p:spPr>
              <a:xfrm rot="-1384544">
                <a:off x="8690868" y="2775232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2"/>
              <p:cNvSpPr/>
              <p:nvPr/>
            </p:nvSpPr>
            <p:spPr>
              <a:xfrm rot="-1384544">
                <a:off x="9307223" y="2750289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2"/>
              <p:cNvSpPr/>
              <p:nvPr/>
            </p:nvSpPr>
            <p:spPr>
              <a:xfrm rot="-1384544">
                <a:off x="9919488" y="3162552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2"/>
              <p:cNvSpPr/>
              <p:nvPr/>
            </p:nvSpPr>
            <p:spPr>
              <a:xfrm rot="-1111029">
                <a:off x="10214775" y="3780289"/>
                <a:ext cx="330616" cy="330616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2"/>
              <p:cNvSpPr/>
              <p:nvPr/>
            </p:nvSpPr>
            <p:spPr>
              <a:xfrm rot="-1384544">
                <a:off x="10212061" y="4517719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2"/>
              <p:cNvSpPr/>
              <p:nvPr/>
            </p:nvSpPr>
            <p:spPr>
              <a:xfrm rot="-1384544">
                <a:off x="9750710" y="4989462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 rot="-1384544">
                <a:off x="9249881" y="5263229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 rot="-1384544">
                <a:off x="8551964" y="5191400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2"/>
              <p:cNvSpPr/>
              <p:nvPr/>
            </p:nvSpPr>
            <p:spPr>
              <a:xfrm rot="-1384544">
                <a:off x="8033534" y="4860736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711019" y="3732944"/>
                <a:ext cx="330600" cy="330600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32"/>
              <p:cNvSpPr/>
              <p:nvPr/>
            </p:nvSpPr>
            <p:spPr>
              <a:xfrm>
                <a:off x="8070719" y="3080128"/>
                <a:ext cx="330600" cy="330600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32"/>
              <p:cNvSpPr txBox="1"/>
              <p:nvPr/>
            </p:nvSpPr>
            <p:spPr>
              <a:xfrm rot="-1384544">
                <a:off x="7613138" y="3669709"/>
                <a:ext cx="661313" cy="355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2"/>
              <p:cNvSpPr txBox="1"/>
              <p:nvPr/>
            </p:nvSpPr>
            <p:spPr>
              <a:xfrm rot="-1384544">
                <a:off x="7961582" y="3004404"/>
                <a:ext cx="661313" cy="355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2"/>
              <p:cNvSpPr/>
              <p:nvPr/>
            </p:nvSpPr>
            <p:spPr>
              <a:xfrm>
                <a:off x="7711019" y="4377345"/>
                <a:ext cx="330600" cy="330600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32"/>
              <p:cNvSpPr txBox="1"/>
              <p:nvPr/>
            </p:nvSpPr>
            <p:spPr>
              <a:xfrm rot="-1384544">
                <a:off x="7606747" y="4326994"/>
                <a:ext cx="661313" cy="355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" name="Google Shape;291;p32"/>
            <p:cNvSpPr/>
            <p:nvPr/>
          </p:nvSpPr>
          <p:spPr>
            <a:xfrm>
              <a:off x="1035075" y="2293334"/>
              <a:ext cx="686700" cy="230700"/>
            </a:xfrm>
            <a:prstGeom prst="roundRect">
              <a:avLst>
                <a:gd name="adj" fmla="val 16667"/>
              </a:avLst>
            </a:prstGeom>
            <a:solidFill>
              <a:srgbClr val="4163BB"/>
            </a:solidFill>
            <a:ln w="12700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Client </a:t>
              </a:r>
              <a:endParaRPr sz="11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292" name="Google Shape;292;p32"/>
            <p:cNvCxnSpPr/>
            <p:nvPr/>
          </p:nvCxnSpPr>
          <p:spPr>
            <a:xfrm>
              <a:off x="1761954" y="2349440"/>
              <a:ext cx="429000" cy="0"/>
            </a:xfrm>
            <a:prstGeom prst="straightConnector1">
              <a:avLst/>
            </a:prstGeom>
            <a:noFill/>
            <a:ln w="9525" cap="flat" cmpd="sng">
              <a:solidFill>
                <a:srgbClr val="4163BB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3" name="Google Shape;293;p32"/>
            <p:cNvCxnSpPr/>
            <p:nvPr/>
          </p:nvCxnSpPr>
          <p:spPr>
            <a:xfrm rot="10800000">
              <a:off x="1762184" y="2459825"/>
              <a:ext cx="428700" cy="0"/>
            </a:xfrm>
            <a:prstGeom prst="straightConnector1">
              <a:avLst/>
            </a:prstGeom>
            <a:noFill/>
            <a:ln w="95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4" name="Google Shape;294;p32"/>
            <p:cNvCxnSpPr/>
            <p:nvPr/>
          </p:nvCxnSpPr>
          <p:spPr>
            <a:xfrm>
              <a:off x="2380049" y="2500468"/>
              <a:ext cx="444600" cy="521700"/>
            </a:xfrm>
            <a:prstGeom prst="straightConnector1">
              <a:avLst/>
            </a:prstGeom>
            <a:noFill/>
            <a:ln w="9525" cap="flat" cmpd="sng">
              <a:solidFill>
                <a:srgbClr val="4163BB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5" name="Google Shape;295;p32"/>
            <p:cNvCxnSpPr>
              <a:stCxn id="290" idx="0"/>
            </p:cNvCxnSpPr>
            <p:nvPr/>
          </p:nvCxnSpPr>
          <p:spPr>
            <a:xfrm rot="10800000" flipH="1">
              <a:off x="2369744" y="1958154"/>
              <a:ext cx="649800" cy="367500"/>
            </a:xfrm>
            <a:prstGeom prst="straightConnector1">
              <a:avLst/>
            </a:prstGeom>
            <a:noFill/>
            <a:ln w="9525" cap="flat" cmpd="sng">
              <a:solidFill>
                <a:srgbClr val="4163BB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cxnSp>
          <p:nvCxnSpPr>
            <p:cNvPr id="296" name="Google Shape;296;p32"/>
            <p:cNvCxnSpPr/>
            <p:nvPr/>
          </p:nvCxnSpPr>
          <p:spPr>
            <a:xfrm rot="10800000">
              <a:off x="2421216" y="2464880"/>
              <a:ext cx="467700" cy="546900"/>
            </a:xfrm>
            <a:prstGeom prst="straightConnector1">
              <a:avLst/>
            </a:prstGeom>
            <a:noFill/>
            <a:ln w="95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7" name="Google Shape;297;p32"/>
            <p:cNvSpPr txBox="1"/>
            <p:nvPr/>
          </p:nvSpPr>
          <p:spPr>
            <a:xfrm>
              <a:off x="2977387" y="1601997"/>
              <a:ext cx="2598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R1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2"/>
            <p:cNvSpPr txBox="1"/>
            <p:nvPr/>
          </p:nvSpPr>
          <p:spPr>
            <a:xfrm>
              <a:off x="3351884" y="1724863"/>
              <a:ext cx="2598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R2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2"/>
            <p:cNvSpPr txBox="1"/>
            <p:nvPr/>
          </p:nvSpPr>
          <p:spPr>
            <a:xfrm>
              <a:off x="2734745" y="3249477"/>
              <a:ext cx="2598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R3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0" name="Google Shape;300;p32"/>
            <p:cNvCxnSpPr/>
            <p:nvPr/>
          </p:nvCxnSpPr>
          <p:spPr>
            <a:xfrm rot="10800000" flipH="1">
              <a:off x="2404814" y="2006012"/>
              <a:ext cx="877800" cy="420600"/>
            </a:xfrm>
            <a:prstGeom prst="straightConnector1">
              <a:avLst/>
            </a:prstGeom>
            <a:noFill/>
            <a:ln w="9525" cap="flat" cmpd="sng">
              <a:solidFill>
                <a:srgbClr val="4163BB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grpSp>
          <p:nvGrpSpPr>
            <p:cNvPr id="301" name="Google Shape;301;p32"/>
            <p:cNvGrpSpPr/>
            <p:nvPr/>
          </p:nvGrpSpPr>
          <p:grpSpPr>
            <a:xfrm rot="1384190">
              <a:off x="3931441" y="1802051"/>
              <a:ext cx="1522949" cy="1480692"/>
              <a:chOff x="7563454" y="2698717"/>
              <a:chExt cx="3030836" cy="2946740"/>
            </a:xfrm>
          </p:grpSpPr>
          <p:sp>
            <p:nvSpPr>
              <p:cNvPr id="302" name="Google Shape;302;p32"/>
              <p:cNvSpPr/>
              <p:nvPr/>
            </p:nvSpPr>
            <p:spPr>
              <a:xfrm>
                <a:off x="7845763" y="2885367"/>
                <a:ext cx="2565000" cy="2565000"/>
              </a:xfrm>
              <a:prstGeom prst="ellipse">
                <a:avLst/>
              </a:prstGeom>
              <a:solidFill>
                <a:srgbClr val="76C2E8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32"/>
              <p:cNvSpPr/>
              <p:nvPr/>
            </p:nvSpPr>
            <p:spPr>
              <a:xfrm rot="-1384544">
                <a:off x="8690868" y="2775232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2"/>
              <p:cNvSpPr/>
              <p:nvPr/>
            </p:nvSpPr>
            <p:spPr>
              <a:xfrm rot="-1384544">
                <a:off x="9307223" y="2750289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2"/>
              <p:cNvSpPr/>
              <p:nvPr/>
            </p:nvSpPr>
            <p:spPr>
              <a:xfrm rot="-1384544">
                <a:off x="9919488" y="3162552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2"/>
              <p:cNvSpPr/>
              <p:nvPr/>
            </p:nvSpPr>
            <p:spPr>
              <a:xfrm rot="-1111029">
                <a:off x="10214775" y="3780289"/>
                <a:ext cx="330616" cy="330616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2"/>
              <p:cNvSpPr/>
              <p:nvPr/>
            </p:nvSpPr>
            <p:spPr>
              <a:xfrm rot="-1384544">
                <a:off x="10212061" y="4517719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2"/>
              <p:cNvSpPr/>
              <p:nvPr/>
            </p:nvSpPr>
            <p:spPr>
              <a:xfrm rot="-1384544">
                <a:off x="9750710" y="4989462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2"/>
              <p:cNvSpPr/>
              <p:nvPr/>
            </p:nvSpPr>
            <p:spPr>
              <a:xfrm rot="-1384544">
                <a:off x="9249881" y="5263229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2"/>
              <p:cNvSpPr/>
              <p:nvPr/>
            </p:nvSpPr>
            <p:spPr>
              <a:xfrm rot="-1384544">
                <a:off x="8551964" y="5191400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2"/>
              <p:cNvSpPr/>
              <p:nvPr/>
            </p:nvSpPr>
            <p:spPr>
              <a:xfrm rot="-1384544">
                <a:off x="8033534" y="4860736"/>
                <a:ext cx="330657" cy="330657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2"/>
              <p:cNvSpPr/>
              <p:nvPr/>
            </p:nvSpPr>
            <p:spPr>
              <a:xfrm>
                <a:off x="7711019" y="3732944"/>
                <a:ext cx="330600" cy="330600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32"/>
              <p:cNvSpPr/>
              <p:nvPr/>
            </p:nvSpPr>
            <p:spPr>
              <a:xfrm>
                <a:off x="8070719" y="3080128"/>
                <a:ext cx="330600" cy="330600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32"/>
              <p:cNvSpPr txBox="1"/>
              <p:nvPr/>
            </p:nvSpPr>
            <p:spPr>
              <a:xfrm rot="-1384544">
                <a:off x="7613138" y="3669709"/>
                <a:ext cx="661313" cy="355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2"/>
              <p:cNvSpPr txBox="1"/>
              <p:nvPr/>
            </p:nvSpPr>
            <p:spPr>
              <a:xfrm rot="-1384544">
                <a:off x="7961582" y="3004404"/>
                <a:ext cx="661313" cy="355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2"/>
              <p:cNvSpPr/>
              <p:nvPr/>
            </p:nvSpPr>
            <p:spPr>
              <a:xfrm>
                <a:off x="7711019" y="4377345"/>
                <a:ext cx="330600" cy="330600"/>
              </a:xfrm>
              <a:prstGeom prst="ellipse">
                <a:avLst/>
              </a:prstGeom>
              <a:solidFill>
                <a:srgbClr val="1D5183"/>
              </a:solidFill>
              <a:ln w="12700" cap="flat" cmpd="sng">
                <a:solidFill>
                  <a:srgbClr val="153B5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32"/>
              <p:cNvSpPr txBox="1"/>
              <p:nvPr/>
            </p:nvSpPr>
            <p:spPr>
              <a:xfrm rot="-1384544">
                <a:off x="7606747" y="4326994"/>
                <a:ext cx="661313" cy="355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32"/>
            <p:cNvSpPr txBox="1"/>
            <p:nvPr/>
          </p:nvSpPr>
          <p:spPr>
            <a:xfrm>
              <a:off x="4707307" y="1658449"/>
              <a:ext cx="2598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R4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2"/>
            <p:cNvSpPr txBox="1"/>
            <p:nvPr/>
          </p:nvSpPr>
          <p:spPr>
            <a:xfrm>
              <a:off x="5081804" y="1781315"/>
              <a:ext cx="2598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R5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2"/>
            <p:cNvSpPr txBox="1"/>
            <p:nvPr/>
          </p:nvSpPr>
          <p:spPr>
            <a:xfrm>
              <a:off x="4464665" y="3263877"/>
              <a:ext cx="259800" cy="1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R6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2"/>
            <p:cNvSpPr txBox="1"/>
            <p:nvPr/>
          </p:nvSpPr>
          <p:spPr>
            <a:xfrm>
              <a:off x="2773752" y="2447150"/>
              <a:ext cx="686700" cy="2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DC1</a:t>
              </a:r>
              <a:endParaRPr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2"/>
            <p:cNvSpPr txBox="1"/>
            <p:nvPr/>
          </p:nvSpPr>
          <p:spPr>
            <a:xfrm>
              <a:off x="4489002" y="2480436"/>
              <a:ext cx="686700" cy="2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DC2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3" name="Google Shape;323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8856114">
              <a:off x="4100410" y="2149304"/>
              <a:ext cx="706875" cy="759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9514202">
              <a:off x="4139786" y="2245952"/>
              <a:ext cx="940856" cy="1011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7718491">
              <a:off x="4000132" y="2774910"/>
              <a:ext cx="732459" cy="78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800000">
              <a:off x="2506691" y="2392812"/>
              <a:ext cx="1397407" cy="1502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32"/>
          <p:cNvSpPr txBox="1"/>
          <p:nvPr/>
        </p:nvSpPr>
        <p:spPr>
          <a:xfrm>
            <a:off x="228600" y="9906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Apache Cassandra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2"/>
          <p:cNvSpPr txBox="1"/>
          <p:nvPr/>
        </p:nvSpPr>
        <p:spPr>
          <a:xfrm>
            <a:off x="258798" y="410889"/>
            <a:ext cx="23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Cluster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68;p31">
            <a:extLst>
              <a:ext uri="{FF2B5EF4-FFF2-40B4-BE49-F238E27FC236}">
                <a16:creationId xmlns:a16="http://schemas.microsoft.com/office/drawing/2014/main" id="{1F42CFC2-79AA-9CEE-A926-0C55961AB3C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602" y="4499217"/>
            <a:ext cx="704795" cy="472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30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/>
        </p:nvSpPr>
        <p:spPr>
          <a:xfrm>
            <a:off x="309829" y="1375695"/>
            <a:ext cx="3495300" cy="28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"Diana"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"duty"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:[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"Hunt"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"Moon"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"Nature"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],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"siblings"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:{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"Apollo"</a:t>
            </a: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550" b="0" i="0" u="none" strike="noStrike" cap="non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"brother"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}</a:t>
            </a:r>
            <a:endParaRPr sz="1550" b="0" i="0" u="none" strike="noStrike" cap="none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 b="0" i="0" u="none" strike="noStrike" cap="none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302702" y="335557"/>
            <a:ext cx="1973580" cy="34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Document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309829" y="656150"/>
            <a:ext cx="4272206" cy="28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33"/>
          <p:cNvPicPr preferRelativeResize="0"/>
          <p:nvPr/>
        </p:nvPicPr>
        <p:blipFill rotWithShape="1">
          <a:blip r:embed="rId3">
            <a:alphaModFix/>
          </a:blip>
          <a:srcRect l="17899" r="17899"/>
          <a:stretch/>
        </p:blipFill>
        <p:spPr>
          <a:xfrm>
            <a:off x="5115435" y="0"/>
            <a:ext cx="5322178" cy="5181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37AFE5-520A-69BF-E2DE-E66D3104A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3"/>
            <a:ext cx="9144000" cy="856358"/>
          </a:xfrm>
          <a:prstGeom prst="rect">
            <a:avLst/>
          </a:prstGeom>
        </p:spPr>
      </p:pic>
      <p:sp>
        <p:nvSpPr>
          <p:cNvPr id="344" name="Google Shape;344;p34"/>
          <p:cNvSpPr txBox="1"/>
          <p:nvPr/>
        </p:nvSpPr>
        <p:spPr>
          <a:xfrm>
            <a:off x="251460" y="16002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MongoDB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258798" y="472965"/>
            <a:ext cx="23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User Cases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" name="Google Shape;346;p34"/>
          <p:cNvGraphicFramePr/>
          <p:nvPr>
            <p:extLst>
              <p:ext uri="{D42A27DB-BD31-4B8C-83A1-F6EECF244321}">
                <p14:modId xmlns:p14="http://schemas.microsoft.com/office/powerpoint/2010/main" val="1889641331"/>
              </p:ext>
            </p:extLst>
          </p:nvPr>
        </p:nvGraphicFramePr>
        <p:xfrm>
          <a:off x="1338258" y="1070610"/>
          <a:ext cx="6194375" cy="3117850"/>
        </p:xfrm>
        <a:graphic>
          <a:graphicData uri="http://schemas.openxmlformats.org/drawingml/2006/table">
            <a:tbl>
              <a:tblPr firstRow="1">
                <a:noFill/>
                <a:tableStyleId>{0CBEE280-630F-4CF1-82A0-CADAD221C852}</a:tableStyleId>
              </a:tblPr>
              <a:tblGrid>
                <a:gridCol w="15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Use Case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Description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Content Management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Store and manage diverse content types like articles, images, and videos with schema flexibility.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Catalog Management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Efficiently organize and categorize products or items with changing attributes and metadata.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Mobile Applications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Provide offline capabilities and sync data seamlessly once online, enhancing user experience.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Social Media Platforms</a:t>
                      </a:r>
                      <a:endParaRPr sz="1100" u="none" strike="noStrike" cap="none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 dirty="0"/>
                        <a:t>Facilitate rapid storage and retrieval of user-generated content, profiles, and social interactions.</a:t>
                      </a:r>
                      <a:endParaRPr sz="1100" u="none" strike="noStrike" cap="none" dirty="0"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7" name="Google Shape;34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9652" y="4636061"/>
            <a:ext cx="1304696" cy="351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18093C-3E0C-16DE-6ECE-74D4A25B3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0"/>
            <a:ext cx="9144000" cy="856358"/>
          </a:xfrm>
          <a:prstGeom prst="rect">
            <a:avLst/>
          </a:prstGeom>
        </p:spPr>
      </p:pic>
      <p:sp>
        <p:nvSpPr>
          <p:cNvPr id="352" name="Google Shape;352;p35"/>
          <p:cNvSpPr txBox="1"/>
          <p:nvPr/>
        </p:nvSpPr>
        <p:spPr>
          <a:xfrm>
            <a:off x="228600" y="13716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MongoDB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236496" y="418881"/>
            <a:ext cx="23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Cluster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0" y="1059784"/>
            <a:ext cx="6547751" cy="30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3134" y="4690613"/>
            <a:ext cx="1017731" cy="274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38D170D-02B3-A4DD-3994-B82A6224D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034"/>
            <a:ext cx="9144000" cy="856358"/>
          </a:xfrm>
          <a:prstGeom prst="rect">
            <a:avLst/>
          </a:prstGeom>
        </p:spPr>
      </p:pic>
      <p:sp>
        <p:nvSpPr>
          <p:cNvPr id="360" name="Google Shape;360;p36"/>
          <p:cNvSpPr txBox="1"/>
          <p:nvPr/>
        </p:nvSpPr>
        <p:spPr>
          <a:xfrm>
            <a:off x="228600" y="17526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MongoDB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236496" y="487275"/>
            <a:ext cx="23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Cluster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705" y="1009650"/>
            <a:ext cx="6916274" cy="34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55;p35">
            <a:extLst>
              <a:ext uri="{FF2B5EF4-FFF2-40B4-BE49-F238E27FC236}">
                <a16:creationId xmlns:a16="http://schemas.microsoft.com/office/drawing/2014/main" id="{7C27C360-2560-3268-AC00-30D9A9CE9C9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3134" y="4690613"/>
            <a:ext cx="1017731" cy="274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0CCDA4-8790-BC08-84BD-21B80B67F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2" y="435"/>
            <a:ext cx="9144000" cy="856358"/>
          </a:xfrm>
          <a:prstGeom prst="rect">
            <a:avLst/>
          </a:prstGeom>
        </p:spPr>
      </p:pic>
      <p:sp>
        <p:nvSpPr>
          <p:cNvPr id="368" name="Google Shape;368;p37"/>
          <p:cNvSpPr/>
          <p:nvPr/>
        </p:nvSpPr>
        <p:spPr>
          <a:xfrm>
            <a:off x="4109269" y="3272667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2504156" y="1313742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37"/>
          <p:cNvSpPr/>
          <p:nvPr/>
        </p:nvSpPr>
        <p:spPr>
          <a:xfrm>
            <a:off x="5725559" y="1313742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37"/>
          <p:cNvSpPr/>
          <p:nvPr/>
        </p:nvSpPr>
        <p:spPr>
          <a:xfrm rot="10800000" flipH="1">
            <a:off x="2915850" y="2187300"/>
            <a:ext cx="1127100" cy="1665300"/>
          </a:xfrm>
          <a:prstGeom prst="bentArrow">
            <a:avLst>
              <a:gd name="adj1" fmla="val 3587"/>
              <a:gd name="adj2" fmla="val 9222"/>
              <a:gd name="adj3" fmla="val 12863"/>
              <a:gd name="adj4" fmla="val 4375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37"/>
          <p:cNvSpPr/>
          <p:nvPr/>
        </p:nvSpPr>
        <p:spPr>
          <a:xfrm rot="10800000">
            <a:off x="5115300" y="2173150"/>
            <a:ext cx="1126800" cy="1677300"/>
          </a:xfrm>
          <a:prstGeom prst="bentArrow">
            <a:avLst>
              <a:gd name="adj1" fmla="val 4200"/>
              <a:gd name="adj2" fmla="val 9222"/>
              <a:gd name="adj3" fmla="val 12863"/>
              <a:gd name="adj4" fmla="val 4375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7"/>
          <p:cNvSpPr/>
          <p:nvPr/>
        </p:nvSpPr>
        <p:spPr>
          <a:xfrm>
            <a:off x="2612731" y="1625924"/>
            <a:ext cx="683100" cy="29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Apollo</a:t>
            </a: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7"/>
          <p:cNvSpPr/>
          <p:nvPr/>
        </p:nvSpPr>
        <p:spPr>
          <a:xfrm>
            <a:off x="5906005" y="1625931"/>
            <a:ext cx="553500" cy="29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Ares</a:t>
            </a: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4207138" y="3582429"/>
            <a:ext cx="702300" cy="29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Kratos</a:t>
            </a: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37"/>
          <p:cNvSpPr/>
          <p:nvPr/>
        </p:nvSpPr>
        <p:spPr>
          <a:xfrm>
            <a:off x="3015197" y="3796313"/>
            <a:ext cx="9861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was killed by</a:t>
            </a:r>
            <a:endParaRPr sz="90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5334775" y="3820887"/>
            <a:ext cx="9861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was killed by</a:t>
            </a:r>
            <a:endParaRPr sz="90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3677440" y="2132728"/>
            <a:ext cx="5325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killed</a:t>
            </a:r>
            <a:endParaRPr sz="115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4909450" y="2132728"/>
            <a:ext cx="5325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 i="0" u="none" strike="noStrike" cap="none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killed</a:t>
            </a:r>
            <a:endParaRPr sz="115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37"/>
          <p:cNvSpPr/>
          <p:nvPr/>
        </p:nvSpPr>
        <p:spPr>
          <a:xfrm>
            <a:off x="4787825" y="1920825"/>
            <a:ext cx="937800" cy="1488300"/>
          </a:xfrm>
          <a:prstGeom prst="bentArrow">
            <a:avLst>
              <a:gd name="adj1" fmla="val 4945"/>
              <a:gd name="adj2" fmla="val 5927"/>
              <a:gd name="adj3" fmla="val 7904"/>
              <a:gd name="adj4" fmla="val 25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7"/>
          <p:cNvSpPr/>
          <p:nvPr/>
        </p:nvSpPr>
        <p:spPr>
          <a:xfrm>
            <a:off x="3474788" y="1677642"/>
            <a:ext cx="2194500" cy="186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7"/>
          <p:cNvSpPr txBox="1"/>
          <p:nvPr/>
        </p:nvSpPr>
        <p:spPr>
          <a:xfrm>
            <a:off x="228600" y="228600"/>
            <a:ext cx="1956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Graph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228107" y="533410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7"/>
          <p:cNvSpPr/>
          <p:nvPr/>
        </p:nvSpPr>
        <p:spPr>
          <a:xfrm flipH="1">
            <a:off x="3474800" y="1920813"/>
            <a:ext cx="937800" cy="1488300"/>
          </a:xfrm>
          <a:prstGeom prst="bentArrow">
            <a:avLst>
              <a:gd name="adj1" fmla="val 4945"/>
              <a:gd name="adj2" fmla="val 5927"/>
              <a:gd name="adj3" fmla="val 7904"/>
              <a:gd name="adj4" fmla="val 25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150" i="0" u="none" strike="noStrike" cap="none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C0832B-541D-3FDF-52D9-E9CE5A925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927"/>
            <a:ext cx="9144000" cy="856358"/>
          </a:xfrm>
          <a:prstGeom prst="rect">
            <a:avLst/>
          </a:prstGeom>
        </p:spPr>
      </p:pic>
      <p:sp>
        <p:nvSpPr>
          <p:cNvPr id="389" name="Google Shape;389;p38"/>
          <p:cNvSpPr txBox="1"/>
          <p:nvPr/>
        </p:nvSpPr>
        <p:spPr>
          <a:xfrm>
            <a:off x="228600" y="22860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Neo4J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38"/>
          <p:cNvGrpSpPr/>
          <p:nvPr/>
        </p:nvGrpSpPr>
        <p:grpSpPr>
          <a:xfrm>
            <a:off x="942150" y="1502887"/>
            <a:ext cx="4541050" cy="2596164"/>
            <a:chOff x="765125" y="1290925"/>
            <a:chExt cx="4541050" cy="3467100"/>
          </a:xfrm>
        </p:grpSpPr>
        <p:sp>
          <p:nvSpPr>
            <p:cNvPr id="391" name="Google Shape;391;p38"/>
            <p:cNvSpPr/>
            <p:nvPr/>
          </p:nvSpPr>
          <p:spPr>
            <a:xfrm>
              <a:off x="2281625" y="1290925"/>
              <a:ext cx="1671300" cy="1481100"/>
            </a:xfrm>
            <a:prstGeom prst="can">
              <a:avLst>
                <a:gd name="adj" fmla="val 25000"/>
              </a:avLst>
            </a:prstGeom>
            <a:solidFill>
              <a:srgbClr val="C9DAF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Leader</a:t>
              </a:r>
              <a:endParaRPr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3634875" y="3276925"/>
              <a:ext cx="1671300" cy="1481100"/>
            </a:xfrm>
            <a:prstGeom prst="can">
              <a:avLst>
                <a:gd name="adj" fmla="val 25000"/>
              </a:avLst>
            </a:prstGeom>
            <a:solidFill>
              <a:srgbClr val="C9DAF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Follower</a:t>
              </a:r>
              <a:endParaRPr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765125" y="3276925"/>
              <a:ext cx="1671300" cy="1481100"/>
            </a:xfrm>
            <a:prstGeom prst="can">
              <a:avLst>
                <a:gd name="adj" fmla="val 25000"/>
              </a:avLst>
            </a:prstGeom>
            <a:solidFill>
              <a:srgbClr val="C9DAF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Follower</a:t>
              </a:r>
              <a:endParaRPr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94" name="Google Shape;394;p38"/>
            <p:cNvCxnSpPr>
              <a:stCxn id="391" idx="3"/>
              <a:endCxn id="393" idx="1"/>
            </p:cNvCxnSpPr>
            <p:nvPr/>
          </p:nvCxnSpPr>
          <p:spPr>
            <a:xfrm rot="5400000">
              <a:off x="2106575" y="2266225"/>
              <a:ext cx="504900" cy="15165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95" name="Google Shape;395;p38"/>
            <p:cNvCxnSpPr>
              <a:stCxn id="391" idx="3"/>
              <a:endCxn id="392" idx="1"/>
            </p:cNvCxnSpPr>
            <p:nvPr/>
          </p:nvCxnSpPr>
          <p:spPr>
            <a:xfrm rot="-5400000" flipH="1">
              <a:off x="3541475" y="2347825"/>
              <a:ext cx="504900" cy="1353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396" name="Google Shape;396;p38"/>
          <p:cNvGrpSpPr/>
          <p:nvPr/>
        </p:nvGrpSpPr>
        <p:grpSpPr>
          <a:xfrm>
            <a:off x="6681650" y="1020679"/>
            <a:ext cx="1528532" cy="3182510"/>
            <a:chOff x="7207425" y="1043050"/>
            <a:chExt cx="1773650" cy="3980625"/>
          </a:xfrm>
        </p:grpSpPr>
        <p:sp>
          <p:nvSpPr>
            <p:cNvPr id="397" name="Google Shape;397;p38"/>
            <p:cNvSpPr/>
            <p:nvPr/>
          </p:nvSpPr>
          <p:spPr>
            <a:xfrm>
              <a:off x="7207425" y="1043050"/>
              <a:ext cx="1671300" cy="1481100"/>
            </a:xfrm>
            <a:prstGeom prst="can">
              <a:avLst>
                <a:gd name="adj" fmla="val 25000"/>
              </a:avLst>
            </a:prstGeom>
            <a:solidFill>
              <a:srgbClr val="C9DAF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Replica</a:t>
              </a:r>
              <a:endParaRPr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7309775" y="3542575"/>
              <a:ext cx="1671300" cy="1481100"/>
            </a:xfrm>
            <a:prstGeom prst="can">
              <a:avLst>
                <a:gd name="adj" fmla="val 25000"/>
              </a:avLst>
            </a:prstGeom>
            <a:solidFill>
              <a:srgbClr val="C9DAF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Replica</a:t>
              </a:r>
              <a:endParaRPr sz="14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399" name="Google Shape;39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320" y="4701105"/>
            <a:ext cx="922460" cy="34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38"/>
          <p:cNvCxnSpPr>
            <a:cxnSpLocks/>
            <a:endCxn id="397" idx="2"/>
          </p:cNvCxnSpPr>
          <p:nvPr/>
        </p:nvCxnSpPr>
        <p:spPr>
          <a:xfrm flipV="1">
            <a:off x="5483200" y="1612749"/>
            <a:ext cx="1198450" cy="88661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402" name="Google Shape;402;p38"/>
          <p:cNvCxnSpPr>
            <a:cxnSpLocks/>
            <a:endCxn id="398" idx="2"/>
          </p:cNvCxnSpPr>
          <p:nvPr/>
        </p:nvCxnSpPr>
        <p:spPr>
          <a:xfrm>
            <a:off x="5483200" y="2514600"/>
            <a:ext cx="1286655" cy="109651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pic>
        <p:nvPicPr>
          <p:cNvPr id="401" name="Google Shape;40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3725" y="2092675"/>
            <a:ext cx="4000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511A57-5116-31F2-F09A-164D180D3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sp>
        <p:nvSpPr>
          <p:cNvPr id="407" name="Google Shape;407;p39"/>
          <p:cNvSpPr txBox="1"/>
          <p:nvPr/>
        </p:nvSpPr>
        <p:spPr>
          <a:xfrm>
            <a:off x="228600" y="228600"/>
            <a:ext cx="2555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Neo4J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9"/>
          <p:cNvSpPr txBox="1"/>
          <p:nvPr/>
        </p:nvSpPr>
        <p:spPr>
          <a:xfrm>
            <a:off x="228600" y="513325"/>
            <a:ext cx="2314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User Cases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" name="Google Shape;409;p39"/>
          <p:cNvGraphicFramePr/>
          <p:nvPr>
            <p:extLst>
              <p:ext uri="{D42A27DB-BD31-4B8C-83A1-F6EECF244321}">
                <p14:modId xmlns:p14="http://schemas.microsoft.com/office/powerpoint/2010/main" val="3184302863"/>
              </p:ext>
            </p:extLst>
          </p:nvPr>
        </p:nvGraphicFramePr>
        <p:xfrm>
          <a:off x="2060750" y="1174222"/>
          <a:ext cx="5791200" cy="3301114"/>
        </p:xfrm>
        <a:graphic>
          <a:graphicData uri="http://schemas.openxmlformats.org/drawingml/2006/table">
            <a:tbl>
              <a:tblPr firstRow="1">
                <a:noFill/>
                <a:tableStyleId>{0CBEE280-630F-4CF1-82A0-CADAD221C852}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b="1" u="none" strike="noStrike" cap="none" dirty="0">
                          <a:solidFill>
                            <a:srgbClr val="373D49"/>
                          </a:solidFill>
                        </a:rPr>
                        <a:t>Use Case</a:t>
                      </a:r>
                      <a:endParaRPr sz="1050" u="none" strike="noStrike" cap="none" dirty="0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 anchor="b"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b="1" u="none" strike="noStrike" cap="none" dirty="0">
                          <a:solidFill>
                            <a:srgbClr val="373D49"/>
                          </a:solidFill>
                        </a:rPr>
                        <a:t>Description</a:t>
                      </a:r>
                      <a:endParaRPr sz="1050" u="none" strike="noStrike" cap="none" dirty="0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 anchor="b"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Social Networks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>
                    <a:solidFill>
                      <a:schemeClr val="bg2">
                        <a:lumMod val="40000"/>
                        <a:lumOff val="6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Modeling user profiles, friendships, and interactions for effective social networking platforms.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Recommendation Engines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>
                    <a:solidFill>
                      <a:schemeClr val="bg2">
                        <a:lumMod val="40000"/>
                        <a:lumOff val="6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Powering personalized recommendations by analyzing connections and preferences.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 dirty="0">
                          <a:solidFill>
                            <a:srgbClr val="373D49"/>
                          </a:solidFill>
                        </a:rPr>
                        <a:t>Knowledge Graphs</a:t>
                      </a:r>
                      <a:endParaRPr sz="1050" u="none" strike="noStrike" cap="none" dirty="0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>
                    <a:solidFill>
                      <a:schemeClr val="bg2">
                        <a:lumMod val="40000"/>
                        <a:lumOff val="6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Organizing and querying complex relationships in fields like healthcare, finance, and research.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Fraud Detection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>
                    <a:solidFill>
                      <a:schemeClr val="bg2">
                        <a:lumMod val="40000"/>
                        <a:lumOff val="6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>
                          <a:solidFill>
                            <a:srgbClr val="373D49"/>
                          </a:solidFill>
                        </a:rPr>
                        <a:t>Uncovering hidden patterns and connections indicative of fraudulent activities.</a:t>
                      </a:r>
                      <a:endParaRPr sz="1050" u="none" strike="noStrike" cap="none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 dirty="0">
                          <a:solidFill>
                            <a:srgbClr val="373D49"/>
                          </a:solidFill>
                        </a:rPr>
                        <a:t>Network Analysis</a:t>
                      </a:r>
                      <a:endParaRPr sz="1050" u="none" strike="noStrike" cap="none" dirty="0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>
                    <a:solidFill>
                      <a:schemeClr val="bg2">
                        <a:lumMod val="40000"/>
                        <a:lumOff val="6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strike="noStrike" cap="none" dirty="0">
                          <a:solidFill>
                            <a:srgbClr val="373D49"/>
                          </a:solidFill>
                        </a:rPr>
                        <a:t>Analyzing intricate relationships in data networks, such as transportation and communication.</a:t>
                      </a:r>
                      <a:endParaRPr sz="1050" u="none" strike="noStrike" cap="none" dirty="0">
                        <a:solidFill>
                          <a:srgbClr val="373D49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0" name="Google Shape;410;p39"/>
          <p:cNvSpPr/>
          <p:nvPr/>
        </p:nvSpPr>
        <p:spPr>
          <a:xfrm>
            <a:off x="8142315" y="167125"/>
            <a:ext cx="922460" cy="346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9C45A1-386A-24E0-186E-17E86DC24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grpSp>
        <p:nvGrpSpPr>
          <p:cNvPr id="415" name="Google Shape;415;p40"/>
          <p:cNvGrpSpPr/>
          <p:nvPr/>
        </p:nvGrpSpPr>
        <p:grpSpPr>
          <a:xfrm>
            <a:off x="1988820" y="1417823"/>
            <a:ext cx="6556020" cy="3497077"/>
            <a:chOff x="-4417" y="1817976"/>
            <a:chExt cx="6010098" cy="3205874"/>
          </a:xfrm>
        </p:grpSpPr>
        <p:cxnSp>
          <p:nvCxnSpPr>
            <p:cNvPr id="416" name="Google Shape;416;p40"/>
            <p:cNvCxnSpPr/>
            <p:nvPr/>
          </p:nvCxnSpPr>
          <p:spPr>
            <a:xfrm>
              <a:off x="1048031" y="1817976"/>
              <a:ext cx="0" cy="2745300"/>
            </a:xfrm>
            <a:prstGeom prst="straightConnector1">
              <a:avLst/>
            </a:prstGeom>
            <a:noFill/>
            <a:ln w="9525" cap="flat" cmpd="sng">
              <a:solidFill>
                <a:srgbClr val="444444"/>
              </a:solidFill>
              <a:prstDash val="solid"/>
              <a:round/>
              <a:headEnd type="stealth" w="med" len="med"/>
              <a:tailEnd type="none" w="sm" len="sm"/>
            </a:ln>
          </p:spPr>
        </p:cxnSp>
        <p:cxnSp>
          <p:nvCxnSpPr>
            <p:cNvPr id="417" name="Google Shape;417;p40"/>
            <p:cNvCxnSpPr/>
            <p:nvPr/>
          </p:nvCxnSpPr>
          <p:spPr>
            <a:xfrm>
              <a:off x="1051325" y="4565750"/>
              <a:ext cx="3575400" cy="5100"/>
            </a:xfrm>
            <a:prstGeom prst="straightConnector1">
              <a:avLst/>
            </a:prstGeom>
            <a:noFill/>
            <a:ln w="9525" cap="flat" cmpd="sng">
              <a:solidFill>
                <a:srgbClr val="44444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18" name="Google Shape;418;p40"/>
            <p:cNvSpPr txBox="1"/>
            <p:nvPr/>
          </p:nvSpPr>
          <p:spPr>
            <a:xfrm>
              <a:off x="-4417" y="2943126"/>
              <a:ext cx="1183200" cy="4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300" i="0" u="none" strike="noStrike" cap="none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Scalability</a:t>
              </a:r>
              <a:endParaRPr sz="130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419" name="Google Shape;419;p40"/>
            <p:cNvSpPr txBox="1"/>
            <p:nvPr/>
          </p:nvSpPr>
          <p:spPr>
            <a:xfrm>
              <a:off x="2113950" y="4570850"/>
              <a:ext cx="35112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300" i="0" u="none" strike="noStrike" cap="none">
                  <a:solidFill>
                    <a:srgbClr val="000000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Flexibility</a:t>
              </a:r>
              <a:endParaRPr sz="130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420" name="Google Shape;420;p40"/>
            <p:cNvSpPr/>
            <p:nvPr/>
          </p:nvSpPr>
          <p:spPr>
            <a:xfrm>
              <a:off x="1352655" y="1956201"/>
              <a:ext cx="272100" cy="275700"/>
            </a:xfrm>
            <a:prstGeom prst="ellipse">
              <a:avLst/>
            </a:prstGeom>
            <a:solidFill>
              <a:srgbClr val="EFEFEF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0"/>
            <p:cNvSpPr/>
            <p:nvPr/>
          </p:nvSpPr>
          <p:spPr>
            <a:xfrm>
              <a:off x="1985180" y="2487414"/>
              <a:ext cx="272100" cy="275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rgbClr val="3D85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0"/>
            <p:cNvSpPr/>
            <p:nvPr/>
          </p:nvSpPr>
          <p:spPr>
            <a:xfrm>
              <a:off x="2974930" y="3569501"/>
              <a:ext cx="272100" cy="275700"/>
            </a:xfrm>
            <a:prstGeom prst="ellipse">
              <a:avLst/>
            </a:prstGeom>
            <a:solidFill>
              <a:srgbClr val="FFD966"/>
            </a:solidFill>
            <a:ln w="9525" cap="flat" cmpd="sng">
              <a:solidFill>
                <a:srgbClr val="F1C23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3506081" y="4020876"/>
              <a:ext cx="272100" cy="2757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0"/>
            <p:cNvSpPr txBox="1"/>
            <p:nvPr/>
          </p:nvSpPr>
          <p:spPr>
            <a:xfrm>
              <a:off x="1685781" y="1825639"/>
              <a:ext cx="18999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000" i="0" u="none" strike="noStrike" cap="none" dirty="0">
                  <a:solidFill>
                    <a:srgbClr val="8080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key-value</a:t>
              </a:r>
              <a:endParaRPr sz="2000" i="0" u="none" strike="noStrike" cap="none" dirty="0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5" name="Google Shape;425;p40"/>
            <p:cNvSpPr txBox="1"/>
            <p:nvPr/>
          </p:nvSpPr>
          <p:spPr>
            <a:xfrm>
              <a:off x="2257281" y="2398777"/>
              <a:ext cx="17982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000" i="0" u="none" strike="noStrike" cap="none">
                  <a:solidFill>
                    <a:schemeClr val="accent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Column</a:t>
              </a:r>
              <a:endParaRPr sz="2000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6" name="Google Shape;426;p40"/>
            <p:cNvSpPr txBox="1"/>
            <p:nvPr/>
          </p:nvSpPr>
          <p:spPr>
            <a:xfrm>
              <a:off x="3337231" y="3496389"/>
              <a:ext cx="1899900" cy="41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000" i="0" u="none" strike="noStrike" cap="none">
                  <a:solidFill>
                    <a:srgbClr val="BF9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Document</a:t>
              </a:r>
              <a:endParaRPr sz="2000" i="0" u="none" strike="noStrike" cap="none">
                <a:solidFill>
                  <a:srgbClr val="BF9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7" name="Google Shape;427;p40"/>
            <p:cNvSpPr txBox="1"/>
            <p:nvPr/>
          </p:nvSpPr>
          <p:spPr>
            <a:xfrm>
              <a:off x="3778181" y="3932226"/>
              <a:ext cx="22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000" i="0" u="none" strike="noStrike" cap="none">
                  <a:solidFill>
                    <a:srgbClr val="274E1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Graph</a:t>
              </a:r>
              <a:endParaRPr sz="2000" i="0" u="none" strike="noStrike" cap="none">
                <a:solidFill>
                  <a:srgbClr val="274E1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2470930" y="3054201"/>
              <a:ext cx="272100" cy="275700"/>
            </a:xfrm>
            <a:prstGeom prst="ellipse">
              <a:avLst/>
            </a:prstGeom>
            <a:solidFill>
              <a:srgbClr val="A4C2F4"/>
            </a:solidFill>
            <a:ln w="9525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0"/>
            <p:cNvSpPr txBox="1"/>
            <p:nvPr/>
          </p:nvSpPr>
          <p:spPr>
            <a:xfrm>
              <a:off x="2743031" y="2971914"/>
              <a:ext cx="1798200" cy="41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" sz="2000" i="0" u="none" strike="noStrike" cap="none">
                  <a:solidFill>
                    <a:schemeClr val="accent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Time-series</a:t>
              </a:r>
              <a:endParaRPr sz="2000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30" name="Google Shape;430;p40"/>
          <p:cNvSpPr txBox="1"/>
          <p:nvPr/>
        </p:nvSpPr>
        <p:spPr>
          <a:xfrm>
            <a:off x="228600" y="228600"/>
            <a:ext cx="3050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Scalability vs Flexibility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0"/>
          <p:cNvSpPr txBox="1"/>
          <p:nvPr/>
        </p:nvSpPr>
        <p:spPr>
          <a:xfrm>
            <a:off x="226300" y="511152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Query and speed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A94ED06-E3D3-F4DC-0DFD-0B88BBBB4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206AB8C-C3E1-1BAD-0486-7D3558953D1E}"/>
              </a:ext>
            </a:extLst>
          </p:cNvPr>
          <p:cNvSpPr/>
          <p:nvPr/>
        </p:nvSpPr>
        <p:spPr>
          <a:xfrm>
            <a:off x="6723217" y="3275915"/>
            <a:ext cx="1882628" cy="1549093"/>
          </a:xfrm>
          <a:prstGeom prst="roundRect">
            <a:avLst>
              <a:gd name="adj" fmla="val 7813"/>
            </a:avLst>
          </a:prstGeom>
          <a:solidFill>
            <a:srgbClr val="BADC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9FDD29F-5FAD-10CC-44AA-E2FE9481E9D7}"/>
              </a:ext>
            </a:extLst>
          </p:cNvPr>
          <p:cNvSpPr/>
          <p:nvPr/>
        </p:nvSpPr>
        <p:spPr>
          <a:xfrm>
            <a:off x="6339461" y="1038847"/>
            <a:ext cx="2276381" cy="1549093"/>
          </a:xfrm>
          <a:prstGeom prst="roundRect">
            <a:avLst>
              <a:gd name="adj" fmla="val 7813"/>
            </a:avLst>
          </a:prstGeom>
          <a:solidFill>
            <a:srgbClr val="BA4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5F70253-B4C2-24C5-75AF-D9E409AE4A68}"/>
              </a:ext>
            </a:extLst>
          </p:cNvPr>
          <p:cNvSpPr/>
          <p:nvPr/>
        </p:nvSpPr>
        <p:spPr>
          <a:xfrm>
            <a:off x="376116" y="1773219"/>
            <a:ext cx="1882628" cy="1549093"/>
          </a:xfrm>
          <a:prstGeom prst="roundRect">
            <a:avLst>
              <a:gd name="adj" fmla="val 7813"/>
            </a:avLst>
          </a:prstGeom>
          <a:solidFill>
            <a:srgbClr val="C3D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6" name="Google Shape;436;p41"/>
          <p:cNvSpPr txBox="1"/>
          <p:nvPr/>
        </p:nvSpPr>
        <p:spPr>
          <a:xfrm>
            <a:off x="281452" y="156445"/>
            <a:ext cx="4124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CAP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1"/>
          <p:cNvSpPr txBox="1"/>
          <p:nvPr/>
        </p:nvSpPr>
        <p:spPr>
          <a:xfrm>
            <a:off x="281452" y="464830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Distributed database and trade-offs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41" descr="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698" y="1130858"/>
            <a:ext cx="5929303" cy="3323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 descr="1280px-MySQL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761" y="1950481"/>
            <a:ext cx="1017250" cy="47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1" descr="Mariadb-seal-browntext.svg_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101" y="2586929"/>
            <a:ext cx="1132570" cy="5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1" descr="1200px-Cassandra_logo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0863" y="3482840"/>
            <a:ext cx="927336" cy="560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1" descr="ria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35607" y="4302218"/>
            <a:ext cx="1057848" cy="305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1" descr="MongoDB-Logo-5c3a7405a85675366beb3a5ec4c032348c390b3f142f5e6dddf1d78e2df5cb5c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53511" y="1280460"/>
            <a:ext cx="1848283" cy="452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 descr="p1432653421.74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25174" y="1997390"/>
            <a:ext cx="1577409" cy="47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7236DF-4C3B-6A88-8E46-402AE44E7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452" name="Google Shape;452;p42"/>
          <p:cNvSpPr txBox="1"/>
          <p:nvPr/>
        </p:nvSpPr>
        <p:spPr>
          <a:xfrm>
            <a:off x="228600" y="228600"/>
            <a:ext cx="4936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PACELC – Extending the CAP Theorem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2"/>
          <p:cNvSpPr txBox="1"/>
          <p:nvPr/>
        </p:nvSpPr>
        <p:spPr>
          <a:xfrm>
            <a:off x="235730" y="548650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What happens when the system is not partitioned?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730" y="948190"/>
            <a:ext cx="3377256" cy="376926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2"/>
          <p:cNvSpPr txBox="1"/>
          <p:nvPr/>
        </p:nvSpPr>
        <p:spPr>
          <a:xfrm>
            <a:off x="-82800" y="1763325"/>
            <a:ext cx="43485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858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" sz="1200" b="1">
                <a:solidFill>
                  <a:srgbClr val="202122"/>
                </a:solidFill>
                <a:highlight>
                  <a:srgbClr val="FFFFFF"/>
                </a:highlight>
              </a:rPr>
              <a:t>PA/EL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 - prioritize availability and latency over consistency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6858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" sz="1200" b="1">
                <a:solidFill>
                  <a:srgbClr val="202122"/>
                </a:solidFill>
                <a:highlight>
                  <a:srgbClr val="FFFFFF"/>
                </a:highlight>
              </a:rPr>
              <a:t>PA/EC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 - when there is a partition, choose availability; else, choose consistency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6858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" sz="1200" b="1">
                <a:solidFill>
                  <a:srgbClr val="202122"/>
                </a:solidFill>
                <a:highlight>
                  <a:srgbClr val="FFFFFF"/>
                </a:highlight>
              </a:rPr>
              <a:t>PC/EL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 - when there is a partition, choose consistency; else, choose latency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6858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" sz="1200" b="1">
                <a:solidFill>
                  <a:srgbClr val="202122"/>
                </a:solidFill>
                <a:highlight>
                  <a:srgbClr val="FFFFFF"/>
                </a:highlight>
              </a:rPr>
              <a:t>PC/EC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</a:rPr>
              <a:t> - choose consistency at all times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D67FA0D-A83D-4E48-418D-E707B8A63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460" name="Google Shape;460;p43"/>
          <p:cNvSpPr txBox="1"/>
          <p:nvPr/>
        </p:nvSpPr>
        <p:spPr>
          <a:xfrm>
            <a:off x="228600" y="152400"/>
            <a:ext cx="5731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Data Processing in Modern Architectures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>
            <a:off x="250970" y="464830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From Raw Streams to Structured Analytics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3"/>
          <p:cNvSpPr txBox="1"/>
          <p:nvPr/>
        </p:nvSpPr>
        <p:spPr>
          <a:xfrm>
            <a:off x="4176675" y="1326450"/>
            <a:ext cx="45504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Data Lake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Stores </a:t>
            </a:r>
            <a:r>
              <a:rPr lang="en" sz="1100" b="1">
                <a:solidFill>
                  <a:schemeClr val="dk1"/>
                </a:solidFill>
              </a:rPr>
              <a:t>raw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b="1">
                <a:solidFill>
                  <a:schemeClr val="dk1"/>
                </a:solidFill>
              </a:rPr>
              <a:t>unstructured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lang="en" sz="1100" b="1">
                <a:solidFill>
                  <a:schemeClr val="dk1"/>
                </a:solidFill>
              </a:rPr>
              <a:t>semi-structured</a:t>
            </a:r>
            <a:r>
              <a:rPr lang="en" sz="1100">
                <a:solidFill>
                  <a:schemeClr val="dk1"/>
                </a:solidFill>
              </a:rPr>
              <a:t> data (JSON, images, logs, etc.)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Cheap, scalable, schema-on-read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Ideal for machine learning and big data analytics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turn into a “data swamp” if unmanaged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3" name="Google Shape;463;p43"/>
          <p:cNvSpPr txBox="1"/>
          <p:nvPr/>
        </p:nvSpPr>
        <p:spPr>
          <a:xfrm>
            <a:off x="322275" y="1326450"/>
            <a:ext cx="3854400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Data Warehouse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Stores </a:t>
            </a:r>
            <a:r>
              <a:rPr lang="en" sz="1100" b="1" dirty="0">
                <a:solidFill>
                  <a:schemeClr val="dk1"/>
                </a:solidFill>
              </a:rPr>
              <a:t>structured</a:t>
            </a:r>
            <a:r>
              <a:rPr lang="en" sz="1100" dirty="0">
                <a:solidFill>
                  <a:schemeClr val="dk1"/>
                </a:solidFill>
              </a:rPr>
              <a:t>, clean, analytical data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Schema-on-write, optimized for SQL queries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Powers BI tools and dashboards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Not suitable for huge unstructured datasets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9B4534-0BAE-AEAD-1996-E2DF1F117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468" name="Google Shape;468;p44"/>
          <p:cNvSpPr txBox="1"/>
          <p:nvPr/>
        </p:nvSpPr>
        <p:spPr>
          <a:xfrm>
            <a:off x="232575" y="177499"/>
            <a:ext cx="5731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ETL vs ELT – Data Transformation Strategies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4"/>
          <p:cNvSpPr txBox="1"/>
          <p:nvPr/>
        </p:nvSpPr>
        <p:spPr>
          <a:xfrm>
            <a:off x="228110" y="480070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Moving, Cleaning, and Structuring Data at Scale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4855220" y="1326450"/>
            <a:ext cx="4550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ELT – Extract, Load, Transform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322275" y="1326450"/>
            <a:ext cx="2775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ETL – Extract, Transform, Load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72" name="Google Shape;47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71" y="1920275"/>
            <a:ext cx="4253875" cy="21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9410" y="2199989"/>
            <a:ext cx="4573850" cy="147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D998DFD-1CE7-4700-252D-A0B4AA6DAEFD}"/>
              </a:ext>
            </a:extLst>
          </p:cNvPr>
          <p:cNvCxnSpPr/>
          <p:nvPr/>
        </p:nvCxnSpPr>
        <p:spPr>
          <a:xfrm>
            <a:off x="4495800" y="1518900"/>
            <a:ext cx="0" cy="2696225"/>
          </a:xfrm>
          <a:prstGeom prst="line">
            <a:avLst/>
          </a:prstGeom>
          <a:ln w="12700">
            <a:solidFill>
              <a:srgbClr val="24243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A4D248-B5CA-E409-E3D4-E65460C8B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478" name="Google Shape;478;p45"/>
          <p:cNvSpPr txBox="1"/>
          <p:nvPr/>
        </p:nvSpPr>
        <p:spPr>
          <a:xfrm>
            <a:off x="228600" y="137160"/>
            <a:ext cx="5731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Data Partitioning (Sharding)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5"/>
          <p:cNvSpPr txBox="1"/>
          <p:nvPr/>
        </p:nvSpPr>
        <p:spPr>
          <a:xfrm>
            <a:off x="281450" y="449590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How to Scale Databases Horizontally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5"/>
          <p:cNvSpPr txBox="1"/>
          <p:nvPr/>
        </p:nvSpPr>
        <p:spPr>
          <a:xfrm>
            <a:off x="361212" y="1592369"/>
            <a:ext cx="461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Sharding</a:t>
            </a:r>
            <a:r>
              <a:rPr lang="en" sz="1100" dirty="0">
                <a:solidFill>
                  <a:schemeClr val="dk1"/>
                </a:solidFill>
              </a:rPr>
              <a:t> is the process of </a:t>
            </a:r>
            <a:r>
              <a:rPr lang="en" sz="1100" b="1" dirty="0">
                <a:solidFill>
                  <a:schemeClr val="dk1"/>
                </a:solidFill>
              </a:rPr>
              <a:t>splitting data across multiple machines</a:t>
            </a:r>
            <a:r>
              <a:rPr lang="en" sz="1100" dirty="0">
                <a:solidFill>
                  <a:schemeClr val="dk1"/>
                </a:solidFill>
              </a:rPr>
              <a:t> (shards) to handle large volumes and high traffic.</a:t>
            </a:r>
            <a:endParaRPr dirty="0"/>
          </a:p>
        </p:txBody>
      </p:sp>
      <p:sp>
        <p:nvSpPr>
          <p:cNvPr id="481" name="Google Shape;481;p45"/>
          <p:cNvSpPr txBox="1"/>
          <p:nvPr/>
        </p:nvSpPr>
        <p:spPr>
          <a:xfrm>
            <a:off x="228600" y="2260091"/>
            <a:ext cx="57084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📈 </a:t>
            </a:r>
            <a:r>
              <a:rPr lang="en" sz="1100" b="1" dirty="0">
                <a:solidFill>
                  <a:schemeClr val="dk1"/>
                </a:solidFill>
              </a:rPr>
              <a:t>Scalability</a:t>
            </a:r>
            <a:r>
              <a:rPr lang="en" sz="1100" dirty="0">
                <a:solidFill>
                  <a:schemeClr val="dk1"/>
                </a:solidFill>
              </a:rPr>
              <a:t>: Spread load across multiple nodes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⚡ </a:t>
            </a:r>
            <a:r>
              <a:rPr lang="en" sz="1100" b="1" dirty="0">
                <a:solidFill>
                  <a:schemeClr val="dk1"/>
                </a:solidFill>
              </a:rPr>
              <a:t>Performance</a:t>
            </a:r>
            <a:r>
              <a:rPr lang="en" sz="1100" dirty="0">
                <a:solidFill>
                  <a:schemeClr val="dk1"/>
                </a:solidFill>
              </a:rPr>
              <a:t>: Reduce latency by reducing dataset per node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🔄 </a:t>
            </a:r>
            <a:r>
              <a:rPr lang="en" sz="1100" b="1" dirty="0">
                <a:solidFill>
                  <a:schemeClr val="dk1"/>
                </a:solidFill>
              </a:rPr>
              <a:t>Availability</a:t>
            </a:r>
            <a:r>
              <a:rPr lang="en" sz="1100" dirty="0">
                <a:solidFill>
                  <a:schemeClr val="dk1"/>
                </a:solidFill>
              </a:rPr>
              <a:t>: One shard down ≠ full system down (if well-designed)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4A6AEDAF-6870-1E34-BAC7-DA544ACFB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82" y="1523942"/>
            <a:ext cx="660054" cy="660054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B765BDF4-D1D2-DB11-FCBC-4DE414C69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4800" y="2992611"/>
            <a:ext cx="518545" cy="518545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539F7CA2-609B-F780-D509-AB33CFCC0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731" y="3251883"/>
            <a:ext cx="471405" cy="471405"/>
          </a:xfrm>
          <a:prstGeom prst="rect">
            <a:avLst/>
          </a:prstGeom>
        </p:spPr>
      </p:pic>
      <p:pic>
        <p:nvPicPr>
          <p:cNvPr id="11" name="Imagem 10" descr="Ícone&#10;&#10;O conteúdo gerado por IA pode estar incorreto.">
            <a:extLst>
              <a:ext uri="{FF2B5EF4-FFF2-40B4-BE49-F238E27FC236}">
                <a16:creationId xmlns:a16="http://schemas.microsoft.com/office/drawing/2014/main" id="{9F042A98-AF46-23B9-FFE0-8F6D755D7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004" y="2992611"/>
            <a:ext cx="518545" cy="51854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78C45F1-5644-A793-6A5E-764DD8E93B96}"/>
              </a:ext>
            </a:extLst>
          </p:cNvPr>
          <p:cNvSpPr txBox="1"/>
          <p:nvPr/>
        </p:nvSpPr>
        <p:spPr>
          <a:xfrm>
            <a:off x="6094931" y="2256274"/>
            <a:ext cx="1886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2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Monolithic DataBase </a:t>
            </a:r>
            <a:endParaRPr lang="pt-BR" sz="1200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2274468-5DDD-1882-FF06-C8E1D97B8B5F}"/>
              </a:ext>
            </a:extLst>
          </p:cNvPr>
          <p:cNvSpPr txBox="1"/>
          <p:nvPr/>
        </p:nvSpPr>
        <p:spPr>
          <a:xfrm>
            <a:off x="6087716" y="1114290"/>
            <a:ext cx="1886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dirty="0">
                <a:solidFill>
                  <a:srgbClr val="009ED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Sharding?</a:t>
            </a:r>
            <a:endParaRPr lang="pt-BR" dirty="0">
              <a:solidFill>
                <a:srgbClr val="009ED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CA1CDC8-08C8-65BE-FC89-5024C7D38940}"/>
              </a:ext>
            </a:extLst>
          </p:cNvPr>
          <p:cNvSpPr txBox="1"/>
          <p:nvPr/>
        </p:nvSpPr>
        <p:spPr>
          <a:xfrm>
            <a:off x="5231961" y="3529971"/>
            <a:ext cx="1886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1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Shard </a:t>
            </a:r>
            <a:endParaRPr lang="pt-BR" sz="1100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237E94B-0BA1-C7F4-0EE7-646057A56666}"/>
              </a:ext>
            </a:extLst>
          </p:cNvPr>
          <p:cNvSpPr txBox="1"/>
          <p:nvPr/>
        </p:nvSpPr>
        <p:spPr>
          <a:xfrm>
            <a:off x="6172858" y="3754540"/>
            <a:ext cx="1886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1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Shard </a:t>
            </a:r>
            <a:endParaRPr lang="pt-BR" sz="1100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71A0701-96EA-490F-1344-FE5C12E60B69}"/>
              </a:ext>
            </a:extLst>
          </p:cNvPr>
          <p:cNvSpPr txBox="1"/>
          <p:nvPr/>
        </p:nvSpPr>
        <p:spPr>
          <a:xfrm>
            <a:off x="7038109" y="3527634"/>
            <a:ext cx="1886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1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Shard </a:t>
            </a:r>
            <a:endParaRPr lang="pt-BR" sz="1100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D76316C2-8F80-1E12-6C9A-52AF739325DD}"/>
              </a:ext>
            </a:extLst>
          </p:cNvPr>
          <p:cNvCxnSpPr/>
          <p:nvPr/>
        </p:nvCxnSpPr>
        <p:spPr>
          <a:xfrm flipH="1">
            <a:off x="6396703" y="2634863"/>
            <a:ext cx="200891" cy="2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01FC1345-D335-1411-091B-4171BBC0E735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038109" y="2533273"/>
            <a:ext cx="29539" cy="560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0B0D661-49EF-6F37-3152-DA5B55422AB1}"/>
              </a:ext>
            </a:extLst>
          </p:cNvPr>
          <p:cNvCxnSpPr>
            <a:cxnSpLocks/>
          </p:cNvCxnSpPr>
          <p:nvPr/>
        </p:nvCxnSpPr>
        <p:spPr>
          <a:xfrm>
            <a:off x="7641217" y="2620932"/>
            <a:ext cx="210213" cy="267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234E015-93C7-01EA-C961-009C6B9F3090}"/>
              </a:ext>
            </a:extLst>
          </p:cNvPr>
          <p:cNvSpPr txBox="1"/>
          <p:nvPr/>
        </p:nvSpPr>
        <p:spPr>
          <a:xfrm>
            <a:off x="5154241" y="4108834"/>
            <a:ext cx="1886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200" dirty="0">
                <a:latin typeface="Poppins" panose="00000500000000000000" pitchFamily="2" charset="0"/>
                <a:cs typeface="Poppins" panose="00000500000000000000" pitchFamily="2" charset="0"/>
              </a:rPr>
              <a:t>✅ </a:t>
            </a:r>
            <a:r>
              <a:rPr lang="en" sz="1200" dirty="0">
                <a:solidFill>
                  <a:srgbClr val="009ED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Scalability</a:t>
            </a:r>
            <a:endParaRPr lang="pt-BR" sz="1200" dirty="0">
              <a:solidFill>
                <a:srgbClr val="009ED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B0A54C5-0CB3-80B6-01F6-EA32AAEE2BA2}"/>
              </a:ext>
            </a:extLst>
          </p:cNvPr>
          <p:cNvSpPr txBox="1"/>
          <p:nvPr/>
        </p:nvSpPr>
        <p:spPr>
          <a:xfrm>
            <a:off x="6708082" y="4122245"/>
            <a:ext cx="24386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200" dirty="0">
                <a:latin typeface="Poppins" panose="00000500000000000000" pitchFamily="2" charset="0"/>
                <a:cs typeface="Poppins" panose="00000500000000000000" pitchFamily="2" charset="0"/>
              </a:rPr>
              <a:t>✅ </a:t>
            </a:r>
            <a:r>
              <a:rPr lang="en" sz="1200" dirty="0">
                <a:solidFill>
                  <a:srgbClr val="009ED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Improvied performance</a:t>
            </a:r>
            <a:endParaRPr lang="pt-BR" sz="1200" dirty="0">
              <a:solidFill>
                <a:srgbClr val="009ED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C885A0A-72FA-3444-71E3-537DF2D263DB}"/>
              </a:ext>
            </a:extLst>
          </p:cNvPr>
          <p:cNvSpPr txBox="1"/>
          <p:nvPr/>
        </p:nvSpPr>
        <p:spPr>
          <a:xfrm>
            <a:off x="5937000" y="4522913"/>
            <a:ext cx="1886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200" dirty="0">
                <a:latin typeface="Poppins" panose="00000500000000000000" pitchFamily="2" charset="0"/>
                <a:cs typeface="Poppins" panose="00000500000000000000" pitchFamily="2" charset="0"/>
              </a:rPr>
              <a:t>✅ </a:t>
            </a:r>
            <a:r>
              <a:rPr lang="en" sz="1200" dirty="0">
                <a:solidFill>
                  <a:srgbClr val="009ED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Availability</a:t>
            </a:r>
            <a:endParaRPr lang="pt-BR" sz="1200" dirty="0">
              <a:solidFill>
                <a:srgbClr val="009ED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3FF2291-307D-F3FD-A5BD-7392EAE2A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487" name="Google Shape;487;p46"/>
          <p:cNvSpPr txBox="1"/>
          <p:nvPr/>
        </p:nvSpPr>
        <p:spPr>
          <a:xfrm>
            <a:off x="228600" y="228600"/>
            <a:ext cx="5731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Load Balancer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6"/>
          <p:cNvSpPr txBox="1"/>
          <p:nvPr/>
        </p:nvSpPr>
        <p:spPr>
          <a:xfrm>
            <a:off x="220490" y="495310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Distributing Traffic for Scalability and Reliability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6"/>
          <p:cNvSpPr txBox="1"/>
          <p:nvPr/>
        </p:nvSpPr>
        <p:spPr>
          <a:xfrm>
            <a:off x="281450" y="2064040"/>
            <a:ext cx="4614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⚖️ </a:t>
            </a:r>
            <a:r>
              <a:rPr lang="en" sz="1100" b="1" dirty="0">
                <a:solidFill>
                  <a:schemeClr val="dk1"/>
                </a:solidFill>
              </a:rPr>
              <a:t>Distributes load</a:t>
            </a:r>
            <a:r>
              <a:rPr lang="en" sz="1100" dirty="0">
                <a:solidFill>
                  <a:schemeClr val="dk1"/>
                </a:solidFill>
              </a:rPr>
              <a:t> to avoid bottlenecks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🔁 </a:t>
            </a:r>
            <a:r>
              <a:rPr lang="en" sz="1100" b="1" dirty="0">
                <a:solidFill>
                  <a:schemeClr val="dk1"/>
                </a:solidFill>
              </a:rPr>
              <a:t>Increases availability</a:t>
            </a:r>
            <a:r>
              <a:rPr lang="en" sz="1100" dirty="0">
                <a:solidFill>
                  <a:schemeClr val="dk1"/>
                </a:solidFill>
              </a:rPr>
              <a:t> by rerouting traffic if a server fails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📈 </a:t>
            </a:r>
            <a:r>
              <a:rPr lang="en" sz="1100" b="1" dirty="0">
                <a:solidFill>
                  <a:schemeClr val="dk1"/>
                </a:solidFill>
              </a:rPr>
              <a:t>Scales horizontally</a:t>
            </a:r>
            <a:r>
              <a:rPr lang="en" sz="1100" dirty="0">
                <a:solidFill>
                  <a:schemeClr val="dk1"/>
                </a:solidFill>
              </a:rPr>
              <a:t> by adding/removing instances easily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🔐 Can handle SSL termination, caching, health checks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BDE23BFB-D3EE-E9A3-6252-D699CDC31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151" y="1503442"/>
            <a:ext cx="3990743" cy="26604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BC81A9F-A399-9F40-E576-E552FE0D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495" name="Google Shape;495;p47"/>
          <p:cNvSpPr txBox="1"/>
          <p:nvPr/>
        </p:nvSpPr>
        <p:spPr>
          <a:xfrm>
            <a:off x="228600" y="121920"/>
            <a:ext cx="5731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Caches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235730" y="419110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Speeding Up Systems by Reducing Repetition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7"/>
          <p:cNvSpPr txBox="1"/>
          <p:nvPr/>
        </p:nvSpPr>
        <p:spPr>
          <a:xfrm>
            <a:off x="281450" y="2225400"/>
            <a:ext cx="3825856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Faster responses</a:t>
            </a:r>
            <a:r>
              <a:rPr lang="en" dirty="0">
                <a:solidFill>
                  <a:schemeClr val="dk1"/>
                </a:solidFill>
              </a:rPr>
              <a:t> (lower latency)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Reduces load</a:t>
            </a:r>
            <a:r>
              <a:rPr lang="en" dirty="0">
                <a:solidFill>
                  <a:schemeClr val="dk1"/>
                </a:solidFill>
              </a:rPr>
              <a:t> on databases and APIs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Improves scalability</a:t>
            </a:r>
            <a:r>
              <a:rPr lang="en" dirty="0">
                <a:solidFill>
                  <a:schemeClr val="dk1"/>
                </a:solidFill>
              </a:rPr>
              <a:t> by offloading repeated work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F4459DD-4D6E-48EA-E5B9-AC0804CEB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108" y="1500593"/>
            <a:ext cx="4230036" cy="28200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17A8E55-BF58-F56F-4D2E-A0B45F49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503" name="Google Shape;503;p48"/>
          <p:cNvSpPr txBox="1"/>
          <p:nvPr/>
        </p:nvSpPr>
        <p:spPr>
          <a:xfrm>
            <a:off x="228600" y="123670"/>
            <a:ext cx="5731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Distributed Databases &amp; Replication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8"/>
          <p:cNvSpPr txBox="1"/>
          <p:nvPr/>
        </p:nvSpPr>
        <p:spPr>
          <a:xfrm>
            <a:off x="242975" y="435475"/>
            <a:ext cx="5167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Scaling Data with Redundancy and Reach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CA36CF97-A699-E696-D3FE-536CD750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721" y="1083685"/>
            <a:ext cx="5436511" cy="36243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A885736-187B-9083-F6C0-0DB61AD3B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510" name="Google Shape;510;p49"/>
          <p:cNvSpPr txBox="1"/>
          <p:nvPr/>
        </p:nvSpPr>
        <p:spPr>
          <a:xfrm>
            <a:off x="228600" y="167640"/>
            <a:ext cx="4124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Masterless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9"/>
          <p:cNvSpPr txBox="1"/>
          <p:nvPr/>
        </p:nvSpPr>
        <p:spPr>
          <a:xfrm>
            <a:off x="223282" y="474870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Database replication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4261903" y="1214905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9"/>
          <p:cNvSpPr/>
          <p:nvPr/>
        </p:nvSpPr>
        <p:spPr>
          <a:xfrm>
            <a:off x="4261903" y="3859172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9"/>
          <p:cNvSpPr/>
          <p:nvPr/>
        </p:nvSpPr>
        <p:spPr>
          <a:xfrm>
            <a:off x="5758422" y="2599997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9"/>
          <p:cNvSpPr/>
          <p:nvPr/>
        </p:nvSpPr>
        <p:spPr>
          <a:xfrm>
            <a:off x="2765383" y="2599997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49"/>
          <p:cNvCxnSpPr>
            <a:stCxn id="515" idx="1"/>
            <a:endCxn id="512" idx="2"/>
          </p:cNvCxnSpPr>
          <p:nvPr/>
        </p:nvCxnSpPr>
        <p:spPr>
          <a:xfrm rot="-5400000">
            <a:off x="3226764" y="1564997"/>
            <a:ext cx="980400" cy="1089600"/>
          </a:xfrm>
          <a:prstGeom prst="curved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stealth" w="med" len="med"/>
            <a:tailEnd type="stealth" w="med" len="med"/>
          </a:ln>
        </p:spPr>
      </p:cxnSp>
      <p:cxnSp>
        <p:nvCxnSpPr>
          <p:cNvPr id="517" name="Google Shape;517;p49"/>
          <p:cNvCxnSpPr>
            <a:stCxn id="512" idx="4"/>
            <a:endCxn id="514" idx="1"/>
          </p:cNvCxnSpPr>
          <p:nvPr/>
        </p:nvCxnSpPr>
        <p:spPr>
          <a:xfrm>
            <a:off x="5075464" y="1619634"/>
            <a:ext cx="1089600" cy="980400"/>
          </a:xfrm>
          <a:prstGeom prst="curved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stealth" w="med" len="med"/>
            <a:tailEnd type="stealth" w="med" len="med"/>
          </a:ln>
        </p:spPr>
      </p:cxnSp>
      <p:cxnSp>
        <p:nvCxnSpPr>
          <p:cNvPr id="518" name="Google Shape;518;p49"/>
          <p:cNvCxnSpPr>
            <a:stCxn id="515" idx="3"/>
            <a:endCxn id="513" idx="2"/>
          </p:cNvCxnSpPr>
          <p:nvPr/>
        </p:nvCxnSpPr>
        <p:spPr>
          <a:xfrm rot="-5400000" flipH="1">
            <a:off x="3289764" y="3291855"/>
            <a:ext cx="854400" cy="1089600"/>
          </a:xfrm>
          <a:prstGeom prst="curved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stealth" w="med" len="med"/>
            <a:tailEnd type="stealth" w="med" len="med"/>
          </a:ln>
        </p:spPr>
      </p:cxnSp>
      <p:cxnSp>
        <p:nvCxnSpPr>
          <p:cNvPr id="519" name="Google Shape;519;p49"/>
          <p:cNvCxnSpPr>
            <a:stCxn id="514" idx="3"/>
            <a:endCxn id="513" idx="4"/>
          </p:cNvCxnSpPr>
          <p:nvPr/>
        </p:nvCxnSpPr>
        <p:spPr>
          <a:xfrm rot="5400000">
            <a:off x="5193203" y="3291855"/>
            <a:ext cx="854400" cy="1089600"/>
          </a:xfrm>
          <a:prstGeom prst="curvedConnector2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stealth" w="med" len="med"/>
            <a:tailEnd type="stealth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0E591C2-D77A-A35E-0F4A-950D43E91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524" name="Google Shape;524;p50"/>
          <p:cNvSpPr txBox="1"/>
          <p:nvPr/>
        </p:nvSpPr>
        <p:spPr>
          <a:xfrm>
            <a:off x="228600" y="167640"/>
            <a:ext cx="4124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Master-slave (leader-follow)</a:t>
            </a:r>
            <a:endParaRPr sz="27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235732" y="464830"/>
            <a:ext cx="4234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Database replication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0"/>
          <p:cNvSpPr/>
          <p:nvPr/>
        </p:nvSpPr>
        <p:spPr>
          <a:xfrm>
            <a:off x="4109471" y="1380057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0"/>
          <p:cNvSpPr/>
          <p:nvPr/>
        </p:nvSpPr>
        <p:spPr>
          <a:xfrm>
            <a:off x="4109471" y="3285049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0"/>
          <p:cNvSpPr/>
          <p:nvPr/>
        </p:nvSpPr>
        <p:spPr>
          <a:xfrm>
            <a:off x="6451215" y="3183299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0"/>
          <p:cNvSpPr/>
          <p:nvPr/>
        </p:nvSpPr>
        <p:spPr>
          <a:xfrm>
            <a:off x="1899676" y="3285049"/>
            <a:ext cx="813561" cy="809458"/>
          </a:xfrm>
          <a:prstGeom prst="flowChartMagneticDisk">
            <a:avLst/>
          </a:prstGeom>
          <a:gradFill>
            <a:gsLst>
              <a:gs pos="0">
                <a:srgbClr val="1FC0FF"/>
              </a:gs>
              <a:gs pos="100000">
                <a:srgbClr val="066D96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50"/>
          <p:cNvCxnSpPr>
            <a:stCxn id="526" idx="2"/>
            <a:endCxn id="529" idx="1"/>
          </p:cNvCxnSpPr>
          <p:nvPr/>
        </p:nvCxnSpPr>
        <p:spPr>
          <a:xfrm flipH="1">
            <a:off x="2306471" y="1784786"/>
            <a:ext cx="1803000" cy="15003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31" name="Google Shape;531;p50"/>
          <p:cNvCxnSpPr>
            <a:stCxn id="526" idx="3"/>
            <a:endCxn id="527" idx="1"/>
          </p:cNvCxnSpPr>
          <p:nvPr/>
        </p:nvCxnSpPr>
        <p:spPr>
          <a:xfrm rot="-5400000" flipH="1">
            <a:off x="3968752" y="2737015"/>
            <a:ext cx="10956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32" name="Google Shape;532;p50"/>
          <p:cNvCxnSpPr>
            <a:stCxn id="526" idx="4"/>
            <a:endCxn id="528" idx="1"/>
          </p:cNvCxnSpPr>
          <p:nvPr/>
        </p:nvCxnSpPr>
        <p:spPr>
          <a:xfrm>
            <a:off x="4923032" y="1784786"/>
            <a:ext cx="1935000" cy="13986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D153182-CB4C-B218-5875-210746B67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537" name="Google Shape;537;p51"/>
          <p:cNvSpPr txBox="1"/>
          <p:nvPr/>
        </p:nvSpPr>
        <p:spPr>
          <a:xfrm>
            <a:off x="241470" y="1259131"/>
            <a:ext cx="2679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i="0" u="none" strike="noStrike" cap="none" dirty="0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Application </a:t>
            </a:r>
            <a:endParaRPr sz="2000" i="0" u="none" strike="noStrike" cap="none" dirty="0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 sz="130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(Object Oriented Language)</a:t>
            </a:r>
            <a:endParaRPr sz="2000" i="0" u="none" strike="noStrike" cap="none" dirty="0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51"/>
          <p:cNvSpPr txBox="1"/>
          <p:nvPr/>
        </p:nvSpPr>
        <p:spPr>
          <a:xfrm>
            <a:off x="3755525" y="1824530"/>
            <a:ext cx="1383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" sz="14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Mismatch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1"/>
          <p:cNvSpPr txBox="1"/>
          <p:nvPr/>
        </p:nvSpPr>
        <p:spPr>
          <a:xfrm>
            <a:off x="5974118" y="1352597"/>
            <a:ext cx="2077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i="0" u="none" strike="noStrike" cap="non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  <a:endParaRPr sz="1300" i="0" u="none" strike="noStrike" cap="non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(Relational)</a:t>
            </a:r>
            <a:endParaRPr sz="13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0" name="Google Shape;540;p51"/>
          <p:cNvCxnSpPr>
            <a:stCxn id="541" idx="3"/>
          </p:cNvCxnSpPr>
          <p:nvPr/>
        </p:nvCxnSpPr>
        <p:spPr>
          <a:xfrm>
            <a:off x="2563320" y="2227795"/>
            <a:ext cx="3767400" cy="0"/>
          </a:xfrm>
          <a:prstGeom prst="straightConnector1">
            <a:avLst/>
          </a:prstGeom>
          <a:noFill/>
          <a:ln w="3810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542" name="Google Shape;542;p51"/>
          <p:cNvSpPr/>
          <p:nvPr/>
        </p:nvSpPr>
        <p:spPr>
          <a:xfrm rot="2700000">
            <a:off x="4296474" y="2077338"/>
            <a:ext cx="301227" cy="300803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1"/>
          <p:cNvSpPr txBox="1"/>
          <p:nvPr/>
        </p:nvSpPr>
        <p:spPr>
          <a:xfrm>
            <a:off x="599220" y="2031595"/>
            <a:ext cx="1964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i="0" u="none" strike="noStrike" cap="non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Object</a:t>
            </a:r>
            <a:endParaRPr sz="14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51"/>
          <p:cNvPicPr preferRelativeResize="0"/>
          <p:nvPr/>
        </p:nvPicPr>
        <p:blipFill rotWithShape="1">
          <a:blip r:embed="rId4">
            <a:alphaModFix/>
          </a:blip>
          <a:srcRect r="56550"/>
          <a:stretch/>
        </p:blipFill>
        <p:spPr>
          <a:xfrm>
            <a:off x="276357" y="3269584"/>
            <a:ext cx="1664400" cy="10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1"/>
          <p:cNvPicPr preferRelativeResize="0"/>
          <p:nvPr/>
        </p:nvPicPr>
        <p:blipFill rotWithShape="1">
          <a:blip r:embed="rId4">
            <a:alphaModFix/>
          </a:blip>
          <a:srcRect l="59540"/>
          <a:stretch/>
        </p:blipFill>
        <p:spPr>
          <a:xfrm>
            <a:off x="1788357" y="3270834"/>
            <a:ext cx="1549925" cy="10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6568" y="2765061"/>
            <a:ext cx="1217764" cy="8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1050" y="2808998"/>
            <a:ext cx="2387718" cy="8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41035" y="3838561"/>
            <a:ext cx="3049571" cy="98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51"/>
          <p:cNvCxnSpPr>
            <a:stCxn id="546" idx="3"/>
            <a:endCxn id="545" idx="1"/>
          </p:cNvCxnSpPr>
          <p:nvPr/>
        </p:nvCxnSpPr>
        <p:spPr>
          <a:xfrm rot="10800000" flipH="1">
            <a:off x="6728768" y="3209010"/>
            <a:ext cx="567900" cy="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9" name="Google Shape;549;p51"/>
          <p:cNvCxnSpPr>
            <a:stCxn id="545" idx="3"/>
            <a:endCxn id="547" idx="3"/>
          </p:cNvCxnSpPr>
          <p:nvPr/>
        </p:nvCxnSpPr>
        <p:spPr>
          <a:xfrm flipH="1">
            <a:off x="7390532" y="3208861"/>
            <a:ext cx="1123800" cy="1124100"/>
          </a:xfrm>
          <a:prstGeom prst="bentConnector3">
            <a:avLst>
              <a:gd name="adj1" fmla="val -2118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0" name="Google Shape;550;p51"/>
          <p:cNvSpPr txBox="1"/>
          <p:nvPr/>
        </p:nvSpPr>
        <p:spPr>
          <a:xfrm>
            <a:off x="304975" y="186625"/>
            <a:ext cx="3767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Challenges in a database land</a:t>
            </a:r>
            <a:endParaRPr sz="18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51"/>
          <p:cNvSpPr txBox="1"/>
          <p:nvPr/>
        </p:nvSpPr>
        <p:spPr>
          <a:xfrm>
            <a:off x="327345" y="491435"/>
            <a:ext cx="3421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Different paradigms: Apps x DBMS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51"/>
          <p:cNvSpPr txBox="1"/>
          <p:nvPr/>
        </p:nvSpPr>
        <p:spPr>
          <a:xfrm>
            <a:off x="5941350" y="1929797"/>
            <a:ext cx="1964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i="0" u="none" strike="noStrike" cap="none">
                <a:solidFill>
                  <a:srgbClr val="498AF4"/>
                </a:solidFill>
                <a:latin typeface="Montserrat"/>
                <a:ea typeface="Montserrat"/>
                <a:cs typeface="Montserrat"/>
                <a:sym typeface="Montserrat"/>
              </a:rPr>
              <a:t>Tables</a:t>
            </a:r>
            <a:endParaRPr sz="1400" i="0" u="none" strike="noStrike" cap="none">
              <a:solidFill>
                <a:srgbClr val="498A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9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E2AA3A2-A595-3496-2137-70EFDC58F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3"/>
            <a:ext cx="9144000" cy="856358"/>
          </a:xfrm>
          <a:prstGeom prst="rect">
            <a:avLst/>
          </a:prstGeom>
        </p:spPr>
      </p:pic>
      <p:sp>
        <p:nvSpPr>
          <p:cNvPr id="557" name="Google Shape;557;p52"/>
          <p:cNvSpPr/>
          <p:nvPr/>
        </p:nvSpPr>
        <p:spPr>
          <a:xfrm>
            <a:off x="4455425" y="1318467"/>
            <a:ext cx="3723000" cy="3359400"/>
          </a:xfrm>
          <a:prstGeom prst="rect">
            <a:avLst/>
          </a:prstGeom>
          <a:noFill/>
          <a:ln w="9525" cap="flat" cmpd="sng">
            <a:solidFill>
              <a:srgbClr val="308DD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2"/>
          <p:cNvSpPr/>
          <p:nvPr/>
        </p:nvSpPr>
        <p:spPr>
          <a:xfrm>
            <a:off x="732475" y="1318467"/>
            <a:ext cx="3723000" cy="3359400"/>
          </a:xfrm>
          <a:prstGeom prst="rect">
            <a:avLst/>
          </a:prstGeom>
          <a:noFill/>
          <a:ln w="9525" cap="flat" cmpd="sng">
            <a:solidFill>
              <a:srgbClr val="308DD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52"/>
          <p:cNvPicPr preferRelativeResize="0"/>
          <p:nvPr/>
        </p:nvPicPr>
        <p:blipFill rotWithShape="1">
          <a:blip r:embed="rId4">
            <a:alphaModFix/>
          </a:blip>
          <a:srcRect l="4692" t="7901" r="62969" b="24853"/>
          <a:stretch/>
        </p:blipFill>
        <p:spPr>
          <a:xfrm>
            <a:off x="839937" y="1567357"/>
            <a:ext cx="1802846" cy="880946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60" name="Google Shape;560;p52"/>
          <p:cNvPicPr preferRelativeResize="0"/>
          <p:nvPr/>
        </p:nvPicPr>
        <p:blipFill rotWithShape="1">
          <a:blip r:embed="rId4">
            <a:alphaModFix/>
          </a:blip>
          <a:srcRect l="73620" t="7901" r="5019" b="24853"/>
          <a:stretch/>
        </p:blipFill>
        <p:spPr>
          <a:xfrm>
            <a:off x="2411937" y="2593259"/>
            <a:ext cx="1190841" cy="880946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61" name="Google Shape;561;p52"/>
          <p:cNvSpPr txBox="1"/>
          <p:nvPr/>
        </p:nvSpPr>
        <p:spPr>
          <a:xfrm>
            <a:off x="3710843" y="2629789"/>
            <a:ext cx="1802700" cy="7389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E6B8AF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38100" dir="5400000" algn="bl" rotWithShape="0">
              <a:srgbClr val="C0504D">
                <a:alpha val="66670"/>
              </a:srgbClr>
            </a:outerShdw>
          </a:effectLst>
        </p:spPr>
        <p:txBody>
          <a:bodyPr spcFirstLastPara="1" wrap="square" lIns="121900" tIns="60925" rIns="121900" bIns="609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i="0" u="none" strike="noStrike" cap="none">
                <a:solidFill>
                  <a:srgbClr val="660000"/>
                </a:solidFill>
                <a:latin typeface="Montserrat"/>
                <a:ea typeface="Montserrat"/>
                <a:cs typeface="Montserrat"/>
                <a:sym typeface="Montserrat"/>
              </a:rPr>
              <a:t>Mapping Mismatch</a:t>
            </a:r>
            <a:endParaRPr sz="2000" i="0" u="none" strike="noStrike" cap="none">
              <a:solidFill>
                <a:srgbClr val="66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2" name="Google Shape;562;p52"/>
          <p:cNvCxnSpPr>
            <a:stCxn id="559" idx="2"/>
            <a:endCxn id="560" idx="1"/>
          </p:cNvCxnSpPr>
          <p:nvPr/>
        </p:nvCxnSpPr>
        <p:spPr>
          <a:xfrm rot="16200000" flipH="1">
            <a:off x="1783934" y="2405728"/>
            <a:ext cx="585429" cy="670577"/>
          </a:xfrm>
          <a:prstGeom prst="bentConnector2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diamond" w="med" len="med"/>
            <a:tailEnd type="stealth" w="med" len="med"/>
          </a:ln>
        </p:spPr>
      </p:cxnSp>
      <p:sp>
        <p:nvSpPr>
          <p:cNvPr id="563" name="Google Shape;563;p52"/>
          <p:cNvSpPr txBox="1"/>
          <p:nvPr/>
        </p:nvSpPr>
        <p:spPr>
          <a:xfrm>
            <a:off x="1581675" y="2425947"/>
            <a:ext cx="15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52"/>
          <p:cNvSpPr txBox="1"/>
          <p:nvPr/>
        </p:nvSpPr>
        <p:spPr>
          <a:xfrm>
            <a:off x="1021709" y="2881079"/>
            <a:ext cx="132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1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sz="1400" b="0" i="1" u="none" strike="noStrike" cap="none">
              <a:solidFill>
                <a:srgbClr val="80808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Addresses</a:t>
            </a:r>
            <a:endParaRPr sz="1000" b="0" i="1" u="none" strike="noStrike" cap="none">
              <a:solidFill>
                <a:srgbClr val="80808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52"/>
          <p:cNvSpPr txBox="1"/>
          <p:nvPr/>
        </p:nvSpPr>
        <p:spPr>
          <a:xfrm>
            <a:off x="1400164" y="3490291"/>
            <a:ext cx="3285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Inheritance</a:t>
            </a:r>
            <a:endParaRPr sz="1100" b="0" i="0" u="none" strike="noStrike" cap="non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Polymorphism</a:t>
            </a:r>
            <a:endParaRPr sz="1100" b="0" i="0" u="none" strike="noStrike" cap="non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Encapsulation</a:t>
            </a:r>
            <a:endParaRPr sz="1100" b="0" i="0" u="none" strike="noStrike" cap="non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Types</a:t>
            </a:r>
            <a:endParaRPr sz="1100" b="0" i="0" u="none" strike="noStrike" cap="none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52"/>
          <p:cNvSpPr txBox="1"/>
          <p:nvPr/>
        </p:nvSpPr>
        <p:spPr>
          <a:xfrm>
            <a:off x="4866731" y="4022307"/>
            <a:ext cx="25737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F497D"/>
                </a:solidFill>
                <a:latin typeface="Montserrat"/>
                <a:ea typeface="Montserrat"/>
                <a:cs typeface="Montserrat"/>
                <a:sym typeface="Montserrat"/>
              </a:rPr>
              <a:t>Normalization</a:t>
            </a:r>
            <a:endParaRPr sz="1100" b="0" i="0" u="none" strike="noStrike" cap="none">
              <a:solidFill>
                <a:srgbClr val="1F497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F497D"/>
                </a:solidFill>
                <a:latin typeface="Montserrat"/>
                <a:ea typeface="Montserrat"/>
                <a:cs typeface="Montserrat"/>
                <a:sym typeface="Montserrat"/>
              </a:rPr>
              <a:t>Denormalization</a:t>
            </a:r>
            <a:endParaRPr sz="1100" b="0" i="0" u="none" strike="noStrike" cap="none">
              <a:solidFill>
                <a:srgbClr val="1F497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F497D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sz="1100" b="0" i="0" u="none" strike="noStrike" cap="none">
              <a:solidFill>
                <a:srgbClr val="1F497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52"/>
          <p:cNvSpPr txBox="1"/>
          <p:nvPr/>
        </p:nvSpPr>
        <p:spPr>
          <a:xfrm>
            <a:off x="732475" y="1063490"/>
            <a:ext cx="372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i="0" u="none" strike="noStrike" cap="none">
                <a:solidFill>
                  <a:srgbClr val="4285F4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Application</a:t>
            </a:r>
            <a:endParaRPr sz="2000" i="0" u="none" strike="noStrike" cap="none">
              <a:solidFill>
                <a:srgbClr val="434343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8" name="Google Shape;568;p52"/>
          <p:cNvSpPr txBox="1"/>
          <p:nvPr/>
        </p:nvSpPr>
        <p:spPr>
          <a:xfrm>
            <a:off x="4499622" y="1086344"/>
            <a:ext cx="3793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i="0" u="none" strike="noStrike" cap="none" dirty="0">
                <a:solidFill>
                  <a:srgbClr val="4285F4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Database</a:t>
            </a:r>
            <a:endParaRPr sz="2000" i="0" u="none" strike="noStrike" cap="none" dirty="0">
              <a:solidFill>
                <a:srgbClr val="434343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569" name="Google Shape;569;p52"/>
          <p:cNvGraphicFramePr/>
          <p:nvPr>
            <p:extLst>
              <p:ext uri="{D42A27DB-BD31-4B8C-83A1-F6EECF244321}">
                <p14:modId xmlns:p14="http://schemas.microsoft.com/office/powerpoint/2010/main" val="79249582"/>
              </p:ext>
            </p:extLst>
          </p:nvPr>
        </p:nvGraphicFramePr>
        <p:xfrm>
          <a:off x="5688278" y="2041167"/>
          <a:ext cx="1314000" cy="644080"/>
        </p:xfrm>
        <a:graphic>
          <a:graphicData uri="http://schemas.openxmlformats.org/drawingml/2006/table">
            <a:tbl>
              <a:tblPr firstRow="1" bandRow="1">
                <a:noFill/>
                <a:tableStyleId>{BF603A6C-0B2D-4A7E-B235-EB2711AA7651}</a:tableStyleId>
              </a:tblPr>
              <a:tblGrid>
                <a:gridCol w="13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1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19550" marR="19550" marT="9775" marB="97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70" name="Google Shape;570;p52"/>
          <p:cNvGrpSpPr/>
          <p:nvPr/>
        </p:nvGrpSpPr>
        <p:grpSpPr>
          <a:xfrm>
            <a:off x="7180079" y="1994453"/>
            <a:ext cx="627007" cy="769434"/>
            <a:chOff x="8682028" y="1961519"/>
            <a:chExt cx="1049736" cy="1376693"/>
          </a:xfrm>
        </p:grpSpPr>
        <p:sp>
          <p:nvSpPr>
            <p:cNvPr id="571" name="Google Shape;571;p52"/>
            <p:cNvSpPr/>
            <p:nvPr/>
          </p:nvSpPr>
          <p:spPr>
            <a:xfrm>
              <a:off x="8824859" y="213360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52"/>
            <p:cNvSpPr/>
            <p:nvPr/>
          </p:nvSpPr>
          <p:spPr>
            <a:xfrm>
              <a:off x="9072210" y="248187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52"/>
            <p:cNvSpPr/>
            <p:nvPr/>
          </p:nvSpPr>
          <p:spPr>
            <a:xfrm>
              <a:off x="8682028" y="2600251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52"/>
            <p:cNvSpPr/>
            <p:nvPr/>
          </p:nvSpPr>
          <p:spPr>
            <a:xfrm>
              <a:off x="9302760" y="196151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52"/>
            <p:cNvSpPr/>
            <p:nvPr/>
          </p:nvSpPr>
          <p:spPr>
            <a:xfrm>
              <a:off x="8943738" y="2991386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2"/>
            <p:cNvSpPr/>
            <p:nvPr/>
          </p:nvSpPr>
          <p:spPr>
            <a:xfrm>
              <a:off x="9441837" y="275388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52"/>
            <p:cNvSpPr/>
            <p:nvPr/>
          </p:nvSpPr>
          <p:spPr>
            <a:xfrm>
              <a:off x="9495064" y="2287893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8" name="Google Shape;578;p52"/>
            <p:cNvCxnSpPr>
              <a:stCxn id="571" idx="6"/>
              <a:endCxn id="574" idx="3"/>
            </p:cNvCxnSpPr>
            <p:nvPr/>
          </p:nvCxnSpPr>
          <p:spPr>
            <a:xfrm rot="10800000" flipH="1">
              <a:off x="9061559" y="2163452"/>
              <a:ext cx="276000" cy="88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9" name="Google Shape;579;p52"/>
            <p:cNvCxnSpPr>
              <a:stCxn id="571" idx="3"/>
              <a:endCxn id="573" idx="0"/>
            </p:cNvCxnSpPr>
            <p:nvPr/>
          </p:nvCxnSpPr>
          <p:spPr>
            <a:xfrm flipH="1">
              <a:off x="8800423" y="2335638"/>
              <a:ext cx="59100" cy="2646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0" name="Google Shape;580;p52"/>
            <p:cNvCxnSpPr>
              <a:stCxn id="573" idx="4"/>
              <a:endCxn id="572" idx="3"/>
            </p:cNvCxnSpPr>
            <p:nvPr/>
          </p:nvCxnSpPr>
          <p:spPr>
            <a:xfrm rot="10800000" flipH="1">
              <a:off x="8800378" y="2683951"/>
              <a:ext cx="306600" cy="1530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1" name="Google Shape;581;p52"/>
            <p:cNvCxnSpPr>
              <a:stCxn id="571" idx="5"/>
              <a:endCxn id="572" idx="1"/>
            </p:cNvCxnSpPr>
            <p:nvPr/>
          </p:nvCxnSpPr>
          <p:spPr>
            <a:xfrm>
              <a:off x="9026895" y="2335638"/>
              <a:ext cx="80100" cy="1809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2" name="Google Shape;582;p52"/>
            <p:cNvCxnSpPr>
              <a:endCxn id="577" idx="0"/>
            </p:cNvCxnSpPr>
            <p:nvPr/>
          </p:nvCxnSpPr>
          <p:spPr>
            <a:xfrm>
              <a:off x="9421114" y="2079993"/>
              <a:ext cx="192300" cy="2079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3" name="Google Shape;583;p52"/>
            <p:cNvCxnSpPr>
              <a:stCxn id="577" idx="4"/>
              <a:endCxn id="576" idx="0"/>
            </p:cNvCxnSpPr>
            <p:nvPr/>
          </p:nvCxnSpPr>
          <p:spPr>
            <a:xfrm flipH="1">
              <a:off x="9560314" y="2524593"/>
              <a:ext cx="53100" cy="2292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4" name="Google Shape;584;p52"/>
            <p:cNvCxnSpPr>
              <a:stCxn id="575" idx="7"/>
              <a:endCxn id="572" idx="4"/>
            </p:cNvCxnSpPr>
            <p:nvPr/>
          </p:nvCxnSpPr>
          <p:spPr>
            <a:xfrm rot="10800000" flipH="1">
              <a:off x="9145774" y="2718550"/>
              <a:ext cx="44700" cy="307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5" name="Google Shape;585;p52"/>
            <p:cNvCxnSpPr>
              <a:stCxn id="572" idx="6"/>
              <a:endCxn id="576" idx="1"/>
            </p:cNvCxnSpPr>
            <p:nvPr/>
          </p:nvCxnSpPr>
          <p:spPr>
            <a:xfrm>
              <a:off x="9308910" y="2600229"/>
              <a:ext cx="167700" cy="1884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86" name="Google Shape;586;p52"/>
            <p:cNvSpPr/>
            <p:nvPr/>
          </p:nvSpPr>
          <p:spPr>
            <a:xfrm>
              <a:off x="9280539" y="310151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7" name="Google Shape;587;p52"/>
            <p:cNvCxnSpPr>
              <a:endCxn id="586" idx="6"/>
            </p:cNvCxnSpPr>
            <p:nvPr/>
          </p:nvCxnSpPr>
          <p:spPr>
            <a:xfrm flipH="1">
              <a:off x="9517239" y="2955862"/>
              <a:ext cx="77700" cy="2640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88" name="Google Shape;588;p52"/>
          <p:cNvGrpSpPr/>
          <p:nvPr/>
        </p:nvGrpSpPr>
        <p:grpSpPr>
          <a:xfrm>
            <a:off x="5688111" y="3057235"/>
            <a:ext cx="890578" cy="861334"/>
            <a:chOff x="10613733" y="1699799"/>
            <a:chExt cx="1491007" cy="1541123"/>
          </a:xfrm>
        </p:grpSpPr>
        <p:sp>
          <p:nvSpPr>
            <p:cNvPr id="589" name="Google Shape;589;p52"/>
            <p:cNvSpPr/>
            <p:nvPr/>
          </p:nvSpPr>
          <p:spPr>
            <a:xfrm>
              <a:off x="11358071" y="1699799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52"/>
            <p:cNvSpPr/>
            <p:nvPr/>
          </p:nvSpPr>
          <p:spPr>
            <a:xfrm>
              <a:off x="11603201" y="2089411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2"/>
            <p:cNvSpPr/>
            <p:nvPr/>
          </p:nvSpPr>
          <p:spPr>
            <a:xfrm>
              <a:off x="11121326" y="2092607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2"/>
            <p:cNvSpPr/>
            <p:nvPr/>
          </p:nvSpPr>
          <p:spPr>
            <a:xfrm>
              <a:off x="10814023" y="2492765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52"/>
            <p:cNvSpPr/>
            <p:nvPr/>
          </p:nvSpPr>
          <p:spPr>
            <a:xfrm>
              <a:off x="11312139" y="2524393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52"/>
            <p:cNvSpPr/>
            <p:nvPr/>
          </p:nvSpPr>
          <p:spPr>
            <a:xfrm>
              <a:off x="11785630" y="2524638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2"/>
            <p:cNvSpPr/>
            <p:nvPr/>
          </p:nvSpPr>
          <p:spPr>
            <a:xfrm>
              <a:off x="10613733" y="299419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2"/>
            <p:cNvSpPr/>
            <p:nvPr/>
          </p:nvSpPr>
          <p:spPr>
            <a:xfrm>
              <a:off x="10932889" y="2999724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52"/>
            <p:cNvSpPr/>
            <p:nvPr/>
          </p:nvSpPr>
          <p:spPr>
            <a:xfrm>
              <a:off x="11548884" y="3004222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52"/>
            <p:cNvSpPr/>
            <p:nvPr/>
          </p:nvSpPr>
          <p:spPr>
            <a:xfrm>
              <a:off x="11868040" y="3004221"/>
              <a:ext cx="236700" cy="2367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9" name="Google Shape;599;p52"/>
            <p:cNvCxnSpPr>
              <a:stCxn id="589" idx="3"/>
              <a:endCxn id="591" idx="0"/>
            </p:cNvCxnSpPr>
            <p:nvPr/>
          </p:nvCxnSpPr>
          <p:spPr>
            <a:xfrm flipH="1">
              <a:off x="11239735" y="1901835"/>
              <a:ext cx="153000" cy="1908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0" name="Google Shape;600;p52"/>
            <p:cNvCxnSpPr>
              <a:stCxn id="591" idx="3"/>
              <a:endCxn id="592" idx="7"/>
            </p:cNvCxnSpPr>
            <p:nvPr/>
          </p:nvCxnSpPr>
          <p:spPr>
            <a:xfrm flipH="1">
              <a:off x="11016190" y="2294643"/>
              <a:ext cx="139800" cy="2328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1" name="Google Shape;601;p52"/>
            <p:cNvCxnSpPr>
              <a:stCxn id="591" idx="4"/>
              <a:endCxn id="593" idx="1"/>
            </p:cNvCxnSpPr>
            <p:nvPr/>
          </p:nvCxnSpPr>
          <p:spPr>
            <a:xfrm>
              <a:off x="11239676" y="2329307"/>
              <a:ext cx="107100" cy="2298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2" name="Google Shape;602;p52"/>
            <p:cNvCxnSpPr/>
            <p:nvPr/>
          </p:nvCxnSpPr>
          <p:spPr>
            <a:xfrm flipH="1">
              <a:off x="10762696" y="2711252"/>
              <a:ext cx="118500" cy="274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3" name="Google Shape;603;p52"/>
            <p:cNvCxnSpPr>
              <a:stCxn id="592" idx="4"/>
              <a:endCxn id="596" idx="0"/>
            </p:cNvCxnSpPr>
            <p:nvPr/>
          </p:nvCxnSpPr>
          <p:spPr>
            <a:xfrm>
              <a:off x="10932373" y="2729465"/>
              <a:ext cx="118800" cy="2703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4" name="Google Shape;604;p52"/>
            <p:cNvCxnSpPr>
              <a:stCxn id="589" idx="5"/>
              <a:endCxn id="590" idx="0"/>
            </p:cNvCxnSpPr>
            <p:nvPr/>
          </p:nvCxnSpPr>
          <p:spPr>
            <a:xfrm>
              <a:off x="11560107" y="1901835"/>
              <a:ext cx="161400" cy="1875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5" name="Google Shape;605;p52"/>
            <p:cNvCxnSpPr>
              <a:stCxn id="590" idx="5"/>
              <a:endCxn id="594" idx="0"/>
            </p:cNvCxnSpPr>
            <p:nvPr/>
          </p:nvCxnSpPr>
          <p:spPr>
            <a:xfrm>
              <a:off x="11805237" y="2291447"/>
              <a:ext cx="98700" cy="233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6" name="Google Shape;606;p52"/>
            <p:cNvCxnSpPr>
              <a:stCxn id="594" idx="4"/>
            </p:cNvCxnSpPr>
            <p:nvPr/>
          </p:nvCxnSpPr>
          <p:spPr>
            <a:xfrm>
              <a:off x="11903980" y="2761338"/>
              <a:ext cx="98100" cy="2532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7" name="Google Shape;607;p52"/>
            <p:cNvCxnSpPr>
              <a:stCxn id="594" idx="3"/>
            </p:cNvCxnSpPr>
            <p:nvPr/>
          </p:nvCxnSpPr>
          <p:spPr>
            <a:xfrm flipH="1">
              <a:off x="11708094" y="2726674"/>
              <a:ext cx="112200" cy="3312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08" name="Google Shape;608;p52"/>
          <p:cNvGrpSpPr/>
          <p:nvPr/>
        </p:nvGrpSpPr>
        <p:grpSpPr>
          <a:xfrm>
            <a:off x="7112750" y="3118994"/>
            <a:ext cx="1019872" cy="790579"/>
            <a:chOff x="6606667" y="3700836"/>
            <a:chExt cx="1707471" cy="1414526"/>
          </a:xfrm>
        </p:grpSpPr>
        <p:sp>
          <p:nvSpPr>
            <p:cNvPr id="609" name="Google Shape;609;p52"/>
            <p:cNvSpPr/>
            <p:nvPr/>
          </p:nvSpPr>
          <p:spPr>
            <a:xfrm>
              <a:off x="6611765" y="3724612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2"/>
            <p:cNvSpPr/>
            <p:nvPr/>
          </p:nvSpPr>
          <p:spPr>
            <a:xfrm>
              <a:off x="7729883" y="3700836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3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2"/>
            <p:cNvSpPr/>
            <p:nvPr/>
          </p:nvSpPr>
          <p:spPr>
            <a:xfrm>
              <a:off x="6611765" y="4105056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2"/>
            <p:cNvSpPr/>
            <p:nvPr/>
          </p:nvSpPr>
          <p:spPr>
            <a:xfrm>
              <a:off x="6606667" y="4479706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2"/>
            <p:cNvSpPr/>
            <p:nvPr/>
          </p:nvSpPr>
          <p:spPr>
            <a:xfrm>
              <a:off x="6606667" y="4854356"/>
              <a:ext cx="578700" cy="251700"/>
            </a:xfrm>
            <a:prstGeom prst="rect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2"/>
            <p:cNvSpPr/>
            <p:nvPr/>
          </p:nvSpPr>
          <p:spPr>
            <a:xfrm>
              <a:off x="7732560" y="4092166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" sz="3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7729883" y="4484124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3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2"/>
            <p:cNvSpPr/>
            <p:nvPr/>
          </p:nvSpPr>
          <p:spPr>
            <a:xfrm>
              <a:off x="7735438" y="4872362"/>
              <a:ext cx="578700" cy="243000"/>
            </a:xfrm>
            <a:prstGeom prst="ellipse">
              <a:avLst/>
            </a:prstGeom>
            <a:solidFill>
              <a:srgbClr val="1D5183"/>
            </a:solidFill>
            <a:ln w="12700" cap="flat" cmpd="sng">
              <a:solidFill>
                <a:srgbClr val="153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" sz="3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7" name="Google Shape;617;p52"/>
            <p:cNvCxnSpPr/>
            <p:nvPr/>
          </p:nvCxnSpPr>
          <p:spPr>
            <a:xfrm rot="10800000" flipH="1">
              <a:off x="7249412" y="3822003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18" name="Google Shape;618;p52"/>
            <p:cNvCxnSpPr/>
            <p:nvPr/>
          </p:nvCxnSpPr>
          <p:spPr>
            <a:xfrm rot="10800000" flipH="1">
              <a:off x="7244314" y="4202447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19" name="Google Shape;619;p52"/>
            <p:cNvCxnSpPr/>
            <p:nvPr/>
          </p:nvCxnSpPr>
          <p:spPr>
            <a:xfrm rot="10800000" flipH="1">
              <a:off x="7244314" y="4584800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20" name="Google Shape;620;p52"/>
            <p:cNvCxnSpPr/>
            <p:nvPr/>
          </p:nvCxnSpPr>
          <p:spPr>
            <a:xfrm rot="10800000" flipH="1">
              <a:off x="7226304" y="4954007"/>
              <a:ext cx="261600" cy="2100"/>
            </a:xfrm>
            <a:prstGeom prst="straightConnector1">
              <a:avLst/>
            </a:prstGeom>
            <a:noFill/>
            <a:ln w="9525" cap="flat" cmpd="sng">
              <a:solidFill>
                <a:srgbClr val="1D5183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621" name="Google Shape;621;p52"/>
          <p:cNvSpPr txBox="1"/>
          <p:nvPr/>
        </p:nvSpPr>
        <p:spPr>
          <a:xfrm>
            <a:off x="5711333" y="1669292"/>
            <a:ext cx="100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wide-Column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2"/>
          <p:cNvSpPr txBox="1"/>
          <p:nvPr/>
        </p:nvSpPr>
        <p:spPr>
          <a:xfrm>
            <a:off x="6937024" y="1644148"/>
            <a:ext cx="668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2"/>
          <p:cNvSpPr txBox="1"/>
          <p:nvPr/>
        </p:nvSpPr>
        <p:spPr>
          <a:xfrm>
            <a:off x="5811450" y="2877082"/>
            <a:ext cx="702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2"/>
          <p:cNvSpPr txBox="1"/>
          <p:nvPr/>
        </p:nvSpPr>
        <p:spPr>
          <a:xfrm>
            <a:off x="7090314" y="2877090"/>
            <a:ext cx="102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Value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 txBox="1"/>
          <p:nvPr/>
        </p:nvSpPr>
        <p:spPr>
          <a:xfrm>
            <a:off x="242175" y="146840"/>
            <a:ext cx="3767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Challenges in a database land</a:t>
            </a:r>
            <a:endParaRPr sz="18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52"/>
          <p:cNvSpPr txBox="1"/>
          <p:nvPr/>
        </p:nvSpPr>
        <p:spPr>
          <a:xfrm>
            <a:off x="250055" y="444405"/>
            <a:ext cx="3421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400" i="0" u="none" strike="noStrike" cap="none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Different paradigms: Apps x DBMS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1D5183"/>
      </a:accent1>
      <a:accent2>
        <a:srgbClr val="4163BB"/>
      </a:accent2>
      <a:accent3>
        <a:srgbClr val="009EDC"/>
      </a:accent3>
      <a:accent4>
        <a:srgbClr val="4163BB"/>
      </a:accent4>
      <a:accent5>
        <a:srgbClr val="1D5183"/>
      </a:accent5>
      <a:accent6>
        <a:srgbClr val="009EDC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Props1.xml><?xml version="1.0" encoding="utf-8"?>
<ds:datastoreItem xmlns:ds="http://schemas.openxmlformats.org/officeDocument/2006/customXml" ds:itemID="{04C099EC-5F82-48C2-AB38-03E57995DC40}"/>
</file>

<file path=customXml/itemProps2.xml><?xml version="1.0" encoding="utf-8"?>
<ds:datastoreItem xmlns:ds="http://schemas.openxmlformats.org/officeDocument/2006/customXml" ds:itemID="{33C6B10E-9440-444A-BE2D-0581746F6310}"/>
</file>

<file path=customXml/itemProps3.xml><?xml version="1.0" encoding="utf-8"?>
<ds:datastoreItem xmlns:ds="http://schemas.openxmlformats.org/officeDocument/2006/customXml" ds:itemID="{625C4272-FE32-41C2-9514-A1C3B4AE4DB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Microsoft Office PowerPoint</Application>
  <PresentationFormat>Apresentação na tela (16:9)</PresentationFormat>
  <Paragraphs>380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32</vt:i4>
      </vt:variant>
    </vt:vector>
  </HeadingPairs>
  <TitlesOfParts>
    <vt:vector size="48" baseType="lpstr">
      <vt:lpstr>League Spartan</vt:lpstr>
      <vt:lpstr>Arial</vt:lpstr>
      <vt:lpstr>Roboto Mono</vt:lpstr>
      <vt:lpstr>League Spartan Light</vt:lpstr>
      <vt:lpstr>Montserrat</vt:lpstr>
      <vt:lpstr>Roboto Light</vt:lpstr>
      <vt:lpstr>Calibri</vt:lpstr>
      <vt:lpstr>Poppins</vt:lpstr>
      <vt:lpstr>Roboto</vt:lpstr>
      <vt:lpstr>Montserrat Light</vt:lpstr>
      <vt:lpstr>Montserrat Medium</vt:lpstr>
      <vt:lpstr>League Spartan Medium</vt:lpstr>
      <vt:lpstr>Palatino Linotype</vt:lpstr>
      <vt:lpstr>Main</vt:lpstr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1</cp:revision>
  <dcterms:modified xsi:type="dcterms:W3CDTF">2025-07-10T18:25:48Z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MediaServiceImageTags">
    <vt:lpwstr/>
  </property>
</Properties>
</file>