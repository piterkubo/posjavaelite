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4"/>
    <p:sldMasterId id="2147483666" r:id="rId5"/>
    <p:sldMasterId id="2147483667" r:id="rId6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Medium" panose="02000000000000000000" pitchFamily="2" charset="0"/>
      <p:regular r:id="rId47"/>
      <p:bold r:id="rId48"/>
      <p:italic r:id="rId49"/>
      <p:boldItalic r:id="rId50"/>
    </p:embeddedFont>
    <p:embeddedFont>
      <p:font typeface="Roboto Mono" panose="00000009000000000000" pitchFamily="49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tavio Santana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3E4C92-0323-474D-B3F6-9EFC611880AA}">
  <a:tblStyle styleId="{333E4C92-0323-474D-B3F6-9EFC61188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2" y="77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5.fntdata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font" Target="fonts/font1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Kelle Rodrigues Barbosa" userId="S::joyce.barbosa@kroton.com.br::8c08e31e-b3ba-42b8-b150-8158ecd9d93c" providerId="AD" clId="Web-{F73630CD-E927-D475-682E-DDA921290E15}"/>
    <pc:docChg chg="mod modMainMaster">
      <pc:chgData name="Joyce Kelle Rodrigues Barbosa" userId="S::joyce.barbosa@kroton.com.br::8c08e31e-b3ba-42b8-b150-8158ecd9d93c" providerId="AD" clId="Web-{F73630CD-E927-D475-682E-DDA921290E15}" dt="2025-08-18T14:09:10.002" v="1" actId="33475"/>
      <pc:docMkLst>
        <pc:docMk/>
      </pc:docMkLst>
      <pc:sldMasterChg chg="addSp">
        <pc:chgData name="Joyce Kelle Rodrigues Barbosa" userId="S::joyce.barbosa@kroton.com.br::8c08e31e-b3ba-42b8-b150-8158ecd9d93c" providerId="AD" clId="Web-{F73630CD-E927-D475-682E-DDA921290E15}" dt="2025-08-18T14:09:10.002" v="0" actId="33475"/>
        <pc:sldMasterMkLst>
          <pc:docMk/>
          <pc:sldMasterMk cId="0" sldId="2147483665"/>
        </pc:sldMasterMkLst>
        <pc:spChg chg="add">
          <ac:chgData name="Joyce Kelle Rodrigues Barbosa" userId="S::joyce.barbosa@kroton.com.br::8c08e31e-b3ba-42b8-b150-8158ecd9d93c" providerId="AD" clId="Web-{F73630CD-E927-D475-682E-DDA921290E15}" dt="2025-08-18T14:09:10.002" v="0" actId="33475"/>
          <ac:spMkLst>
            <pc:docMk/>
            <pc:sldMasterMk cId="0" sldId="2147483665"/>
            <ac:spMk id="3" creationId="{EEAA545A-DFC5-7AB9-CD65-29EDCB27B4D0}"/>
          </ac:spMkLst>
        </pc:spChg>
      </pc:sldMasterChg>
      <pc:sldMasterChg chg="addSp">
        <pc:chgData name="Joyce Kelle Rodrigues Barbosa" userId="S::joyce.barbosa@kroton.com.br::8c08e31e-b3ba-42b8-b150-8158ecd9d93c" providerId="AD" clId="Web-{F73630CD-E927-D475-682E-DDA921290E15}" dt="2025-08-18T14:09:10.002" v="0" actId="33475"/>
        <pc:sldMasterMkLst>
          <pc:docMk/>
          <pc:sldMasterMk cId="0" sldId="2147483666"/>
        </pc:sldMasterMkLst>
        <pc:spChg chg="add">
          <ac:chgData name="Joyce Kelle Rodrigues Barbosa" userId="S::joyce.barbosa@kroton.com.br::8c08e31e-b3ba-42b8-b150-8158ecd9d93c" providerId="AD" clId="Web-{F73630CD-E927-D475-682E-DDA921290E15}" dt="2025-08-18T14:09:10.002" v="0" actId="33475"/>
          <ac:spMkLst>
            <pc:docMk/>
            <pc:sldMasterMk cId="0" sldId="2147483666"/>
            <ac:spMk id="3" creationId="{1341507D-146D-DCBA-145B-A56FBB3DC0D6}"/>
          </ac:spMkLst>
        </pc:spChg>
      </pc:sldMasterChg>
      <pc:sldMasterChg chg="addSp">
        <pc:chgData name="Joyce Kelle Rodrigues Barbosa" userId="S::joyce.barbosa@kroton.com.br::8c08e31e-b3ba-42b8-b150-8158ecd9d93c" providerId="AD" clId="Web-{F73630CD-E927-D475-682E-DDA921290E15}" dt="2025-08-18T14:09:10.002" v="0" actId="33475"/>
        <pc:sldMasterMkLst>
          <pc:docMk/>
          <pc:sldMasterMk cId="0" sldId="2147483667"/>
        </pc:sldMasterMkLst>
        <pc:spChg chg="add">
          <ac:chgData name="Joyce Kelle Rodrigues Barbosa" userId="S::joyce.barbosa@kroton.com.br::8c08e31e-b3ba-42b8-b150-8158ecd9d93c" providerId="AD" clId="Web-{F73630CD-E927-D475-682E-DDA921290E15}" dt="2025-08-18T14:09:10.002" v="0" actId="33475"/>
          <ac:spMkLst>
            <pc:docMk/>
            <pc:sldMasterMk cId="0" sldId="2147483667"/>
            <ac:spMk id="3" creationId="{AEE0B3F9-4133-151C-9524-269A047AD6AE}"/>
          </ac:spMkLst>
        </pc:sp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10T07:08:30.630" idx="1">
    <p:pos x="2060" y="921"/>
    <p:text>Please, use the blue color as the slide.
I used this one here, because I find in a template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10T08:10:22.111" idx="2">
    <p:pos x="4028" y="1036"/>
    <p:text>Chatgpt generates it wrong!
the code should be: 
order.getCustomer().getAddress().getZipCode();
instead of: 
order.=...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4aaf05c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44aaf05c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4aaf05cb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44aaf05cba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44aaf05cba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4aaf05cb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44aaf05cba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44aaf05cba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4aaf05cba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44aaf05cba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🔗 From Architecture to Code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🏗️ </a:t>
            </a:r>
            <a:r>
              <a:rPr lang="en" b="1">
                <a:solidFill>
                  <a:schemeClr val="dk1"/>
                </a:solidFill>
              </a:rPr>
              <a:t>System Design</a:t>
            </a:r>
            <a:r>
              <a:rPr lang="en">
                <a:solidFill>
                  <a:schemeClr val="dk1"/>
                </a:solidFill>
              </a:rPr>
              <a:t> defines structure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🧭 </a:t>
            </a:r>
            <a:r>
              <a:rPr lang="en" b="1">
                <a:solidFill>
                  <a:schemeClr val="dk1"/>
                </a:solidFill>
              </a:rPr>
              <a:t>Software Architecture</a:t>
            </a:r>
            <a:r>
              <a:rPr lang="en">
                <a:solidFill>
                  <a:schemeClr val="dk1"/>
                </a:solidFill>
              </a:rPr>
              <a:t> defines responsibilities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💡 </a:t>
            </a:r>
            <a:r>
              <a:rPr lang="en" b="1">
                <a:solidFill>
                  <a:schemeClr val="dk1"/>
                </a:solidFill>
              </a:rPr>
              <a:t>Code Design</a:t>
            </a:r>
            <a:r>
              <a:rPr lang="en">
                <a:solidFill>
                  <a:schemeClr val="dk1"/>
                </a:solidFill>
              </a:rPr>
              <a:t> implements behavior, maintainability, and testability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❌ Without Good Code Design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system becomes hard to evolve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Teams misunderstand the original architecture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Technical debt grows fast — killing your architectural effort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❌ Without Good Code Design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system becomes hard to evolve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Teams misunderstand the original architecture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Technical debt grows fast — killing your architectural effort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44aaf05cba_0_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4aaf05cba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44aaf05cba_0_3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https://www.microsoft.com/en-us/research/wp-content/uploads/2025/06/Code_Researcher-1.pdf</a:t>
            </a:r>
            <a:endParaRPr/>
          </a:p>
        </p:txBody>
      </p:sp>
      <p:sp>
        <p:nvSpPr>
          <p:cNvPr id="125" name="Google Shape;125;g344aaf05cba_0_3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4aaf05cba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44aaf05cba_0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https://www.microsoft.com/en-us/research/wp-content/uploads/2025/06/Code_Researcher-1.pdf</a:t>
            </a:r>
            <a:endParaRPr/>
          </a:p>
        </p:txBody>
      </p:sp>
      <p:sp>
        <p:nvSpPr>
          <p:cNvPr id="137" name="Google Shape;137;g344aaf05cba_0_3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4aaf05cba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44aaf05cba_0_3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https://www.microsoft.com/en-us/research/wp-content/uploads/2025/06/Code_Researcher-1.pdf</a:t>
            </a:r>
            <a:endParaRPr/>
          </a:p>
        </p:txBody>
      </p:sp>
      <p:sp>
        <p:nvSpPr>
          <p:cNvPr id="147" name="Google Shape;147;g344aaf05cba_0_3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4aaf05cba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44aaf05cba_0_4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https://www.microsoft.com/en-us/research/wp-content/uploads/2025/06/Code_Researcher-1.pdf</a:t>
            </a:r>
            <a:endParaRPr/>
          </a:p>
        </p:txBody>
      </p:sp>
      <p:sp>
        <p:nvSpPr>
          <p:cNvPr id="158" name="Google Shape;158;g344aaf05cba_0_4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aaf05cba_0_4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44aaf05cba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4aaf05cba_0_4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44aaf05cba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e81bdf30c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6e81bdf30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e81bdf30c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6e81bdf30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e81bdf30c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6e81bdf30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e81bdf30c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6e81bdf30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4aaf05cba_0_5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44aaf05cba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4aaf05cba_0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44aaf05cba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4aaf05cba_0_5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44aaf05cba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4aaf05cba_0_5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</a:t>
            </a:r>
            <a:endParaRPr/>
          </a:p>
        </p:txBody>
      </p:sp>
      <p:sp>
        <p:nvSpPr>
          <p:cNvPr id="258" name="Google Shape;258;g344aaf05cba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4aaf05cba_0_5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</a:t>
            </a:r>
            <a:endParaRPr/>
          </a:p>
        </p:txBody>
      </p:sp>
      <p:sp>
        <p:nvSpPr>
          <p:cNvPr id="269" name="Google Shape;269;g344aaf05cba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4aaf05cba_0_6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</a:t>
            </a:r>
            <a:endParaRPr/>
          </a:p>
        </p:txBody>
      </p:sp>
      <p:sp>
        <p:nvSpPr>
          <p:cNvPr id="278" name="Google Shape;278;g344aaf05cba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4aaf05cba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44aaf05cba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e81bdf30c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6e81bdf30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4aaf05cba_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44aaf05cba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4aaf05cba_1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44aaf05cba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4aaf05cba_1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44aaf05cba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693" y="102415"/>
            <a:ext cx="569264" cy="664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693" y="102415"/>
            <a:ext cx="569264" cy="664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EAA545A-DFC5-7AB9-CD65-29EDCB27B4D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341507D-146D-DCBA-145B-A56FBB3DC0D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EE0B3F9-4133-151C-9524-269A047AD6A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comments" Target="../comments/commen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ctrTitle"/>
          </p:nvPr>
        </p:nvSpPr>
        <p:spPr>
          <a:xfrm>
            <a:off x="2414499" y="1281325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2700">
                <a:solidFill>
                  <a:srgbClr val="0FB1ED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1700" b="0" i="0" u="none" strike="noStrike" cap="none">
              <a:solidFill>
                <a:srgbClr val="0FB1E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7" name="Google Shape;57;p21"/>
          <p:cNvCxnSpPr/>
          <p:nvPr/>
        </p:nvCxnSpPr>
        <p:spPr>
          <a:xfrm>
            <a:off x="2414500" y="1625975"/>
            <a:ext cx="0" cy="1919700"/>
          </a:xfrm>
          <a:prstGeom prst="straightConnector1">
            <a:avLst/>
          </a:prstGeom>
          <a:noFill/>
          <a:ln w="19050" cap="flat" cmpd="sng">
            <a:solidFill>
              <a:srgbClr val="00436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8" name="Google Shape;5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200" y="1792175"/>
            <a:ext cx="1378801" cy="155915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1"/>
          <p:cNvSpPr txBox="1"/>
          <p:nvPr/>
        </p:nvSpPr>
        <p:spPr>
          <a:xfrm>
            <a:off x="2437295" y="2571750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overview Code Principles</a:t>
            </a: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21"/>
          <p:cNvSpPr txBox="1"/>
          <p:nvPr/>
        </p:nvSpPr>
        <p:spPr>
          <a:xfrm>
            <a:off x="886200" y="4319700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325" y="4628400"/>
            <a:ext cx="130350" cy="1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/>
        </p:nvSpPr>
        <p:spPr>
          <a:xfrm>
            <a:off x="239730" y="84568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22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b="1" i="0" u="none" strike="noStrike" cap="none">
              <a:solidFill>
                <a:srgbClr val="0FB1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2"/>
          <p:cNvSpPr txBox="1"/>
          <p:nvPr/>
        </p:nvSpPr>
        <p:spPr>
          <a:xfrm>
            <a:off x="296200" y="920200"/>
            <a:ext cx="7356900" cy="3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Why?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SOLID principles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DRY (Don't Repeat Yourself)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KISS (Keep It Simple, Stupid)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YAGNI (You Aren't Gonna Need It)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Separation of Concerns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Composition over Inheritance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Law of Demeter (Principle of Least Knowledge)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Coupling and Cohesion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Encapsulation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Code readability and maintainability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Testability and TDD (Test-Driven Development)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Refactoring and code smells</a:t>
            </a:r>
            <a:endParaRPr sz="160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/>
        </p:nvSpPr>
        <p:spPr>
          <a:xfrm>
            <a:off x="259373" y="102361"/>
            <a:ext cx="6063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The $85 Billion Cost of Bad Code</a:t>
            </a:r>
            <a:endParaRPr sz="1800" b="1" i="0" u="none" strike="noStrike" cap="none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23"/>
          <p:cNvSpPr txBox="1"/>
          <p:nvPr/>
        </p:nvSpPr>
        <p:spPr>
          <a:xfrm>
            <a:off x="259375" y="1679375"/>
            <a:ext cx="34254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41.1 hours</a:t>
            </a:r>
            <a:r>
              <a:rPr lang="en" sz="1100">
                <a:solidFill>
                  <a:schemeClr val="dk1"/>
                </a:solidFill>
              </a:rPr>
              <a:t> weekly developer workload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17.3 hours</a:t>
            </a:r>
            <a:r>
              <a:rPr lang="en" sz="1100">
                <a:solidFill>
                  <a:schemeClr val="dk1"/>
                </a:solidFill>
              </a:rPr>
              <a:t> lost to rework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13.5 hours</a:t>
            </a:r>
            <a:r>
              <a:rPr lang="en" sz="1100">
                <a:solidFill>
                  <a:schemeClr val="dk1"/>
                </a:solidFill>
              </a:rPr>
              <a:t> on tech debt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3.8 hours</a:t>
            </a:r>
            <a:r>
              <a:rPr lang="en" sz="1100">
                <a:solidFill>
                  <a:schemeClr val="dk1"/>
                </a:solidFill>
              </a:rPr>
              <a:t> on bad code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9.25% loss</a:t>
            </a:r>
            <a:r>
              <a:rPr lang="en" sz="1100">
                <a:solidFill>
                  <a:schemeClr val="dk1"/>
                </a:solidFill>
              </a:rPr>
              <a:t> from poor code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23"/>
          <p:cNvSpPr/>
          <p:nvPr/>
        </p:nvSpPr>
        <p:spPr>
          <a:xfrm>
            <a:off x="228550" y="448575"/>
            <a:ext cx="4536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42% of their time dealing with technical debt</a:t>
            </a:r>
            <a:endParaRPr sz="1400" b="1" i="0" u="none" strike="noStrike" cap="none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23" descr="images/average-dev-week.png"/>
          <p:cNvPicPr preferRelativeResize="0"/>
          <p:nvPr/>
        </p:nvPicPr>
        <p:blipFill rotWithShape="1">
          <a:blip r:embed="rId3">
            <a:alphaModFix/>
          </a:blip>
          <a:srcRect l="14766" t="23566" r="7839" b="9934"/>
          <a:stretch/>
        </p:blipFill>
        <p:spPr>
          <a:xfrm>
            <a:off x="3834448" y="1015667"/>
            <a:ext cx="4975850" cy="34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4"/>
          <p:cNvSpPr txBox="1"/>
          <p:nvPr/>
        </p:nvSpPr>
        <p:spPr>
          <a:xfrm>
            <a:off x="266700" y="47984"/>
            <a:ext cx="4299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Agile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4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4"/>
          <p:cNvSpPr txBox="1"/>
          <p:nvPr/>
        </p:nvSpPr>
        <p:spPr>
          <a:xfrm>
            <a:off x="266700" y="438150"/>
            <a:ext cx="3492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Agile is dead. Long live agility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138250"/>
            <a:ext cx="4475900" cy="26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4"/>
          <p:cNvSpPr txBox="1"/>
          <p:nvPr/>
        </p:nvSpPr>
        <p:spPr>
          <a:xfrm>
            <a:off x="5136625" y="113825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Digital.ai 2023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40% reported organizational resistance to change.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33% pointed to lack of leadership support.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only ~31% of Agile projects are considered “successful”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5"/>
          <p:cNvSpPr txBox="1"/>
          <p:nvPr/>
        </p:nvSpPr>
        <p:spPr>
          <a:xfrm>
            <a:off x="266700" y="47984"/>
            <a:ext cx="4299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Software Success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5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5"/>
          <p:cNvSpPr txBox="1"/>
          <p:nvPr/>
        </p:nvSpPr>
        <p:spPr>
          <a:xfrm>
            <a:off x="266700" y="438150"/>
            <a:ext cx="3492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Dream/utopia?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25"/>
          <p:cNvSpPr txBox="1"/>
          <p:nvPr/>
        </p:nvSpPr>
        <p:spPr>
          <a:xfrm>
            <a:off x="371275" y="1258575"/>
            <a:ext cx="78984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Standish Group CHAOS Report (2020)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>
                <a:solidFill>
                  <a:schemeClr val="dk1"/>
                </a:solidFill>
              </a:rPr>
              <a:t>Only </a:t>
            </a:r>
            <a:r>
              <a:rPr lang="en" b="1">
                <a:solidFill>
                  <a:schemeClr val="dk1"/>
                </a:solidFill>
              </a:rPr>
              <a:t>31%</a:t>
            </a:r>
            <a:r>
              <a:rPr lang="en">
                <a:solidFill>
                  <a:schemeClr val="dk1"/>
                </a:solidFill>
              </a:rPr>
              <a:t> of software projects are considered </a:t>
            </a:r>
            <a:r>
              <a:rPr lang="en" b="1">
                <a:solidFill>
                  <a:schemeClr val="dk1"/>
                </a:solidFill>
              </a:rPr>
              <a:t>successful</a:t>
            </a:r>
            <a:r>
              <a:rPr lang="en">
                <a:solidFill>
                  <a:schemeClr val="dk1"/>
                </a:solidFill>
              </a:rPr>
              <a:t> (on time, on budget, with required features).</a:t>
            </a:r>
            <a:endParaRPr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b="1">
                <a:solidFill>
                  <a:schemeClr val="dk1"/>
                </a:solidFill>
              </a:rPr>
              <a:t>52%</a:t>
            </a:r>
            <a:r>
              <a:rPr lang="en">
                <a:solidFill>
                  <a:schemeClr val="dk1"/>
                </a:solidFill>
              </a:rPr>
              <a:t> are “challenged,” and </a:t>
            </a:r>
            <a:r>
              <a:rPr lang="en" b="1">
                <a:solidFill>
                  <a:schemeClr val="dk1"/>
                </a:solidFill>
              </a:rPr>
              <a:t>17%</a:t>
            </a:r>
            <a:r>
              <a:rPr lang="en">
                <a:solidFill>
                  <a:schemeClr val="dk1"/>
                </a:solidFill>
              </a:rPr>
              <a:t> outright fail.</a:t>
            </a:r>
            <a:endParaRPr sz="1700"/>
          </a:p>
        </p:txBody>
      </p:sp>
      <p:sp>
        <p:nvSpPr>
          <p:cNvPr id="98" name="Google Shape;98;p25"/>
          <p:cNvSpPr txBox="1"/>
          <p:nvPr/>
        </p:nvSpPr>
        <p:spPr>
          <a:xfrm>
            <a:off x="342900" y="2814550"/>
            <a:ext cx="8202000" cy="13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McKinsey &amp; Oxford Study</a:t>
            </a:r>
            <a:r>
              <a:rPr lang="en" sz="1500">
                <a:solidFill>
                  <a:schemeClr val="dk1"/>
                </a:solidFill>
              </a:rPr>
              <a:t> on IT project failures: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The average large IT project </a:t>
            </a:r>
            <a:r>
              <a:rPr lang="en" sz="1500" i="1">
                <a:solidFill>
                  <a:schemeClr val="dk1"/>
                </a:solidFill>
              </a:rPr>
              <a:t>runs 45% over budget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i="1">
                <a:solidFill>
                  <a:schemeClr val="dk1"/>
                </a:solidFill>
              </a:rPr>
              <a:t>7% over time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i="1">
                <a:solidFill>
                  <a:schemeClr val="dk1"/>
                </a:solidFill>
              </a:rPr>
              <a:t>delivers 56% less value</a:t>
            </a:r>
            <a:r>
              <a:rPr lang="en" sz="1500">
                <a:solidFill>
                  <a:schemeClr val="dk1"/>
                </a:solidFill>
              </a:rPr>
              <a:t> than predicted.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6"/>
          <p:cNvSpPr txBox="1"/>
          <p:nvPr/>
        </p:nvSpPr>
        <p:spPr>
          <a:xfrm>
            <a:off x="266700" y="47975"/>
            <a:ext cx="7770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Code Design — Where System Architecture Becomes Reality</a:t>
            </a:r>
            <a:endParaRPr sz="2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6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266700" y="438150"/>
            <a:ext cx="573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The Bridge Between Planning and Working Software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3271198" y="1463313"/>
            <a:ext cx="2599200" cy="1998900"/>
          </a:xfrm>
          <a:prstGeom prst="triangle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26"/>
          <p:cNvSpPr txBox="1"/>
          <p:nvPr/>
        </p:nvSpPr>
        <p:spPr>
          <a:xfrm>
            <a:off x="3849359" y="2530593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Development Process</a:t>
            </a:r>
            <a:endParaRPr sz="1200" dirty="0">
              <a:solidFill>
                <a:schemeClr val="tx1"/>
              </a:solidFill>
            </a:endParaRPr>
          </a:p>
        </p:txBody>
      </p:sp>
      <p:grpSp>
        <p:nvGrpSpPr>
          <p:cNvPr id="110" name="Google Shape;110;p26"/>
          <p:cNvGrpSpPr/>
          <p:nvPr/>
        </p:nvGrpSpPr>
        <p:grpSpPr>
          <a:xfrm>
            <a:off x="3698064" y="3159725"/>
            <a:ext cx="2449869" cy="789043"/>
            <a:chOff x="3698064" y="3159725"/>
            <a:chExt cx="2449869" cy="789043"/>
          </a:xfrm>
        </p:grpSpPr>
        <p:sp>
          <p:nvSpPr>
            <p:cNvPr id="111" name="Google Shape;111;p26"/>
            <p:cNvSpPr/>
            <p:nvPr/>
          </p:nvSpPr>
          <p:spPr>
            <a:xfrm rot="10800000">
              <a:off x="3698064" y="3575617"/>
              <a:ext cx="1740900" cy="125400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6"/>
            <p:cNvSpPr txBox="1"/>
            <p:nvPr/>
          </p:nvSpPr>
          <p:spPr>
            <a:xfrm rot="620">
              <a:off x="3771608" y="3655818"/>
              <a:ext cx="1662900" cy="2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Software Architecture</a:t>
              </a:r>
              <a:endParaRPr sz="1100" dirty="0">
                <a:solidFill>
                  <a:srgbClr val="002060"/>
                </a:solidFill>
              </a:endParaRPr>
            </a:p>
          </p:txBody>
        </p:sp>
        <p:sp>
          <p:nvSpPr>
            <p:cNvPr id="113" name="Google Shape;113;p26"/>
            <p:cNvSpPr/>
            <p:nvPr/>
          </p:nvSpPr>
          <p:spPr>
            <a:xfrm>
              <a:off x="5582733" y="3159725"/>
              <a:ext cx="565200" cy="56550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7150" dist="19050" dir="5400000" algn="bl" rotWithShape="0">
                <a:srgbClr val="212121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14" name="Google Shape;114;p26"/>
          <p:cNvGrpSpPr/>
          <p:nvPr/>
        </p:nvGrpSpPr>
        <p:grpSpPr>
          <a:xfrm>
            <a:off x="3033133" y="1525710"/>
            <a:ext cx="1249592" cy="2199515"/>
            <a:chOff x="3033133" y="1525710"/>
            <a:chExt cx="1249592" cy="2199515"/>
          </a:xfrm>
        </p:grpSpPr>
        <p:sp>
          <p:nvSpPr>
            <p:cNvPr id="115" name="Google Shape;115;p26"/>
            <p:cNvSpPr/>
            <p:nvPr/>
          </p:nvSpPr>
          <p:spPr>
            <a:xfrm rot="-3360517">
              <a:off x="2960437" y="2297046"/>
              <a:ext cx="1629676" cy="125310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6"/>
            <p:cNvSpPr txBox="1"/>
            <p:nvPr/>
          </p:nvSpPr>
          <p:spPr>
            <a:xfrm rot="-3365016">
              <a:off x="2786718" y="2151658"/>
              <a:ext cx="1664030" cy="2928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solidFill>
                    <a:srgbClr val="00B0F0"/>
                  </a:solidFill>
                </a:rPr>
                <a:t>Code Design</a:t>
              </a:r>
              <a:endParaRPr sz="800" dirty="0">
                <a:solidFill>
                  <a:srgbClr val="00B0F0"/>
                </a:solidFill>
              </a:endParaRPr>
            </a:p>
          </p:txBody>
        </p:sp>
        <p:sp>
          <p:nvSpPr>
            <p:cNvPr id="117" name="Google Shape;117;p26"/>
            <p:cNvSpPr/>
            <p:nvPr/>
          </p:nvSpPr>
          <p:spPr>
            <a:xfrm>
              <a:off x="3058183" y="3159725"/>
              <a:ext cx="565200" cy="5655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57150" dist="19050" dir="5400000" algn="bl" rotWithShape="0">
                <a:srgbClr val="212121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</a:t>
              </a:r>
              <a:endPara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18" name="Google Shape;118;p26"/>
          <p:cNvGrpSpPr/>
          <p:nvPr/>
        </p:nvGrpSpPr>
        <p:grpSpPr>
          <a:xfrm>
            <a:off x="4288708" y="1198100"/>
            <a:ext cx="1767434" cy="1861998"/>
            <a:chOff x="4288708" y="1198100"/>
            <a:chExt cx="1767434" cy="1861998"/>
          </a:xfrm>
        </p:grpSpPr>
        <p:sp>
          <p:nvSpPr>
            <p:cNvPr id="119" name="Google Shape;119;p26"/>
            <p:cNvSpPr/>
            <p:nvPr/>
          </p:nvSpPr>
          <p:spPr>
            <a:xfrm rot="3420919">
              <a:off x="4575050" y="2300047"/>
              <a:ext cx="1581515" cy="125402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6"/>
            <p:cNvSpPr/>
            <p:nvPr/>
          </p:nvSpPr>
          <p:spPr>
            <a:xfrm>
              <a:off x="4288708" y="1198100"/>
              <a:ext cx="565200" cy="5655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  <a:effectLst>
              <a:outerShdw blurRad="57150" dist="19050" dir="5400000" algn="bl" rotWithShape="0">
                <a:srgbClr val="212121">
                  <a:alpha val="3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12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21" name="Google Shape;121;p26"/>
            <p:cNvSpPr txBox="1"/>
            <p:nvPr/>
          </p:nvSpPr>
          <p:spPr>
            <a:xfrm rot="3420634">
              <a:off x="4640653" y="2101762"/>
              <a:ext cx="1673878" cy="292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dirty="0">
                  <a:solidFill>
                    <a:srgbClr val="0070C0"/>
                  </a:solidFill>
                  <a:latin typeface="Roboto"/>
                  <a:ea typeface="Roboto"/>
                  <a:cs typeface="Roboto"/>
                  <a:sym typeface="Roboto"/>
                </a:rPr>
                <a:t>System Design</a:t>
              </a:r>
              <a:endParaRPr sz="1100" dirty="0">
                <a:solidFill>
                  <a:srgbClr val="0070C0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233200" y="71075"/>
            <a:ext cx="3831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8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The ROI of Good Code Design</a:t>
            </a:r>
            <a:endParaRPr sz="1800" b="1">
              <a:solidFill>
                <a:srgbClr val="061B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7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266700" y="438150"/>
            <a:ext cx="573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Proven Gains from Clean, Modular, and Maintainable Code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342900" y="1479325"/>
            <a:ext cx="41622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🚀 </a:t>
            </a:r>
            <a:r>
              <a:rPr lang="en" sz="1100" b="1">
                <a:solidFill>
                  <a:schemeClr val="dk1"/>
                </a:solidFill>
              </a:rPr>
              <a:t>20–30% faster delivery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💸 </a:t>
            </a:r>
            <a:r>
              <a:rPr lang="en" sz="1100" b="1">
                <a:solidFill>
                  <a:schemeClr val="dk1"/>
                </a:solidFill>
              </a:rPr>
              <a:t>50% reduction in time spent on maintenance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📉 </a:t>
            </a:r>
            <a:r>
              <a:rPr lang="en" sz="1100" b="1">
                <a:solidFill>
                  <a:schemeClr val="dk1"/>
                </a:solidFill>
              </a:rPr>
              <a:t>Reduction in defects by 60%+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McKinsey DevEx Study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3829950" y="1460175"/>
            <a:ext cx="30000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🚀 Deploy </a:t>
            </a:r>
            <a:r>
              <a:rPr lang="en" sz="1100" b="1">
                <a:solidFill>
                  <a:schemeClr val="dk1"/>
                </a:solidFill>
              </a:rPr>
              <a:t>208x more frequently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⚡ Recover </a:t>
            </a:r>
            <a:r>
              <a:rPr lang="en" sz="1100" b="1">
                <a:solidFill>
                  <a:schemeClr val="dk1"/>
                </a:solidFill>
              </a:rPr>
              <a:t>106x faster from failures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 Have </a:t>
            </a:r>
            <a:r>
              <a:rPr lang="en" sz="1100" b="1">
                <a:solidFill>
                  <a:schemeClr val="dk1"/>
                </a:solidFill>
              </a:rPr>
              <a:t>7x lower change failure rates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Dora Report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315975" y="310225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Saves </a:t>
            </a:r>
            <a:r>
              <a:rPr lang="en" sz="1100" b="1">
                <a:solidFill>
                  <a:schemeClr val="dk1"/>
                </a:solidFill>
              </a:rPr>
              <a:t>3x development effort</a:t>
            </a:r>
            <a:r>
              <a:rPr lang="en" sz="1100">
                <a:solidFill>
                  <a:schemeClr val="dk1"/>
                </a:solidFill>
              </a:rPr>
              <a:t> over 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Reduces onboarding time by </a:t>
            </a:r>
            <a:r>
              <a:rPr lang="en" sz="1100" b="1">
                <a:solidFill>
                  <a:schemeClr val="dk1"/>
                </a:solidFill>
              </a:rPr>
              <a:t>up to 50%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Microsoft Report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233200" y="71075"/>
            <a:ext cx="3831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8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The ROI of Good Code Design</a:t>
            </a:r>
            <a:endParaRPr sz="1800" b="1">
              <a:solidFill>
                <a:srgbClr val="061B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8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266700" y="438150"/>
            <a:ext cx="573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Proven Gains from Clean, Modular, and Maintainable Code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3" name="Google Shape;143;p28"/>
          <p:cNvGraphicFramePr/>
          <p:nvPr>
            <p:extLst>
              <p:ext uri="{D42A27DB-BD31-4B8C-83A1-F6EECF244321}">
                <p14:modId xmlns:p14="http://schemas.microsoft.com/office/powerpoint/2010/main" val="4175808577"/>
              </p:ext>
            </p:extLst>
          </p:nvPr>
        </p:nvGraphicFramePr>
        <p:xfrm>
          <a:off x="294300" y="1652450"/>
          <a:ext cx="7955675" cy="2157453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125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Source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Metric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Impact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McKinsey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Maintenance effort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↓ 50% with clean architecture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DORA Report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Change failure rate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↓ 7x with good engineering practices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Google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Deployment frequency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↑ 208x with modular, testable code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Microsoft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Onboarding new devs on clean codebase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↓ 50% time to ramp up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233200" y="71075"/>
            <a:ext cx="38313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8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KISS — Keep It Simple, Stupid</a:t>
            </a:r>
            <a:endParaRPr sz="1800" b="1">
              <a:solidFill>
                <a:srgbClr val="061B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9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266700" y="438150"/>
            <a:ext cx="573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Simplicity Is the Ultimate Sophistication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233200" y="973600"/>
            <a:ext cx="772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"Keep It Simple, Stupid" is a principle that reminds us to avoid unnecessary complexity.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 Coined by the U.S. Navy in 1960</a:t>
            </a:r>
            <a:endParaRPr/>
          </a:p>
        </p:txBody>
      </p:sp>
      <p:sp>
        <p:nvSpPr>
          <p:cNvPr id="154" name="Google Shape;154;p29"/>
          <p:cNvSpPr txBox="1"/>
          <p:nvPr/>
        </p:nvSpPr>
        <p:spPr>
          <a:xfrm>
            <a:off x="289700" y="1985200"/>
            <a:ext cx="6995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"Any fool can write code that a computer can understand. Good programmers write code that humans can understand." — </a:t>
            </a:r>
            <a:r>
              <a:rPr lang="en" sz="1100" i="1">
                <a:solidFill>
                  <a:schemeClr val="dk1"/>
                </a:solidFill>
              </a:rPr>
              <a:t>Martin Fowler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/>
          <p:nvPr/>
        </p:nvSpPr>
        <p:spPr>
          <a:xfrm>
            <a:off x="8790708" y="145472"/>
            <a:ext cx="197400" cy="1974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233200" y="71075"/>
            <a:ext cx="5732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8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KISS in Practice — Keep It Simple, Seriously</a:t>
            </a:r>
            <a:endParaRPr sz="1800" b="1">
              <a:solidFill>
                <a:srgbClr val="061B2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0"/>
          <p:cNvSpPr/>
          <p:nvPr/>
        </p:nvSpPr>
        <p:spPr>
          <a:xfrm rot="2700000">
            <a:off x="8341039" y="-566556"/>
            <a:ext cx="2589284" cy="2589284"/>
          </a:xfrm>
          <a:prstGeom prst="roundRect">
            <a:avLst>
              <a:gd name="adj" fmla="val 24359"/>
            </a:avLst>
          </a:prstGeom>
          <a:solidFill>
            <a:srgbClr val="F2F2F2">
              <a:alpha val="4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266700" y="438150"/>
            <a:ext cx="5732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Complexity Is a Cost. Simplicity Is a Feature</a:t>
            </a:r>
            <a:endParaRPr b="1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64" name="Google Shape;164;p30"/>
          <p:cNvGraphicFramePr/>
          <p:nvPr>
            <p:extLst>
              <p:ext uri="{D42A27DB-BD31-4B8C-83A1-F6EECF244321}">
                <p14:modId xmlns:p14="http://schemas.microsoft.com/office/powerpoint/2010/main" val="2063096057"/>
              </p:ext>
            </p:extLst>
          </p:nvPr>
        </p:nvGraphicFramePr>
        <p:xfrm>
          <a:off x="233200" y="1124850"/>
          <a:ext cx="8038025" cy="1898310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468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🚨 Overkill Scenario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✅ KISS Alternative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Creating an </a:t>
                      </a:r>
                      <a:r>
                        <a:rPr lang="en" sz="1100" i="1"/>
                        <a:t>interface with one implementation</a:t>
                      </a:r>
                      <a:endParaRPr sz="1100" i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 a class — refactor when needed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Adding a design pattern to "flex" or over-abstract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Just solve the problem clearly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Using a new library/feature just because it’s trendy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Prefer stability + team familiarity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Using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Strategy</a:t>
                      </a:r>
                      <a:r>
                        <a:rPr lang="en" sz="1100"/>
                        <a:t> for a one-off logic branch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A simple </a:t>
                      </a:r>
                      <a:r>
                        <a:rPr lang="en" sz="1100" dirty="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if</a:t>
                      </a:r>
                      <a:r>
                        <a:rPr lang="en" sz="1100" dirty="0"/>
                        <a:t> statement may suffice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" name="Google Shape;165;p30"/>
          <p:cNvSpPr txBox="1"/>
          <p:nvPr/>
        </p:nvSpPr>
        <p:spPr>
          <a:xfrm>
            <a:off x="342900" y="3318925"/>
            <a:ext cx="6087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"The easiest code to maintain is the one you didn’t have to write."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— KISS Principle, distilled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/>
        </p:nvSpPr>
        <p:spPr>
          <a:xfrm>
            <a:off x="681953" y="104056"/>
            <a:ext cx="3729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Simplicity as efficiency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741747" y="426055"/>
            <a:ext cx="459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Fight against complexity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31"/>
          <p:cNvGrpSpPr/>
          <p:nvPr/>
        </p:nvGrpSpPr>
        <p:grpSpPr>
          <a:xfrm>
            <a:off x="1262725" y="1526795"/>
            <a:ext cx="3665813" cy="2302421"/>
            <a:chOff x="3810000" y="2079171"/>
            <a:chExt cx="4332600" cy="2667000"/>
          </a:xfrm>
        </p:grpSpPr>
        <p:cxnSp>
          <p:nvCxnSpPr>
            <p:cNvPr id="173" name="Google Shape;173;p31"/>
            <p:cNvCxnSpPr/>
            <p:nvPr/>
          </p:nvCxnSpPr>
          <p:spPr>
            <a:xfrm>
              <a:off x="3810000" y="2079171"/>
              <a:ext cx="0" cy="2667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4" name="Google Shape;174;p31"/>
            <p:cNvCxnSpPr/>
            <p:nvPr/>
          </p:nvCxnSpPr>
          <p:spPr>
            <a:xfrm>
              <a:off x="3810000" y="4746171"/>
              <a:ext cx="43326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5" name="Google Shape;175;p31"/>
          <p:cNvSpPr/>
          <p:nvPr/>
        </p:nvSpPr>
        <p:spPr>
          <a:xfrm>
            <a:off x="1262741" y="1681844"/>
            <a:ext cx="3422632" cy="2152672"/>
          </a:xfrm>
          <a:custGeom>
            <a:avLst/>
            <a:gdLst/>
            <a:ahLst/>
            <a:cxnLst/>
            <a:rect l="l" t="t" r="r" b="b"/>
            <a:pathLst>
              <a:path w="4474029" h="2969203" extrusionOk="0">
                <a:moveTo>
                  <a:pt x="0" y="2969203"/>
                </a:moveTo>
                <a:cubicBezTo>
                  <a:pt x="256721" y="1560410"/>
                  <a:pt x="513443" y="151617"/>
                  <a:pt x="838200" y="8289"/>
                </a:cubicBezTo>
                <a:cubicBezTo>
                  <a:pt x="1162957" y="-135039"/>
                  <a:pt x="1342572" y="1621189"/>
                  <a:pt x="1948543" y="2109232"/>
                </a:cubicBezTo>
                <a:cubicBezTo>
                  <a:pt x="2554514" y="2597275"/>
                  <a:pt x="4474029" y="2936546"/>
                  <a:pt x="4474029" y="2936546"/>
                </a:cubicBezTo>
                <a:lnTo>
                  <a:pt x="4474029" y="2936546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 rot="-5400000">
            <a:off x="270467" y="2184387"/>
            <a:ext cx="1502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complexity</a:t>
            </a:r>
            <a:endParaRPr sz="1100"/>
          </a:p>
        </p:txBody>
      </p:sp>
      <p:sp>
        <p:nvSpPr>
          <p:cNvPr id="177" name="Google Shape;177;p31"/>
          <p:cNvSpPr txBox="1"/>
          <p:nvPr/>
        </p:nvSpPr>
        <p:spPr>
          <a:xfrm>
            <a:off x="1230083" y="3837215"/>
            <a:ext cx="261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746"/>
                </a:solidFill>
              </a:rPr>
              <a:t>Starting to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1"/>
          <p:cNvSpPr/>
          <p:nvPr/>
        </p:nvSpPr>
        <p:spPr>
          <a:xfrm rot="-8216270">
            <a:off x="1297389" y="3748690"/>
            <a:ext cx="225838" cy="95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53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1"/>
          <p:cNvSpPr/>
          <p:nvPr/>
        </p:nvSpPr>
        <p:spPr>
          <a:xfrm rot="3665564">
            <a:off x="4279484" y="3498980"/>
            <a:ext cx="351267" cy="829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53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817805" y="2923960"/>
            <a:ext cx="261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746"/>
                </a:solidFill>
              </a:rPr>
              <a:t>Simplicity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1"/>
          <p:cNvSpPr/>
          <p:nvPr/>
        </p:nvSpPr>
        <p:spPr>
          <a:xfrm rot="-6605291">
            <a:off x="1388028" y="3053116"/>
            <a:ext cx="335404" cy="9575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53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1518218" y="3231262"/>
            <a:ext cx="1110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Oop everywhere</a:t>
            </a:r>
            <a:endParaRPr sz="1100"/>
          </a:p>
        </p:txBody>
      </p:sp>
      <p:sp>
        <p:nvSpPr>
          <p:cNvPr id="183" name="Google Shape;183;p31"/>
          <p:cNvSpPr/>
          <p:nvPr/>
        </p:nvSpPr>
        <p:spPr>
          <a:xfrm rot="-7190800">
            <a:off x="1580722" y="2314881"/>
            <a:ext cx="335155" cy="958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53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1687580" y="2514600"/>
            <a:ext cx="917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patterns</a:t>
            </a:r>
            <a:endParaRPr sz="1100"/>
          </a:p>
        </p:txBody>
      </p:sp>
      <p:sp>
        <p:nvSpPr>
          <p:cNvPr id="185" name="Google Shape;185;p31"/>
          <p:cNvSpPr txBox="1"/>
          <p:nvPr/>
        </p:nvSpPr>
        <p:spPr>
          <a:xfrm>
            <a:off x="2339630" y="1391526"/>
            <a:ext cx="16011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Abstractions interfaces “ I might need this later” this is what the experts do</a:t>
            </a:r>
            <a:endParaRPr sz="1100"/>
          </a:p>
        </p:txBody>
      </p:sp>
      <p:sp>
        <p:nvSpPr>
          <p:cNvPr id="186" name="Google Shape;186;p31"/>
          <p:cNvSpPr/>
          <p:nvPr/>
        </p:nvSpPr>
        <p:spPr>
          <a:xfrm rot="9506103">
            <a:off x="1985206" y="1549073"/>
            <a:ext cx="350967" cy="828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rgbClr val="153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4159329" y="3898720"/>
            <a:ext cx="1822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Years of programming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/>
        </p:nvSpPr>
        <p:spPr>
          <a:xfrm>
            <a:off x="681949" y="104050"/>
            <a:ext cx="56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YAGNI — You Aren’t Gonna Need It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741747" y="426055"/>
            <a:ext cx="459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Don’t Build What You Don’t Need (Yet)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175" y="900275"/>
            <a:ext cx="3694126" cy="369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 txBox="1"/>
          <p:nvPr/>
        </p:nvSpPr>
        <p:spPr>
          <a:xfrm>
            <a:off x="125800" y="1262750"/>
            <a:ext cx="4818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“You Aren’t Gonna Need It” is a principle from Extreme Programming (XP)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warns against building features, abstractions, or logic </a:t>
            </a:r>
            <a:r>
              <a:rPr lang="en" sz="1100" i="1">
                <a:solidFill>
                  <a:schemeClr val="dk1"/>
                </a:solidFill>
              </a:rPr>
              <a:t>"just in case."</a:t>
            </a:r>
            <a:endParaRPr/>
          </a:p>
        </p:txBody>
      </p:sp>
      <p:sp>
        <p:nvSpPr>
          <p:cNvPr id="196" name="Google Shape;196;p32"/>
          <p:cNvSpPr txBox="1"/>
          <p:nvPr/>
        </p:nvSpPr>
        <p:spPr>
          <a:xfrm>
            <a:off x="212875" y="2263950"/>
            <a:ext cx="3933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"Premature optimization is the root of all evil" </a:t>
            </a:r>
            <a:r>
              <a:rPr lang="en" b="1"/>
              <a:t>Donald Knuth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/>
        </p:nvSpPr>
        <p:spPr>
          <a:xfrm>
            <a:off x="681950" y="104050"/>
            <a:ext cx="4238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DRY — Don’t Repeat Yourself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741747" y="426055"/>
            <a:ext cx="459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Reuse Knowledge, Not Just Code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807825" y="988325"/>
            <a:ext cx="70644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Every piece of knowledge must have a single, authoritative representation in your code. — The Pragmatic Programmer</a:t>
            </a:r>
            <a:endParaRPr/>
          </a:p>
        </p:txBody>
      </p:sp>
      <p:sp>
        <p:nvSpPr>
          <p:cNvPr id="204" name="Google Shape;204;p33"/>
          <p:cNvSpPr txBox="1"/>
          <p:nvPr/>
        </p:nvSpPr>
        <p:spPr>
          <a:xfrm>
            <a:off x="863700" y="1743450"/>
            <a:ext cx="73908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CheckoutService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BigDecimal 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calculateFinalPrice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(BigDecimal </a:t>
            </a:r>
            <a:r>
              <a:rPr lang="en" sz="10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price.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subtract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(price.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(BigDecimal.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valueOf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0.10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))); </a:t>
            </a:r>
            <a:r>
              <a:rPr lang="en" sz="10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Duplicated logic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PromotionService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BigDecimal 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promoPrice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(BigDecimal </a:t>
            </a:r>
            <a:r>
              <a:rPr lang="en" sz="10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price.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subtract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(price.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(BigDecimal.</a:t>
            </a:r>
            <a:r>
              <a:rPr lang="en" sz="10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valueOf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0.10</a:t>
            </a: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))); </a:t>
            </a:r>
            <a:r>
              <a:rPr lang="en" sz="10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Again?!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/>
        </p:nvSpPr>
        <p:spPr>
          <a:xfrm>
            <a:off x="681950" y="104050"/>
            <a:ext cx="5858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Make a Type — Embrace the Rich Model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741750" y="426050"/>
            <a:ext cx="53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Don’t Pass Primitives When You Mean Concepts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790650" y="11172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❌ The Primitive Obsession Smell</a:t>
            </a:r>
            <a:endParaRPr sz="1300" b="1">
              <a:solidFill>
                <a:schemeClr val="dk1"/>
              </a:solidFill>
            </a:endParaRPr>
          </a:p>
        </p:txBody>
      </p:sp>
      <p:graphicFrame>
        <p:nvGraphicFramePr>
          <p:cNvPr id="212" name="Google Shape;212;p34"/>
          <p:cNvGraphicFramePr/>
          <p:nvPr>
            <p:extLst>
              <p:ext uri="{D42A27DB-BD31-4B8C-83A1-F6EECF244321}">
                <p14:modId xmlns:p14="http://schemas.microsoft.com/office/powerpoint/2010/main" val="3592600145"/>
              </p:ext>
            </p:extLst>
          </p:nvPr>
        </p:nvGraphicFramePr>
        <p:xfrm>
          <a:off x="939775" y="1807600"/>
          <a:ext cx="5035775" cy="2340303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35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Situation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Make a Type?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 needs validation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Appears in multiple places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Has domain-specific behavior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Improves clarity of function/method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Primitive passed with no meaning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⚠️ Likely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/>
        </p:nvSpPr>
        <p:spPr>
          <a:xfrm>
            <a:off x="681950" y="104050"/>
            <a:ext cx="5858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Make a Type — Embrace the Rich Model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741750" y="426050"/>
            <a:ext cx="53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Don’t Pass Primitives When You Mean Concepts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790650" y="11172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❌ The Primitive Obsession Smell</a:t>
            </a:r>
            <a:endParaRPr sz="1300" b="1">
              <a:solidFill>
                <a:schemeClr val="dk1"/>
              </a:solidFill>
            </a:endParaRPr>
          </a:p>
        </p:txBody>
      </p:sp>
      <p:graphicFrame>
        <p:nvGraphicFramePr>
          <p:cNvPr id="220" name="Google Shape;220;p35"/>
          <p:cNvGraphicFramePr/>
          <p:nvPr>
            <p:extLst>
              <p:ext uri="{D42A27DB-BD31-4B8C-83A1-F6EECF244321}">
                <p14:modId xmlns:p14="http://schemas.microsoft.com/office/powerpoint/2010/main" val="2540778077"/>
              </p:ext>
            </p:extLst>
          </p:nvPr>
        </p:nvGraphicFramePr>
        <p:xfrm>
          <a:off x="939775" y="1807600"/>
          <a:ext cx="5035775" cy="2340303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35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Situation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Make a Type?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 needs validation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Appears in multiple places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Has domain-specific behavior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Improves clarity of function/method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Yes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Primitive passed with no meaning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⚠️ Likely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/>
        </p:nvSpPr>
        <p:spPr>
          <a:xfrm>
            <a:off x="681950" y="104050"/>
            <a:ext cx="5858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Make a Type — Embrace the Rich Model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6"/>
          <p:cNvSpPr txBox="1"/>
          <p:nvPr/>
        </p:nvSpPr>
        <p:spPr>
          <a:xfrm>
            <a:off x="741750" y="426050"/>
            <a:ext cx="53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Don’t Pass Primitives When You Mean Concepts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764850" y="816425"/>
            <a:ext cx="79794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Discount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public static final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Discount NONE </a:t>
            </a: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Discount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"No Discount"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private final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String reason;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private final double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rate;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public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MonetaryAmount 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applyTo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(MonetaryAmount </a:t>
            </a:r>
            <a:r>
              <a:rPr lang="en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price.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multiply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-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rate);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832000" y="3647100"/>
            <a:ext cx="6683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CheckoutService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public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MonetaryAmount 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calculateFinalPrice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(MonetaryAmount </a:t>
            </a:r>
            <a:r>
              <a:rPr lang="en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Discount </a:t>
            </a:r>
            <a:r>
              <a:rPr lang="en" sz="9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discount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discount.</a:t>
            </a:r>
            <a:r>
              <a:rPr lang="en" sz="9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applyTo</a:t>
            </a: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(price);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/>
        </p:nvSpPr>
        <p:spPr>
          <a:xfrm>
            <a:off x="681949" y="104050"/>
            <a:ext cx="56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Separation of Concerns (SoC)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741747" y="426055"/>
            <a:ext cx="4592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Divide Responsibilities, Multiply Clarity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7"/>
          <p:cNvSpPr txBox="1"/>
          <p:nvPr/>
        </p:nvSpPr>
        <p:spPr>
          <a:xfrm>
            <a:off x="464450" y="4304700"/>
            <a:ext cx="762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“When everything is responsible for everything, nothing is responsible for anything.”</a:t>
            </a:r>
            <a:endParaRPr/>
          </a:p>
        </p:txBody>
      </p:sp>
      <p:graphicFrame>
        <p:nvGraphicFramePr>
          <p:cNvPr id="236" name="Google Shape;236;p37"/>
          <p:cNvGraphicFramePr/>
          <p:nvPr>
            <p:extLst>
              <p:ext uri="{D42A27DB-BD31-4B8C-83A1-F6EECF244321}">
                <p14:modId xmlns:p14="http://schemas.microsoft.com/office/powerpoint/2010/main" val="3442025598"/>
              </p:ext>
            </p:extLst>
          </p:nvPr>
        </p:nvGraphicFramePr>
        <p:xfrm>
          <a:off x="660400" y="1503425"/>
          <a:ext cx="5634600" cy="2340303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257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Concern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Belongs to…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📡 API routing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Controller / Endpoint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🧠 Business logic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Service layer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💾 Persistence handling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Repository / DAO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🎨 View rendering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Front-end or template engine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🔐 Authentication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Middleware or filter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400" y="1410850"/>
            <a:ext cx="2544200" cy="25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/>
        </p:nvSpPr>
        <p:spPr>
          <a:xfrm>
            <a:off x="681949" y="104050"/>
            <a:ext cx="56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Composition Over Inheritance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681950" y="426050"/>
            <a:ext cx="602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Favor Flexibility and Reusability Over Fragile Hierarchies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788625" y="952363"/>
            <a:ext cx="493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Prefer </a:t>
            </a:r>
            <a:r>
              <a:rPr lang="en" sz="1100" b="1">
                <a:solidFill>
                  <a:schemeClr val="dk1"/>
                </a:solidFill>
              </a:rPr>
              <a:t>“has-a”</a:t>
            </a:r>
            <a:r>
              <a:rPr lang="en" sz="1100">
                <a:solidFill>
                  <a:schemeClr val="dk1"/>
                </a:solidFill>
              </a:rPr>
              <a:t> relationships over </a:t>
            </a:r>
            <a:r>
              <a:rPr lang="en" sz="1100" b="1">
                <a:solidFill>
                  <a:schemeClr val="dk1"/>
                </a:solidFill>
              </a:rPr>
              <a:t>“is-a”</a:t>
            </a:r>
            <a:r>
              <a:rPr lang="en" sz="1100">
                <a:solidFill>
                  <a:schemeClr val="dk1"/>
                </a:solidFill>
              </a:rPr>
              <a:t> when modeling behavior.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759575" y="1890475"/>
            <a:ext cx="44028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Sea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boolean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hasSalt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 </a:t>
            </a: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 true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 }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Cake</a:t>
            </a: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extends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Sea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// 🤯 Makes no semantic sense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775" y="1001563"/>
            <a:ext cx="3532339" cy="3532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/>
        </p:nvSpPr>
        <p:spPr>
          <a:xfrm>
            <a:off x="681949" y="104050"/>
            <a:ext cx="56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Composition Over Inheritance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9"/>
          <p:cNvSpPr txBox="1"/>
          <p:nvPr/>
        </p:nvSpPr>
        <p:spPr>
          <a:xfrm>
            <a:off x="681950" y="426050"/>
            <a:ext cx="602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Favor Flexibility and Reusability Over Fragile Hierarchies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788625" y="952363"/>
            <a:ext cx="493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Prefer </a:t>
            </a:r>
            <a:r>
              <a:rPr lang="en" sz="1100" b="1">
                <a:solidFill>
                  <a:schemeClr val="dk1"/>
                </a:solidFill>
              </a:rPr>
              <a:t>“has-a”</a:t>
            </a:r>
            <a:r>
              <a:rPr lang="en" sz="1100">
                <a:solidFill>
                  <a:schemeClr val="dk1"/>
                </a:solidFill>
              </a:rPr>
              <a:t> relationships over </a:t>
            </a:r>
            <a:r>
              <a:rPr lang="en" sz="1100" b="1">
                <a:solidFill>
                  <a:schemeClr val="dk1"/>
                </a:solidFill>
              </a:rPr>
              <a:t>“is-a”</a:t>
            </a:r>
            <a:r>
              <a:rPr lang="en" sz="1100">
                <a:solidFill>
                  <a:schemeClr val="dk1"/>
                </a:solidFill>
              </a:rPr>
              <a:t> when modeling behavior.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834575" y="1886875"/>
            <a:ext cx="35367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Salt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{}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Sea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Salt salt </a:t>
            </a: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Salt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Cake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Salt salt </a:t>
            </a: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Salt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9075" y="1611163"/>
            <a:ext cx="26670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/>
        </p:nvSpPr>
        <p:spPr>
          <a:xfrm>
            <a:off x="681950" y="104050"/>
            <a:ext cx="765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 Law of Demeter — Principle of Least Knowledge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681950" y="426050"/>
            <a:ext cx="602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Talk to Friends, Not Strangers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0"/>
          <p:cNvSpPr txBox="1"/>
          <p:nvPr/>
        </p:nvSpPr>
        <p:spPr>
          <a:xfrm>
            <a:off x="788625" y="1711475"/>
            <a:ext cx="595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order.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getCustomer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getAddress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getZipCode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788625" y="24384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order.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getZipCode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510400" y="2499900"/>
            <a:ext cx="37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</a:t>
            </a:r>
            <a:endParaRPr/>
          </a:p>
        </p:txBody>
      </p:sp>
      <p:sp>
        <p:nvSpPr>
          <p:cNvPr id="265" name="Google Shape;265;p40"/>
          <p:cNvSpPr txBox="1"/>
          <p:nvPr/>
        </p:nvSpPr>
        <p:spPr>
          <a:xfrm>
            <a:off x="553975" y="1762300"/>
            <a:ext cx="37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</a:t>
            </a:r>
            <a:endParaRPr/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FFB62B37-D4A0-1980-BDEA-B937AAC8F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11" y="1498036"/>
            <a:ext cx="2711727" cy="2711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/>
        </p:nvSpPr>
        <p:spPr>
          <a:xfrm>
            <a:off x="681950" y="104050"/>
            <a:ext cx="765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Coupling and Cohesion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1"/>
          <p:cNvSpPr txBox="1"/>
          <p:nvPr/>
        </p:nvSpPr>
        <p:spPr>
          <a:xfrm>
            <a:off x="681950" y="426050"/>
            <a:ext cx="602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 How Tightly Should Things Be Connected?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730325" y="1243375"/>
            <a:ext cx="51285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Cohesion</a:t>
            </a:r>
            <a:r>
              <a:rPr lang="en" sz="1100">
                <a:solidFill>
                  <a:schemeClr val="dk1"/>
                </a:solidFill>
              </a:rPr>
              <a:t>: How closely related the responsibilities of a module/class are.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Coupling</a:t>
            </a:r>
            <a:r>
              <a:rPr lang="en" sz="1100">
                <a:solidFill>
                  <a:schemeClr val="dk1"/>
                </a:solidFill>
              </a:rPr>
              <a:t>: How much one module/class depends on others to function.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400" y="878450"/>
            <a:ext cx="2261175" cy="2961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41"/>
          <p:cNvGraphicFramePr/>
          <p:nvPr>
            <p:extLst>
              <p:ext uri="{D42A27DB-BD31-4B8C-83A1-F6EECF244321}">
                <p14:modId xmlns:p14="http://schemas.microsoft.com/office/powerpoint/2010/main" val="4224633846"/>
              </p:ext>
            </p:extLst>
          </p:nvPr>
        </p:nvGraphicFramePr>
        <p:xfrm>
          <a:off x="657300" y="2553950"/>
          <a:ext cx="5764875" cy="1012100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79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Principle</a:t>
                      </a:r>
                      <a:endParaRPr sz="8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Desired Level</a:t>
                      </a:r>
                      <a:endParaRPr sz="8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/>
                        <a:t>Description</a:t>
                      </a:r>
                      <a:endParaRPr sz="8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Cohesion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🔼 High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 module focuses on one clear task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Coupling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🔽 Low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Modules know as little as possible about others</a:t>
                      </a:r>
                      <a:endParaRPr sz="11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/>
        </p:nvSpPr>
        <p:spPr>
          <a:xfrm>
            <a:off x="681950" y="104050"/>
            <a:ext cx="765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When Cohesion Fails: The God Service Class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681950" y="426050"/>
            <a:ext cx="6021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The Cost of Doing Everything in One Place</a:t>
            </a:r>
            <a:endParaRPr sz="18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2"/>
          <p:cNvSpPr txBox="1"/>
          <p:nvPr/>
        </p:nvSpPr>
        <p:spPr>
          <a:xfrm>
            <a:off x="754050" y="1651225"/>
            <a:ext cx="70392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UserService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void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registerUser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(...)         </a:t>
            </a:r>
            <a:r>
              <a:rPr lang="en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✅ user logic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void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sendWelcomeEmail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(...)     </a:t>
            </a:r>
            <a:r>
              <a:rPr lang="en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❌ mail logic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void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generatePdfReport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(...)    </a:t>
            </a:r>
            <a:r>
              <a:rPr lang="en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❌ reporting logic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void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scheduleUserSync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(...)     </a:t>
            </a:r>
            <a:r>
              <a:rPr lang="en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❌ async/integration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void</a:t>
            </a:r>
            <a:r>
              <a:rPr lang="en" sz="15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logUserHistory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(...)       </a:t>
            </a:r>
            <a:r>
              <a:rPr lang="en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❌ logging concern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/>
        </p:nvSpPr>
        <p:spPr>
          <a:xfrm>
            <a:off x="681950" y="104050"/>
            <a:ext cx="2279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Encapsulation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3"/>
          <p:cNvSpPr txBox="1"/>
          <p:nvPr/>
        </p:nvSpPr>
        <p:spPr>
          <a:xfrm>
            <a:off x="681950" y="426050"/>
            <a:ext cx="50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Control Access, Prevent Leaks, and Evolve Safely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43"/>
          <p:cNvSpPr txBox="1"/>
          <p:nvPr/>
        </p:nvSpPr>
        <p:spPr>
          <a:xfrm>
            <a:off x="681950" y="789700"/>
            <a:ext cx="67125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Order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private final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List&lt;</a:t>
            </a: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Item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items </a:t>
            </a: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ArrayList&lt;&gt;();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 void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 addItem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(Item </a:t>
            </a:r>
            <a:r>
              <a:rPr lang="en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item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       // validation, pricing rules, etc.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    items.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(item);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public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List&lt;</a:t>
            </a: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Item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getItems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Collections.</a:t>
            </a:r>
            <a:r>
              <a:rPr lang="en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unmodifiableList</a:t>
            </a: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(items);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/>
        </p:nvSpPr>
        <p:spPr>
          <a:xfrm>
            <a:off x="681950" y="104050"/>
            <a:ext cx="2532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SOLID Principles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4"/>
          <p:cNvSpPr txBox="1"/>
          <p:nvPr/>
        </p:nvSpPr>
        <p:spPr>
          <a:xfrm>
            <a:off x="681950" y="426050"/>
            <a:ext cx="50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Five Pillars of Object-Oriented Software Design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6" name="Google Shape;296;p44"/>
          <p:cNvGraphicFramePr/>
          <p:nvPr>
            <p:extLst>
              <p:ext uri="{D42A27DB-BD31-4B8C-83A1-F6EECF244321}">
                <p14:modId xmlns:p14="http://schemas.microsoft.com/office/powerpoint/2010/main" val="1742629890"/>
              </p:ext>
            </p:extLst>
          </p:nvPr>
        </p:nvGraphicFramePr>
        <p:xfrm>
          <a:off x="732500" y="1587450"/>
          <a:ext cx="8197375" cy="2340303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6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Letter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Principle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Focus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 Responsibility Principle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reason to change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O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Open/Closed Principle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 for extension, closed for modification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Liskov Substitution Principle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Subtypes must behave like their base type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Interface Segregation Principle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Don’t force unused methods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Dependency Inversion Principle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Depend on abstractions, not concretions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/>
        </p:nvSpPr>
        <p:spPr>
          <a:xfrm>
            <a:off x="681950" y="104050"/>
            <a:ext cx="5118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Code Readability &amp; Maintainability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681950" y="426050"/>
            <a:ext cx="50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If You Can't Read It, You Can't Trust It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45"/>
          <p:cNvSpPr txBox="1"/>
          <p:nvPr/>
        </p:nvSpPr>
        <p:spPr>
          <a:xfrm>
            <a:off x="808800" y="1099450"/>
            <a:ext cx="4254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"Code is read more often than it is written." — </a:t>
            </a:r>
            <a:r>
              <a:rPr lang="en" sz="1100" i="1">
                <a:solidFill>
                  <a:schemeClr val="dk1"/>
                </a:solidFill>
              </a:rPr>
              <a:t>Robert C. Martin</a:t>
            </a:r>
            <a:endParaRPr/>
          </a:p>
        </p:txBody>
      </p:sp>
      <p:sp>
        <p:nvSpPr>
          <p:cNvPr id="304" name="Google Shape;304;p45"/>
          <p:cNvSpPr txBox="1"/>
          <p:nvPr/>
        </p:nvSpPr>
        <p:spPr>
          <a:xfrm>
            <a:off x="943600" y="1875325"/>
            <a:ext cx="42294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🔄 Adapt to new requirements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🔍 Be tested and validated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♻️ Be refactored without fear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👥 Be handled by people other than the author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/>
        </p:nvSpPr>
        <p:spPr>
          <a:xfrm>
            <a:off x="681950" y="104050"/>
            <a:ext cx="8328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Testability &amp; TDD — Build Confidence, Not Just Features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6"/>
          <p:cNvSpPr txBox="1"/>
          <p:nvPr/>
        </p:nvSpPr>
        <p:spPr>
          <a:xfrm>
            <a:off x="681950" y="426050"/>
            <a:ext cx="5051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Well-Designed Code Is Testable Code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610825" y="1826850"/>
            <a:ext cx="3445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🔄 Safe refactoring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🚨 Fast feedback loops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🧠 Design clarity through modularity</a:t>
            </a:r>
            <a:endParaRPr/>
          </a:p>
        </p:txBody>
      </p:sp>
      <p:pic>
        <p:nvPicPr>
          <p:cNvPr id="312" name="Google Shape;31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375" y="789975"/>
            <a:ext cx="4198758" cy="411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/>
        </p:nvSpPr>
        <p:spPr>
          <a:xfrm>
            <a:off x="681950" y="104050"/>
            <a:ext cx="3939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61B2C"/>
                </a:solidFill>
                <a:latin typeface="Montserrat"/>
                <a:ea typeface="Montserrat"/>
                <a:cs typeface="Montserrat"/>
                <a:sym typeface="Montserrat"/>
              </a:rPr>
              <a:t>Refactoring &amp; Code Smells</a:t>
            </a:r>
            <a:endParaRPr sz="30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7"/>
          <p:cNvSpPr txBox="1"/>
          <p:nvPr/>
        </p:nvSpPr>
        <p:spPr>
          <a:xfrm>
            <a:off x="681950" y="426050"/>
            <a:ext cx="4234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500" b="1">
                <a:solidFill>
                  <a:srgbClr val="4285F4"/>
                </a:solidFill>
                <a:latin typeface="Montserrat"/>
                <a:ea typeface="Montserrat"/>
                <a:cs typeface="Montserrat"/>
                <a:sym typeface="Montserrat"/>
              </a:rPr>
              <a:t>Clean the Smell Before It Becomes a Fire</a:t>
            </a:r>
            <a:endParaRPr sz="1500" b="1">
              <a:solidFill>
                <a:srgbClr val="4285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720350" y="1217425"/>
            <a:ext cx="5729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Refactoring</a:t>
            </a:r>
            <a:r>
              <a:rPr lang="en" sz="1100">
                <a:solidFill>
                  <a:schemeClr val="dk1"/>
                </a:solidFill>
              </a:rPr>
              <a:t> is the process of </a:t>
            </a:r>
            <a:r>
              <a:rPr lang="en" sz="1100" b="1">
                <a:solidFill>
                  <a:schemeClr val="dk1"/>
                </a:solidFill>
              </a:rPr>
              <a:t>improving code structure </a:t>
            </a:r>
            <a:r>
              <a:rPr lang="en" sz="1100" i="1">
                <a:solidFill>
                  <a:schemeClr val="dk1"/>
                </a:solidFill>
              </a:rPr>
              <a:t>without changing its external behavior.</a:t>
            </a:r>
            <a:endParaRPr/>
          </a:p>
        </p:txBody>
      </p:sp>
      <p:sp>
        <p:nvSpPr>
          <p:cNvPr id="320" name="Google Shape;320;p47"/>
          <p:cNvSpPr txBox="1"/>
          <p:nvPr/>
        </p:nvSpPr>
        <p:spPr>
          <a:xfrm>
            <a:off x="720350" y="1563625"/>
            <a:ext cx="5518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Code Smells</a:t>
            </a:r>
            <a:r>
              <a:rPr lang="en" sz="1100" dirty="0">
                <a:solidFill>
                  <a:schemeClr val="dk1"/>
                </a:solidFill>
              </a:rPr>
              <a:t> are </a:t>
            </a:r>
            <a:r>
              <a:rPr lang="en" sz="1100" b="1" dirty="0">
                <a:solidFill>
                  <a:schemeClr val="dk1"/>
                </a:solidFill>
              </a:rPr>
              <a:t>symptoms of poor design</a:t>
            </a:r>
            <a:r>
              <a:rPr lang="en" sz="1100" dirty="0">
                <a:solidFill>
                  <a:schemeClr val="dk1"/>
                </a:solidFill>
              </a:rPr>
              <a:t> that suggest deeper problems.</a:t>
            </a:r>
            <a:endParaRPr sz="1100" dirty="0">
              <a:solidFill>
                <a:schemeClr val="dk1"/>
              </a:solidFill>
            </a:endParaRPr>
          </a:p>
        </p:txBody>
      </p:sp>
      <p:graphicFrame>
        <p:nvGraphicFramePr>
          <p:cNvPr id="321" name="Google Shape;321;p47"/>
          <p:cNvGraphicFramePr/>
          <p:nvPr>
            <p:extLst>
              <p:ext uri="{D42A27DB-BD31-4B8C-83A1-F6EECF244321}">
                <p14:modId xmlns:p14="http://schemas.microsoft.com/office/powerpoint/2010/main" val="2227807340"/>
              </p:ext>
            </p:extLst>
          </p:nvPr>
        </p:nvGraphicFramePr>
        <p:xfrm>
          <a:off x="798425" y="2100825"/>
          <a:ext cx="8227150" cy="2340303"/>
        </p:xfrm>
        <a:graphic>
          <a:graphicData uri="http://schemas.openxmlformats.org/drawingml/2006/table">
            <a:tbl>
              <a:tblPr>
                <a:noFill/>
                <a:tableStyleId>{333E4C92-0323-474D-B3F6-9EFC611880AA}</a:tableStyleId>
              </a:tblPr>
              <a:tblGrid>
                <a:gridCol w="297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Smell Name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Symptom</a:t>
                      </a:r>
                      <a:endParaRPr sz="1100" b="1" dirty="0"/>
                    </a:p>
                  </a:txBody>
                  <a:tcPr marL="91425" marR="91425" marT="91425" marB="914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🚨 God Class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One class does too many unrelated things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💬 Long Method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Huge, unreadable methods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🔁 Duplicate Logic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Same code appears in many places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🧪 Hard-to-Test Code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Tight coupling and hidden dependencies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⚠️ Primitive Obsession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Using raw types instead of domain objects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1D5183"/>
      </a:accent1>
      <a:accent2>
        <a:srgbClr val="4163BB"/>
      </a:accent2>
      <a:accent3>
        <a:srgbClr val="009EDC"/>
      </a:accent3>
      <a:accent4>
        <a:srgbClr val="4163BB"/>
      </a:accent4>
      <a:accent5>
        <a:srgbClr val="1D5183"/>
      </a:accent5>
      <a:accent6>
        <a:srgbClr val="009EDC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Props1.xml><?xml version="1.0" encoding="utf-8"?>
<ds:datastoreItem xmlns:ds="http://schemas.openxmlformats.org/officeDocument/2006/customXml" ds:itemID="{2D6FF08A-7C7B-48A7-A1E7-7571994F974F}"/>
</file>

<file path=customXml/itemProps2.xml><?xml version="1.0" encoding="utf-8"?>
<ds:datastoreItem xmlns:ds="http://schemas.openxmlformats.org/officeDocument/2006/customXml" ds:itemID="{B4AECC85-E866-468B-A957-5769A5897D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FC1938-BD5E-47C2-9C36-674483114EE4}">
  <ds:schemaRefs>
    <ds:schemaRef ds:uri="http://schemas.microsoft.com/office/2006/metadata/properties"/>
    <ds:schemaRef ds:uri="http://schemas.microsoft.com/office/infopath/2007/PartnerControls"/>
    <ds:schemaRef ds:uri="2074a592-0284-4838-a99a-676a646e30ba"/>
    <ds:schemaRef ds:uri="e20d8d4b-1949-445f-b54d-8717a3d10a21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1775</Words>
  <Application>Microsoft Office PowerPoint</Application>
  <PresentationFormat>Apresentação na tela (16:9)</PresentationFormat>
  <Paragraphs>334</Paragraphs>
  <Slides>27</Slides>
  <Notes>27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Main</vt:lpstr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2</cp:revision>
  <dcterms:modified xsi:type="dcterms:W3CDTF">2025-08-18T14:09:11Z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ClassificationContentMarkingFooterLocations">
    <vt:lpwstr>Main:3\Main:3\Main:3</vt:lpwstr>
  </property>
  <property fmtid="{D5CDD505-2E9C-101B-9397-08002B2CF9AE}" pid="4" name="ClassificationContentMarkingFooterText">
    <vt:lpwstr>Público</vt:lpwstr>
  </property>
  <property fmtid="{D5CDD505-2E9C-101B-9397-08002B2CF9AE}" pid="5" name="MediaServiceImageTags">
    <vt:lpwstr/>
  </property>
</Properties>
</file>