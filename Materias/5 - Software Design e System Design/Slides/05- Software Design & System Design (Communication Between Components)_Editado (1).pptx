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4"/>
    <p:sldMasterId id="2147483666" r:id="rId5"/>
    <p:sldMasterId id="2147483667" r:id="rId6"/>
  </p:sldMasterIdLst>
  <p:notesMasterIdLst>
    <p:notesMasterId r:id="rId2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Poppins" panose="00000500000000000000" pitchFamily="2" charset="0"/>
      <p:regular r:id="rId32"/>
      <p:bold r:id="rId33"/>
      <p:italic r:id="rId34"/>
      <p:boldItalic r:id="rId35"/>
    </p:embeddedFont>
    <p:embeddedFont>
      <p:font typeface="Roboto Mono" panose="00000009000000000000" pitchFamily="49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16">
          <p15:clr>
            <a:srgbClr val="FF9900"/>
          </p15:clr>
        </p15:guide>
        <p15:guide id="2" orient="horz" pos="228">
          <p15:clr>
            <a:srgbClr val="747775"/>
          </p15:clr>
        </p15:guide>
        <p15:guide id="3" orient="horz" pos="432">
          <p15:clr>
            <a:srgbClr val="747775"/>
          </p15:clr>
        </p15:guide>
        <p15:guide id="4" pos="5171">
          <p15:clr>
            <a:srgbClr val="FF9900"/>
          </p15:clr>
        </p15:guide>
        <p15:guide id="5" orient="horz" pos="286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EDC"/>
    <a:srgbClr val="000000"/>
    <a:srgbClr val="3360AB"/>
    <a:srgbClr val="FFFFFF"/>
    <a:srgbClr val="D2D2FF"/>
    <a:srgbClr val="1616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967BC45-A497-4AF9-8EAE-200C8BC83C6D}">
  <a:tblStyle styleId="{C967BC45-A497-4AF9-8EAE-200C8BC83C6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83" y="96"/>
      </p:cViewPr>
      <p:guideLst>
        <p:guide pos="216"/>
        <p:guide orient="horz" pos="228"/>
        <p:guide orient="horz" pos="432"/>
        <p:guide pos="5171"/>
        <p:guide orient="horz" pos="28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font" Target="fonts/font12.fntdata"/><Relationship Id="rId21" Type="http://schemas.openxmlformats.org/officeDocument/2006/relationships/slide" Target="slides/slide15.xml"/><Relationship Id="rId34" Type="http://schemas.openxmlformats.org/officeDocument/2006/relationships/font" Target="fonts/font7.fntdata"/><Relationship Id="rId42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font" Target="fonts/font2.fntdata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font" Target="fonts/font4.fntdata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ableStyles" Target="tableStyle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yce Kelle Rodrigues Barbosa" userId="S::joyce.barbosa@kroton.com.br::8c08e31e-b3ba-42b8-b150-8158ecd9d93c" providerId="AD" clId="Web-{B8098A7B-988A-4606-B715-E72E70A6E6FC}"/>
    <pc:docChg chg="mod modMainMaster">
      <pc:chgData name="Joyce Kelle Rodrigues Barbosa" userId="S::joyce.barbosa@kroton.com.br::8c08e31e-b3ba-42b8-b150-8158ecd9d93c" providerId="AD" clId="Web-{B8098A7B-988A-4606-B715-E72E70A6E6FC}" dt="2025-08-18T14:08:44.781" v="1" actId="33475"/>
      <pc:docMkLst>
        <pc:docMk/>
      </pc:docMkLst>
      <pc:sldMasterChg chg="addSp">
        <pc:chgData name="Joyce Kelle Rodrigues Barbosa" userId="S::joyce.barbosa@kroton.com.br::8c08e31e-b3ba-42b8-b150-8158ecd9d93c" providerId="AD" clId="Web-{B8098A7B-988A-4606-B715-E72E70A6E6FC}" dt="2025-08-18T14:08:44.765" v="0" actId="33475"/>
        <pc:sldMasterMkLst>
          <pc:docMk/>
          <pc:sldMasterMk cId="0" sldId="2147483665"/>
        </pc:sldMasterMkLst>
        <pc:spChg chg="add">
          <ac:chgData name="Joyce Kelle Rodrigues Barbosa" userId="S::joyce.barbosa@kroton.com.br::8c08e31e-b3ba-42b8-b150-8158ecd9d93c" providerId="AD" clId="Web-{B8098A7B-988A-4606-B715-E72E70A6E6FC}" dt="2025-08-18T14:08:44.765" v="0" actId="33475"/>
          <ac:spMkLst>
            <pc:docMk/>
            <pc:sldMasterMk cId="0" sldId="2147483665"/>
            <ac:spMk id="3" creationId="{9A50AA50-F164-9048-743A-F4C9743EC0B5}"/>
          </ac:spMkLst>
        </pc:spChg>
      </pc:sldMasterChg>
      <pc:sldMasterChg chg="addSp">
        <pc:chgData name="Joyce Kelle Rodrigues Barbosa" userId="S::joyce.barbosa@kroton.com.br::8c08e31e-b3ba-42b8-b150-8158ecd9d93c" providerId="AD" clId="Web-{B8098A7B-988A-4606-B715-E72E70A6E6FC}" dt="2025-08-18T14:08:44.765" v="0" actId="33475"/>
        <pc:sldMasterMkLst>
          <pc:docMk/>
          <pc:sldMasterMk cId="0" sldId="2147483666"/>
        </pc:sldMasterMkLst>
        <pc:spChg chg="add">
          <ac:chgData name="Joyce Kelle Rodrigues Barbosa" userId="S::joyce.barbosa@kroton.com.br::8c08e31e-b3ba-42b8-b150-8158ecd9d93c" providerId="AD" clId="Web-{B8098A7B-988A-4606-B715-E72E70A6E6FC}" dt="2025-08-18T14:08:44.765" v="0" actId="33475"/>
          <ac:spMkLst>
            <pc:docMk/>
            <pc:sldMasterMk cId="0" sldId="2147483666"/>
            <ac:spMk id="3" creationId="{AA401960-C0A5-3049-DFE2-B885D948956D}"/>
          </ac:spMkLst>
        </pc:spChg>
      </pc:sldMasterChg>
      <pc:sldMasterChg chg="addSp">
        <pc:chgData name="Joyce Kelle Rodrigues Barbosa" userId="S::joyce.barbosa@kroton.com.br::8c08e31e-b3ba-42b8-b150-8158ecd9d93c" providerId="AD" clId="Web-{B8098A7B-988A-4606-B715-E72E70A6E6FC}" dt="2025-08-18T14:08:44.765" v="0" actId="33475"/>
        <pc:sldMasterMkLst>
          <pc:docMk/>
          <pc:sldMasterMk cId="0" sldId="2147483667"/>
        </pc:sldMasterMkLst>
        <pc:spChg chg="add">
          <ac:chgData name="Joyce Kelle Rodrigues Barbosa" userId="S::joyce.barbosa@kroton.com.br::8c08e31e-b3ba-42b8-b150-8158ecd9d93c" providerId="AD" clId="Web-{B8098A7B-988A-4606-B715-E72E70A6E6FC}" dt="2025-08-18T14:08:44.765" v="0" actId="33475"/>
          <ac:spMkLst>
            <pc:docMk/>
            <pc:sldMasterMk cId="0" sldId="2147483667"/>
            <ac:spMk id="3" creationId="{8AF9EC53-241F-2CAA-EF6A-38C2AC7AEBF4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d57c2f8f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g36d57c2f8f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e230fa3cf_0_7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Object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Heritage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Polymorphism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Encapsulation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Types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Database</a:t>
            </a:r>
            <a:br>
              <a:rPr lang="en"/>
            </a:br>
            <a:r>
              <a:rPr lang="en"/>
              <a:t>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Denormalization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Structure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"/>
            </a:br>
            <a:endParaRPr/>
          </a:p>
        </p:txBody>
      </p:sp>
      <p:sp>
        <p:nvSpPr>
          <p:cNvPr id="71" name="Google Shape;71;g36e230fa3cf_0_7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e3724fd60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Object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Heritage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Polymorphism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Encapsulation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Types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Database</a:t>
            </a:r>
            <a:br>
              <a:rPr lang="en"/>
            </a:br>
            <a:r>
              <a:rPr lang="en"/>
              <a:t>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Denormalization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Structure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"/>
            </a:br>
            <a:endParaRPr/>
          </a:p>
        </p:txBody>
      </p:sp>
      <p:sp>
        <p:nvSpPr>
          <p:cNvPr id="80" name="Google Shape;80;g36e3724fd6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e3724fd60_0_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Object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Heritage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Polymorphism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Encapsulation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Types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Database</a:t>
            </a:r>
            <a:br>
              <a:rPr lang="en"/>
            </a:br>
            <a:r>
              <a:rPr lang="en"/>
              <a:t>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Denormalization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Structure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"/>
            </a:br>
            <a:endParaRPr/>
          </a:p>
        </p:txBody>
      </p:sp>
      <p:sp>
        <p:nvSpPr>
          <p:cNvPr id="88" name="Google Shape;88;g36e3724fd60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e3724fd60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Object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Heritage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Polymorphism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Encapsulation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Types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Database</a:t>
            </a:r>
            <a:br>
              <a:rPr lang="en"/>
            </a:br>
            <a:r>
              <a:rPr lang="en"/>
              <a:t>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Denormalization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Structure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"/>
            </a:br>
            <a:endParaRPr/>
          </a:p>
        </p:txBody>
      </p:sp>
      <p:sp>
        <p:nvSpPr>
          <p:cNvPr id="96" name="Google Shape;96;g36e3724fd6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e3724fd60_0_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Object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Heritage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Polymorphism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Encapsulation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Types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Database</a:t>
            </a:r>
            <a:br>
              <a:rPr lang="en"/>
            </a:br>
            <a:r>
              <a:rPr lang="en"/>
              <a:t>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Denormalization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Structure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"/>
            </a:br>
            <a:endParaRPr/>
          </a:p>
        </p:txBody>
      </p:sp>
      <p:sp>
        <p:nvSpPr>
          <p:cNvPr id="104" name="Google Shape;104;g36e3724fd60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e3724fd60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Object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Heritage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Polymorphism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Encapsulation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Types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Database</a:t>
            </a:r>
            <a:br>
              <a:rPr lang="en"/>
            </a:br>
            <a:r>
              <a:rPr lang="en"/>
              <a:t>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Denormalization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Structure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"/>
            </a:br>
            <a:endParaRPr/>
          </a:p>
        </p:txBody>
      </p:sp>
      <p:sp>
        <p:nvSpPr>
          <p:cNvPr id="112" name="Google Shape;112;g36e3724fd60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e3724fd60_0_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Object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Heritage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Polymorphism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Encapsulation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Types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Database</a:t>
            </a:r>
            <a:br>
              <a:rPr lang="en"/>
            </a:br>
            <a:r>
              <a:rPr lang="en"/>
              <a:t>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Denormalization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Structure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"/>
            </a:br>
            <a:endParaRPr/>
          </a:p>
        </p:txBody>
      </p:sp>
      <p:sp>
        <p:nvSpPr>
          <p:cNvPr id="120" name="Google Shape;120;g36e3724fd60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e4f9d6f98_2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Object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Heritage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Polymorphism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Encapsulation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Types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Database</a:t>
            </a:r>
            <a:br>
              <a:rPr lang="en"/>
            </a:br>
            <a:r>
              <a:rPr lang="en"/>
              <a:t>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Denormalization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Structure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"/>
            </a:br>
            <a:endParaRPr/>
          </a:p>
        </p:txBody>
      </p:sp>
      <p:sp>
        <p:nvSpPr>
          <p:cNvPr id="128" name="Google Shape;128;g36e4f9d6f98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e4f9d6f98_2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Object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Heritage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Polymorphism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Encapsulation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Types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Database</a:t>
            </a:r>
            <a:br>
              <a:rPr lang="en"/>
            </a:br>
            <a:r>
              <a:rPr lang="en"/>
              <a:t>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Denormalization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Structure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"/>
            </a:br>
            <a:endParaRPr/>
          </a:p>
        </p:txBody>
      </p:sp>
      <p:sp>
        <p:nvSpPr>
          <p:cNvPr id="136" name="Google Shape;136;g36e4f9d6f98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e4f9d6f98_2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Object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Heritage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Polymorphism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Encapsulation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Types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Database</a:t>
            </a:r>
            <a:br>
              <a:rPr lang="en"/>
            </a:br>
            <a:r>
              <a:rPr lang="en"/>
              <a:t>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Denormalization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Structure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"/>
            </a:br>
            <a:endParaRPr/>
          </a:p>
        </p:txBody>
      </p:sp>
      <p:sp>
        <p:nvSpPr>
          <p:cNvPr id="144" name="Google Shape;144;g36e4f9d6f98_2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e4f9d6f98_2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Object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Heritage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Polymorphism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Encapsulation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Types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Database</a:t>
            </a:r>
            <a:br>
              <a:rPr lang="en"/>
            </a:br>
            <a:r>
              <a:rPr lang="en"/>
              <a:t>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Denormalization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Structure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"/>
            </a:br>
            <a:endParaRPr/>
          </a:p>
        </p:txBody>
      </p:sp>
      <p:sp>
        <p:nvSpPr>
          <p:cNvPr id="151" name="Google Shape;151;g36e4f9d6f98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e4f9d6f98_2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Object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Heritage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Polymorphism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Encapsulation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Types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Database</a:t>
            </a:r>
            <a:br>
              <a:rPr lang="en"/>
            </a:br>
            <a:r>
              <a:rPr lang="en"/>
              <a:t>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Denormalization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Structure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"/>
            </a:br>
            <a:endParaRPr/>
          </a:p>
        </p:txBody>
      </p:sp>
      <p:sp>
        <p:nvSpPr>
          <p:cNvPr id="159" name="Google Shape;159;g36e4f9d6f98_2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e4f9d6f98_2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Object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Heritage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Polymorphism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Encapsulation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Types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b="1"/>
              <a:t>Database</a:t>
            </a:r>
            <a:br>
              <a:rPr lang="en"/>
            </a:br>
            <a:r>
              <a:rPr lang="en"/>
              <a:t>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Denormalization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Structure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"/>
            </a:br>
            <a:endParaRPr/>
          </a:p>
        </p:txBody>
      </p:sp>
      <p:sp>
        <p:nvSpPr>
          <p:cNvPr id="166" name="Google Shape;166;g36e4f9d6f98_2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e4f9d6f98_2_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🔍 Tools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b="1">
                <a:solidFill>
                  <a:schemeClr val="dk1"/>
                </a:solidFill>
              </a:rPr>
              <a:t>Resilience4j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b="1">
                <a:solidFill>
                  <a:schemeClr val="dk1"/>
                </a:solidFill>
              </a:rPr>
              <a:t>Hystrix</a:t>
            </a:r>
            <a:r>
              <a:rPr lang="en">
                <a:solidFill>
                  <a:schemeClr val="dk1"/>
                </a:solidFill>
              </a:rPr>
              <a:t> (Java)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b="1">
                <a:solidFill>
                  <a:schemeClr val="dk1"/>
                </a:solidFill>
              </a:rPr>
              <a:t>Kubernetes</a:t>
            </a:r>
            <a:r>
              <a:rPr lang="en">
                <a:solidFill>
                  <a:schemeClr val="dk1"/>
                </a:solidFill>
              </a:rPr>
              <a:t> probes + self-healing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b="1">
                <a:solidFill>
                  <a:schemeClr val="dk1"/>
                </a:solidFill>
              </a:rPr>
              <a:t>NGINX / AWS ALB</a:t>
            </a:r>
            <a:r>
              <a:rPr lang="en">
                <a:solidFill>
                  <a:schemeClr val="dk1"/>
                </a:solidFill>
              </a:rPr>
              <a:t> for load balancing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b="1">
                <a:solidFill>
                  <a:schemeClr val="dk1"/>
                </a:solidFill>
              </a:rPr>
              <a:t>Monitoring + alerting</a:t>
            </a:r>
            <a:r>
              <a:rPr lang="en">
                <a:solidFill>
                  <a:schemeClr val="dk1"/>
                </a:solidFill>
              </a:rPr>
              <a:t>: Prometheus, Grafana, ELK</a:t>
            </a:r>
            <a:endParaRPr b="1"/>
          </a:p>
        </p:txBody>
      </p:sp>
      <p:sp>
        <p:nvSpPr>
          <p:cNvPr id="173" name="Google Shape;173;g36e4f9d6f98_2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e4f9d6f98_2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" sz="1300" b="1">
                <a:solidFill>
                  <a:schemeClr val="dk1"/>
                </a:solidFill>
              </a:rPr>
              <a:t>🔍 Tools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b="1">
                <a:solidFill>
                  <a:schemeClr val="dk1"/>
                </a:solidFill>
              </a:rPr>
              <a:t>Resilience4j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b="1">
                <a:solidFill>
                  <a:schemeClr val="dk1"/>
                </a:solidFill>
              </a:rPr>
              <a:t>Hystrix</a:t>
            </a:r>
            <a:r>
              <a:rPr lang="en">
                <a:solidFill>
                  <a:schemeClr val="dk1"/>
                </a:solidFill>
              </a:rPr>
              <a:t> (Java)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b="1">
                <a:solidFill>
                  <a:schemeClr val="dk1"/>
                </a:solidFill>
              </a:rPr>
              <a:t>Kubernetes</a:t>
            </a:r>
            <a:r>
              <a:rPr lang="en">
                <a:solidFill>
                  <a:schemeClr val="dk1"/>
                </a:solidFill>
              </a:rPr>
              <a:t> probes + self-healing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b="1">
                <a:solidFill>
                  <a:schemeClr val="dk1"/>
                </a:solidFill>
              </a:rPr>
              <a:t>NGINX / AWS ALB</a:t>
            </a:r>
            <a:r>
              <a:rPr lang="en">
                <a:solidFill>
                  <a:schemeClr val="dk1"/>
                </a:solidFill>
              </a:rPr>
              <a:t> for load balancing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b="1">
                <a:solidFill>
                  <a:schemeClr val="dk1"/>
                </a:solidFill>
              </a:rPr>
              <a:t>Monitoring + alerting</a:t>
            </a:r>
            <a:r>
              <a:rPr lang="en">
                <a:solidFill>
                  <a:schemeClr val="dk1"/>
                </a:solidFill>
              </a:rPr>
              <a:t>: Prometheus, Grafana, ELK</a:t>
            </a:r>
            <a:endParaRPr b="1"/>
          </a:p>
        </p:txBody>
      </p:sp>
      <p:sp>
        <p:nvSpPr>
          <p:cNvPr id="180" name="Google Shape;180;g36e4f9d6f98_2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e4f9d6f98_2_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" sz="1300" b="1">
                <a:solidFill>
                  <a:schemeClr val="dk1"/>
                </a:solidFill>
              </a:rPr>
              <a:t>🔍 Tools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b="1">
                <a:solidFill>
                  <a:schemeClr val="dk1"/>
                </a:solidFill>
              </a:rPr>
              <a:t>Resilience4j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b="1">
                <a:solidFill>
                  <a:schemeClr val="dk1"/>
                </a:solidFill>
              </a:rPr>
              <a:t>Hystrix</a:t>
            </a:r>
            <a:r>
              <a:rPr lang="en">
                <a:solidFill>
                  <a:schemeClr val="dk1"/>
                </a:solidFill>
              </a:rPr>
              <a:t> (Java)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b="1">
                <a:solidFill>
                  <a:schemeClr val="dk1"/>
                </a:solidFill>
              </a:rPr>
              <a:t>Kubernetes</a:t>
            </a:r>
            <a:r>
              <a:rPr lang="en">
                <a:solidFill>
                  <a:schemeClr val="dk1"/>
                </a:solidFill>
              </a:rPr>
              <a:t> probes + self-healing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b="1">
                <a:solidFill>
                  <a:schemeClr val="dk1"/>
                </a:solidFill>
              </a:rPr>
              <a:t>NGINX / AWS ALB</a:t>
            </a:r>
            <a:r>
              <a:rPr lang="en">
                <a:solidFill>
                  <a:schemeClr val="dk1"/>
                </a:solidFill>
              </a:rPr>
              <a:t> for load balancing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b="1">
                <a:solidFill>
                  <a:schemeClr val="dk1"/>
                </a:solidFill>
              </a:rPr>
              <a:t>Monitoring + alerting</a:t>
            </a:r>
            <a:r>
              <a:rPr lang="en">
                <a:solidFill>
                  <a:schemeClr val="dk1"/>
                </a:solidFill>
              </a:rPr>
              <a:t>: Prometheus, Grafana, ELK</a:t>
            </a:r>
            <a:endParaRPr b="1"/>
          </a:p>
        </p:txBody>
      </p:sp>
      <p:sp>
        <p:nvSpPr>
          <p:cNvPr id="188" name="Google Shape;188;g36e4f9d6f98_2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e4f9d6f98_2_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" sz="1300" b="1">
                <a:solidFill>
                  <a:schemeClr val="dk1"/>
                </a:solidFill>
              </a:rPr>
              <a:t>🔍 Tools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b="1">
                <a:solidFill>
                  <a:schemeClr val="dk1"/>
                </a:solidFill>
              </a:rPr>
              <a:t>Resilience4j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b="1">
                <a:solidFill>
                  <a:schemeClr val="dk1"/>
                </a:solidFill>
              </a:rPr>
              <a:t>Hystrix</a:t>
            </a:r>
            <a:r>
              <a:rPr lang="en">
                <a:solidFill>
                  <a:schemeClr val="dk1"/>
                </a:solidFill>
              </a:rPr>
              <a:t> (Java)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b="1">
                <a:solidFill>
                  <a:schemeClr val="dk1"/>
                </a:solidFill>
              </a:rPr>
              <a:t>Kubernetes</a:t>
            </a:r>
            <a:r>
              <a:rPr lang="en">
                <a:solidFill>
                  <a:schemeClr val="dk1"/>
                </a:solidFill>
              </a:rPr>
              <a:t> probes + self-healing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b="1">
                <a:solidFill>
                  <a:schemeClr val="dk1"/>
                </a:solidFill>
              </a:rPr>
              <a:t>NGINX / AWS ALB</a:t>
            </a:r>
            <a:r>
              <a:rPr lang="en">
                <a:solidFill>
                  <a:schemeClr val="dk1"/>
                </a:solidFill>
              </a:rPr>
              <a:t> for load balancing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b="1">
                <a:solidFill>
                  <a:schemeClr val="dk1"/>
                </a:solidFill>
              </a:rPr>
              <a:t>Monitoring + alerting</a:t>
            </a:r>
            <a:r>
              <a:rPr lang="en">
                <a:solidFill>
                  <a:schemeClr val="dk1"/>
                </a:solidFill>
              </a:rPr>
              <a:t>: Prometheus, Grafana, ELK</a:t>
            </a:r>
            <a:endParaRPr b="1"/>
          </a:p>
        </p:txBody>
      </p:sp>
      <p:sp>
        <p:nvSpPr>
          <p:cNvPr id="197" name="Google Shape;197;g36e4f9d6f98_2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6e4f9d6f98_2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b="1"/>
          </a:p>
        </p:txBody>
      </p:sp>
      <p:sp>
        <p:nvSpPr>
          <p:cNvPr id="204" name="Google Shape;204;g36e4f9d6f98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Title Slide_1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">
  <p:cSld name="Title Slid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63024" y="4741400"/>
            <a:ext cx="256949" cy="3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 1">
  <p:cSld name="Title Slide_3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5"/>
          <p:cNvSpPr txBox="1">
            <a:spLocks noGrp="1"/>
          </p:cNvSpPr>
          <p:nvPr>
            <p:ph type="title"/>
          </p:nvPr>
        </p:nvSpPr>
        <p:spPr>
          <a:xfrm>
            <a:off x="342550" y="244675"/>
            <a:ext cx="33138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Medium"/>
              <a:buNone/>
              <a:defRPr sz="1400" b="0" i="0" u="none" strike="noStrike" cap="none">
                <a:solidFill>
                  <a:srgbClr val="000000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subTitle" idx="1"/>
          </p:nvPr>
        </p:nvSpPr>
        <p:spPr>
          <a:xfrm>
            <a:off x="398350" y="650250"/>
            <a:ext cx="32580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body" idx="2"/>
          </p:nvPr>
        </p:nvSpPr>
        <p:spPr>
          <a:xfrm>
            <a:off x="398350" y="1943850"/>
            <a:ext cx="5215200" cy="25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7" name="Google Shape;17;p5"/>
          <p:cNvSpPr/>
          <p:nvPr/>
        </p:nvSpPr>
        <p:spPr>
          <a:xfrm>
            <a:off x="6227350" y="-397537"/>
            <a:ext cx="5975778" cy="6243350"/>
          </a:xfrm>
          <a:custGeom>
            <a:avLst/>
            <a:gdLst/>
            <a:ahLst/>
            <a:cxnLst/>
            <a:rect l="l" t="t" r="r" b="b"/>
            <a:pathLst>
              <a:path w="7135257" h="7135257" extrusionOk="0">
                <a:moveTo>
                  <a:pt x="3567626" y="0"/>
                </a:moveTo>
                <a:cubicBezTo>
                  <a:pt x="3783404" y="0"/>
                  <a:pt x="3999181" y="30869"/>
                  <a:pt x="4207766" y="92606"/>
                </a:cubicBezTo>
                <a:lnTo>
                  <a:pt x="4339338" y="138627"/>
                </a:lnTo>
                <a:lnTo>
                  <a:pt x="6847357" y="138627"/>
                </a:lnTo>
                <a:lnTo>
                  <a:pt x="6847357" y="2470155"/>
                </a:lnTo>
                <a:lnTo>
                  <a:pt x="6878019" y="2522042"/>
                </a:lnTo>
                <a:cubicBezTo>
                  <a:pt x="7221003" y="3174705"/>
                  <a:pt x="7221003" y="3960557"/>
                  <a:pt x="6878019" y="4613219"/>
                </a:cubicBezTo>
                <a:lnTo>
                  <a:pt x="6847357" y="4665107"/>
                </a:lnTo>
                <a:lnTo>
                  <a:pt x="6847357" y="6996627"/>
                </a:lnTo>
                <a:lnTo>
                  <a:pt x="4339351" y="6996627"/>
                </a:lnTo>
                <a:lnTo>
                  <a:pt x="4207770" y="7042651"/>
                </a:lnTo>
                <a:cubicBezTo>
                  <a:pt x="3442959" y="7269021"/>
                  <a:pt x="2581451" y="7080380"/>
                  <a:pt x="1977799" y="6476728"/>
                </a:cubicBezTo>
                <a:lnTo>
                  <a:pt x="658529" y="5157458"/>
                </a:lnTo>
                <a:cubicBezTo>
                  <a:pt x="-219510" y="4279419"/>
                  <a:pt x="-219510" y="2855835"/>
                  <a:pt x="658529" y="1977795"/>
                </a:cubicBezTo>
                <a:lnTo>
                  <a:pt x="1977795" y="658530"/>
                </a:lnTo>
                <a:cubicBezTo>
                  <a:pt x="2416815" y="219510"/>
                  <a:pt x="2992220" y="0"/>
                  <a:pt x="356762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5"/>
          <p:cNvPicPr preferRelativeResize="0"/>
          <p:nvPr/>
        </p:nvPicPr>
        <p:blipFill rotWithShape="1">
          <a:blip r:embed="rId3">
            <a:alphaModFix/>
          </a:blip>
          <a:srcRect t="13615" b="13615"/>
          <a:stretch/>
        </p:blipFill>
        <p:spPr>
          <a:xfrm>
            <a:off x="6302460" y="-286782"/>
            <a:ext cx="5755003" cy="5984081"/>
          </a:xfrm>
          <a:custGeom>
            <a:avLst/>
            <a:gdLst/>
            <a:ahLst/>
            <a:cxnLst/>
            <a:rect l="l" t="t" r="r" b="b"/>
            <a:pathLst>
              <a:path w="6577146" h="6838950" extrusionOk="0">
                <a:moveTo>
                  <a:pt x="2656971" y="0"/>
                </a:moveTo>
                <a:lnTo>
                  <a:pt x="6571074" y="0"/>
                </a:lnTo>
                <a:lnTo>
                  <a:pt x="6571074" y="2322003"/>
                </a:lnTo>
                <a:lnTo>
                  <a:pt x="6577146" y="2332710"/>
                </a:lnTo>
                <a:lnTo>
                  <a:pt x="6577146" y="4506248"/>
                </a:lnTo>
                <a:lnTo>
                  <a:pt x="6571074" y="4516955"/>
                </a:lnTo>
                <a:lnTo>
                  <a:pt x="6571074" y="6838950"/>
                </a:lnTo>
                <a:lnTo>
                  <a:pt x="2653408" y="6838950"/>
                </a:lnTo>
                <a:lnTo>
                  <a:pt x="2636156" y="6832602"/>
                </a:lnTo>
                <a:cubicBezTo>
                  <a:pt x="2367267" y="6722954"/>
                  <a:pt x="2115234" y="6554946"/>
                  <a:pt x="1897998" y="6328576"/>
                </a:cubicBezTo>
                <a:lnTo>
                  <a:pt x="631959" y="5009306"/>
                </a:lnTo>
                <a:cubicBezTo>
                  <a:pt x="-210652" y="4131267"/>
                  <a:pt x="-210652" y="2707683"/>
                  <a:pt x="631959" y="1829643"/>
                </a:cubicBezTo>
                <a:lnTo>
                  <a:pt x="1897994" y="510378"/>
                </a:lnTo>
                <a:cubicBezTo>
                  <a:pt x="2108647" y="290868"/>
                  <a:pt x="2352021" y="126236"/>
                  <a:pt x="2611755" y="16481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footer">
  <p:cSld name="Title Slide_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subTitle" idx="1"/>
          </p:nvPr>
        </p:nvSpPr>
        <p:spPr>
          <a:xfrm>
            <a:off x="1428187" y="349931"/>
            <a:ext cx="5353500" cy="3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Title Slide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">
  <p:cSld name="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63024" y="4741400"/>
            <a:ext cx="256949" cy="3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 1">
  <p:cSld name="Title Slide_3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2"/>
          <p:cNvSpPr txBox="1">
            <a:spLocks noGrp="1"/>
          </p:cNvSpPr>
          <p:nvPr>
            <p:ph type="title"/>
          </p:nvPr>
        </p:nvSpPr>
        <p:spPr>
          <a:xfrm>
            <a:off x="342550" y="244675"/>
            <a:ext cx="33138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Medium"/>
              <a:buNone/>
              <a:defRPr sz="1400" b="0" i="0" u="none" strike="noStrike" cap="none">
                <a:solidFill>
                  <a:srgbClr val="000000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subTitle" idx="1"/>
          </p:nvPr>
        </p:nvSpPr>
        <p:spPr>
          <a:xfrm>
            <a:off x="398350" y="650250"/>
            <a:ext cx="32580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body" idx="2"/>
          </p:nvPr>
        </p:nvSpPr>
        <p:spPr>
          <a:xfrm>
            <a:off x="398350" y="1943850"/>
            <a:ext cx="5215200" cy="25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35" name="Google Shape;35;p12"/>
          <p:cNvSpPr/>
          <p:nvPr/>
        </p:nvSpPr>
        <p:spPr>
          <a:xfrm>
            <a:off x="6227350" y="-397537"/>
            <a:ext cx="5975778" cy="6243350"/>
          </a:xfrm>
          <a:custGeom>
            <a:avLst/>
            <a:gdLst/>
            <a:ahLst/>
            <a:cxnLst/>
            <a:rect l="l" t="t" r="r" b="b"/>
            <a:pathLst>
              <a:path w="7135257" h="7135257" extrusionOk="0">
                <a:moveTo>
                  <a:pt x="3567626" y="0"/>
                </a:moveTo>
                <a:cubicBezTo>
                  <a:pt x="3783404" y="0"/>
                  <a:pt x="3999181" y="30869"/>
                  <a:pt x="4207766" y="92606"/>
                </a:cubicBezTo>
                <a:lnTo>
                  <a:pt x="4339338" y="138627"/>
                </a:lnTo>
                <a:lnTo>
                  <a:pt x="6847357" y="138627"/>
                </a:lnTo>
                <a:lnTo>
                  <a:pt x="6847357" y="2470155"/>
                </a:lnTo>
                <a:lnTo>
                  <a:pt x="6878019" y="2522042"/>
                </a:lnTo>
                <a:cubicBezTo>
                  <a:pt x="7221003" y="3174705"/>
                  <a:pt x="7221003" y="3960557"/>
                  <a:pt x="6878019" y="4613219"/>
                </a:cubicBezTo>
                <a:lnTo>
                  <a:pt x="6847357" y="4665107"/>
                </a:lnTo>
                <a:lnTo>
                  <a:pt x="6847357" y="6996627"/>
                </a:lnTo>
                <a:lnTo>
                  <a:pt x="4339351" y="6996627"/>
                </a:lnTo>
                <a:lnTo>
                  <a:pt x="4207770" y="7042651"/>
                </a:lnTo>
                <a:cubicBezTo>
                  <a:pt x="3442959" y="7269021"/>
                  <a:pt x="2581451" y="7080380"/>
                  <a:pt x="1977799" y="6476728"/>
                </a:cubicBezTo>
                <a:lnTo>
                  <a:pt x="658529" y="5157458"/>
                </a:lnTo>
                <a:cubicBezTo>
                  <a:pt x="-219510" y="4279419"/>
                  <a:pt x="-219510" y="2855835"/>
                  <a:pt x="658529" y="1977795"/>
                </a:cubicBezTo>
                <a:lnTo>
                  <a:pt x="1977795" y="658530"/>
                </a:lnTo>
                <a:cubicBezTo>
                  <a:pt x="2416815" y="219510"/>
                  <a:pt x="2992220" y="0"/>
                  <a:pt x="356762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12"/>
          <p:cNvPicPr preferRelativeResize="0"/>
          <p:nvPr/>
        </p:nvPicPr>
        <p:blipFill rotWithShape="1">
          <a:blip r:embed="rId3">
            <a:alphaModFix/>
          </a:blip>
          <a:srcRect t="13615" b="13615"/>
          <a:stretch/>
        </p:blipFill>
        <p:spPr>
          <a:xfrm>
            <a:off x="6302460" y="-286782"/>
            <a:ext cx="5755003" cy="5984081"/>
          </a:xfrm>
          <a:custGeom>
            <a:avLst/>
            <a:gdLst/>
            <a:ahLst/>
            <a:cxnLst/>
            <a:rect l="l" t="t" r="r" b="b"/>
            <a:pathLst>
              <a:path w="6577146" h="6838950" extrusionOk="0">
                <a:moveTo>
                  <a:pt x="2656971" y="0"/>
                </a:moveTo>
                <a:lnTo>
                  <a:pt x="6571074" y="0"/>
                </a:lnTo>
                <a:lnTo>
                  <a:pt x="6571074" y="2322003"/>
                </a:lnTo>
                <a:lnTo>
                  <a:pt x="6577146" y="2332710"/>
                </a:lnTo>
                <a:lnTo>
                  <a:pt x="6577146" y="4506248"/>
                </a:lnTo>
                <a:lnTo>
                  <a:pt x="6571074" y="4516955"/>
                </a:lnTo>
                <a:lnTo>
                  <a:pt x="6571074" y="6838950"/>
                </a:lnTo>
                <a:lnTo>
                  <a:pt x="2653408" y="6838950"/>
                </a:lnTo>
                <a:lnTo>
                  <a:pt x="2636156" y="6832602"/>
                </a:lnTo>
                <a:cubicBezTo>
                  <a:pt x="2367267" y="6722954"/>
                  <a:pt x="2115234" y="6554946"/>
                  <a:pt x="1897998" y="6328576"/>
                </a:cubicBezTo>
                <a:lnTo>
                  <a:pt x="631959" y="5009306"/>
                </a:lnTo>
                <a:cubicBezTo>
                  <a:pt x="-210652" y="4131267"/>
                  <a:pt x="-210652" y="2707683"/>
                  <a:pt x="631959" y="1829643"/>
                </a:cubicBezTo>
                <a:lnTo>
                  <a:pt x="1897994" y="510378"/>
                </a:lnTo>
                <a:cubicBezTo>
                  <a:pt x="2108647" y="290868"/>
                  <a:pt x="2352021" y="126236"/>
                  <a:pt x="2611755" y="16481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footer">
  <p:cSld name="Title Slide_2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 txBox="1">
            <a:spLocks noGrp="1"/>
          </p:cNvSpPr>
          <p:nvPr>
            <p:ph type="subTitle" idx="1"/>
          </p:nvPr>
        </p:nvSpPr>
        <p:spPr>
          <a:xfrm>
            <a:off x="1428187" y="349931"/>
            <a:ext cx="5353500" cy="3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">
  <p:cSld name="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63024" y="4741400"/>
            <a:ext cx="256949" cy="3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footer">
  <p:cSld name="Title Slide_2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Title Slide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subTitle" idx="1"/>
          </p:nvPr>
        </p:nvSpPr>
        <p:spPr>
          <a:xfrm>
            <a:off x="1428187" y="349931"/>
            <a:ext cx="5353500" cy="3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300"/>
              <a:buNone/>
              <a:defRPr sz="3500"/>
            </a:lvl1pPr>
            <a:lvl2pPr lvl="1" algn="l">
              <a:spcBef>
                <a:spcPts val="0"/>
              </a:spcBef>
              <a:spcAft>
                <a:spcPts val="0"/>
              </a:spcAft>
              <a:buSzPts val="3300"/>
              <a:buNone/>
              <a:defRPr sz="3500"/>
            </a:lvl2pPr>
            <a:lvl3pPr lvl="2" algn="l">
              <a:spcBef>
                <a:spcPts val="0"/>
              </a:spcBef>
              <a:spcAft>
                <a:spcPts val="0"/>
              </a:spcAft>
              <a:buSzPts val="3300"/>
              <a:buNone/>
              <a:defRPr sz="3500"/>
            </a:lvl3pPr>
            <a:lvl4pPr lvl="3" algn="l">
              <a:spcBef>
                <a:spcPts val="0"/>
              </a:spcBef>
              <a:spcAft>
                <a:spcPts val="0"/>
              </a:spcAft>
              <a:buSzPts val="3300"/>
              <a:buNone/>
              <a:defRPr sz="3500"/>
            </a:lvl4pPr>
            <a:lvl5pPr lvl="4" algn="l">
              <a:spcBef>
                <a:spcPts val="0"/>
              </a:spcBef>
              <a:spcAft>
                <a:spcPts val="0"/>
              </a:spcAft>
              <a:buSzPts val="3300"/>
              <a:buNone/>
              <a:defRPr sz="3500"/>
            </a:lvl5pPr>
            <a:lvl6pPr lvl="5" algn="l">
              <a:spcBef>
                <a:spcPts val="0"/>
              </a:spcBef>
              <a:spcAft>
                <a:spcPts val="0"/>
              </a:spcAft>
              <a:buSzPts val="3300"/>
              <a:buNone/>
              <a:defRPr sz="3500"/>
            </a:lvl6pPr>
            <a:lvl7pPr lvl="6" algn="l">
              <a:spcBef>
                <a:spcPts val="0"/>
              </a:spcBef>
              <a:spcAft>
                <a:spcPts val="0"/>
              </a:spcAft>
              <a:buSzPts val="3300"/>
              <a:buNone/>
              <a:defRPr sz="3500"/>
            </a:lvl7pPr>
            <a:lvl8pPr lvl="7" algn="l">
              <a:spcBef>
                <a:spcPts val="0"/>
              </a:spcBef>
              <a:spcAft>
                <a:spcPts val="0"/>
              </a:spcAft>
              <a:buSzPts val="3300"/>
              <a:buNone/>
              <a:defRPr sz="3500"/>
            </a:lvl8pPr>
            <a:lvl9pPr lvl="8" algn="l">
              <a:spcBef>
                <a:spcPts val="0"/>
              </a:spcBef>
              <a:spcAft>
                <a:spcPts val="0"/>
              </a:spcAft>
              <a:buSzPts val="3300"/>
              <a:buNone/>
              <a:defRPr sz="3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A50AA50-F164-9048-743A-F4C9743EC0B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441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A401960-C0A5-3049-DFE2-B885D948956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441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AF9EC53-241F-2CAA-EF6A-38C2AC7AEBF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441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D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ctrTitle"/>
          </p:nvPr>
        </p:nvSpPr>
        <p:spPr>
          <a:xfrm>
            <a:off x="886200" y="1095118"/>
            <a:ext cx="5979487" cy="1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4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Software Design &amp; System Design</a:t>
            </a:r>
            <a:endParaRPr sz="4000" b="0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p21"/>
          <p:cNvSpPr txBox="1"/>
          <p:nvPr/>
        </p:nvSpPr>
        <p:spPr>
          <a:xfrm>
            <a:off x="886200" y="2571750"/>
            <a:ext cx="563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Communication Between Components</a:t>
            </a:r>
            <a:endParaRPr sz="1800" b="0" i="0" u="none" strike="noStrike" cap="none"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21"/>
          <p:cNvSpPr txBox="1"/>
          <p:nvPr/>
        </p:nvSpPr>
        <p:spPr>
          <a:xfrm>
            <a:off x="886200" y="3658060"/>
            <a:ext cx="2155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Otávio Santana, Founder</a:t>
            </a:r>
            <a:endParaRPr sz="1200" b="0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    otavio@os.expert</a:t>
            </a:r>
            <a:endParaRPr sz="1200" b="0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" name="Google Shape;6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4325" y="3966760"/>
            <a:ext cx="130350" cy="1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 descr="Ícone&#10;&#10;O conteúdo gerado por IA pode estar incorreto.">
            <a:extLst>
              <a:ext uri="{FF2B5EF4-FFF2-40B4-BE49-F238E27FC236}">
                <a16:creationId xmlns:a16="http://schemas.microsoft.com/office/drawing/2014/main" id="{CD9780A4-CDB3-DD24-FB56-8200B347B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200" y="324267"/>
            <a:ext cx="566520" cy="708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B40B183-1C1F-49CD-07F2-8E5058253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64"/>
            <a:ext cx="9144000" cy="857250"/>
          </a:xfrm>
          <a:prstGeom prst="rect">
            <a:avLst/>
          </a:prstGeom>
        </p:spPr>
      </p:pic>
      <p:sp>
        <p:nvSpPr>
          <p:cNvPr id="66" name="Google Shape;66;p22"/>
          <p:cNvSpPr txBox="1"/>
          <p:nvPr/>
        </p:nvSpPr>
        <p:spPr>
          <a:xfrm>
            <a:off x="247164" y="129172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sz="2700" b="0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22"/>
          <p:cNvSpPr txBox="1"/>
          <p:nvPr/>
        </p:nvSpPr>
        <p:spPr>
          <a:xfrm>
            <a:off x="260278" y="435450"/>
            <a:ext cx="35103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Topics on this class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2"/>
          <p:cNvSpPr txBox="1"/>
          <p:nvPr/>
        </p:nvSpPr>
        <p:spPr>
          <a:xfrm>
            <a:off x="304650" y="1557425"/>
            <a:ext cx="8186100" cy="20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30200" algn="l" rtl="0">
              <a:spcBef>
                <a:spcPts val="70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Synchronous APIs (REST, gRPC)</a:t>
            </a:r>
            <a:endParaRPr sz="160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Asynchronous communication with queues and message brokers (Kafka, RabbitMQ)</a:t>
            </a:r>
            <a:endParaRPr sz="160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Robust interface design for integration</a:t>
            </a:r>
            <a:endParaRPr sz="160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High Availability and Fault Tolerance</a:t>
            </a:r>
            <a:endParaRPr sz="160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Resilient projects with Circuit Breakers and retries</a:t>
            </a:r>
            <a:endParaRPr sz="160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Replication and failover strategies</a:t>
            </a:r>
            <a:endParaRPr sz="160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Tools for monitoring and automatic recovery (auto-healing)</a:t>
            </a:r>
            <a:endParaRPr sz="160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1C8DDC6-83B8-7265-5718-9EC34A98F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7250"/>
          </a:xfrm>
          <a:prstGeom prst="rect">
            <a:avLst/>
          </a:prstGeom>
        </p:spPr>
      </p:pic>
      <p:sp>
        <p:nvSpPr>
          <p:cNvPr id="73" name="Google Shape;73;p23"/>
          <p:cNvSpPr txBox="1"/>
          <p:nvPr/>
        </p:nvSpPr>
        <p:spPr>
          <a:xfrm>
            <a:off x="294213" y="125331"/>
            <a:ext cx="54471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 panose="00000500000000000000" pitchFamily="2" charset="0"/>
                <a:ea typeface="Montserrat"/>
                <a:cs typeface="Poppins" panose="00000500000000000000" pitchFamily="2" charset="0"/>
                <a:sym typeface="Montserrat"/>
              </a:rPr>
              <a:t>Communication Between Components</a:t>
            </a:r>
            <a:endParaRPr sz="1800" b="1" i="0" u="none" strike="noStrike" cap="none" dirty="0">
              <a:solidFill>
                <a:schemeClr val="bg1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</p:txBody>
      </p:sp>
      <p:sp>
        <p:nvSpPr>
          <p:cNvPr id="74" name="Google Shape;74;p23"/>
          <p:cNvSpPr txBox="1"/>
          <p:nvPr/>
        </p:nvSpPr>
        <p:spPr>
          <a:xfrm>
            <a:off x="295025" y="452815"/>
            <a:ext cx="4852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Building systems that talk</a:t>
            </a:r>
            <a:endParaRPr sz="1400" i="0" u="none" strike="noStrike" cap="none"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23"/>
          <p:cNvSpPr txBox="1"/>
          <p:nvPr/>
        </p:nvSpPr>
        <p:spPr>
          <a:xfrm>
            <a:off x="317125" y="3861625"/>
            <a:ext cx="47052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Synchronous</a:t>
            </a:r>
            <a:r>
              <a:rPr lang="en" sz="1100">
                <a:solidFill>
                  <a:schemeClr val="dk1"/>
                </a:solidFill>
              </a:rPr>
              <a:t> — Real-time request-response (e.g., REST, gRPC)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Asynchronous</a:t>
            </a:r>
            <a:r>
              <a:rPr lang="en" sz="1100">
                <a:solidFill>
                  <a:schemeClr val="dk1"/>
                </a:solidFill>
              </a:rPr>
              <a:t> — Event or message-driven (e.g., Kafka, RabbitMQ)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76" name="Google Shape;7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175" y="1414020"/>
            <a:ext cx="4092183" cy="255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9383" y="1602789"/>
            <a:ext cx="4594617" cy="1873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A6FEDF0-7AF1-C942-FCE2-82931B31A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225"/>
            <a:ext cx="9144000" cy="857250"/>
          </a:xfrm>
          <a:prstGeom prst="rect">
            <a:avLst/>
          </a:prstGeom>
        </p:spPr>
      </p:pic>
      <p:sp>
        <p:nvSpPr>
          <p:cNvPr id="82" name="Google Shape;82;p24"/>
          <p:cNvSpPr txBox="1"/>
          <p:nvPr/>
        </p:nvSpPr>
        <p:spPr>
          <a:xfrm>
            <a:off x="242175" y="-8225"/>
            <a:ext cx="5447100" cy="61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Synchronous Communication with HTTP</a:t>
            </a:r>
            <a:endParaRPr sz="1800" b="1" dirty="0">
              <a:solidFill>
                <a:schemeClr val="bg1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</p:txBody>
      </p:sp>
      <p:sp>
        <p:nvSpPr>
          <p:cNvPr id="83" name="Google Shape;83;p24"/>
          <p:cNvSpPr txBox="1"/>
          <p:nvPr/>
        </p:nvSpPr>
        <p:spPr>
          <a:xfrm>
            <a:off x="242175" y="344956"/>
            <a:ext cx="39759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Simple, Documented, and Widely Adopted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24"/>
          <p:cNvSpPr txBox="1"/>
          <p:nvPr/>
        </p:nvSpPr>
        <p:spPr>
          <a:xfrm>
            <a:off x="242175" y="1876063"/>
            <a:ext cx="51993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🌍 Each request is self-contained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📄 Text-based: Uses formats like JSON or XML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📘 Self-documented: With OpenAPI (formerly Swagger)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🌐 </a:t>
            </a:r>
            <a:r>
              <a:rPr lang="en" b="1" dirty="0">
                <a:solidFill>
                  <a:schemeClr val="dk1"/>
                </a:solidFill>
              </a:rPr>
              <a:t>Public APIs</a:t>
            </a:r>
            <a:r>
              <a:rPr lang="en" dirty="0">
                <a:solidFill>
                  <a:schemeClr val="dk1"/>
                </a:solidFill>
              </a:rPr>
              <a:t> (Stripe, GitHub, AWS, etc.)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🧾 </a:t>
            </a:r>
            <a:r>
              <a:rPr lang="en" b="1" dirty="0">
                <a:solidFill>
                  <a:schemeClr val="dk1"/>
                </a:solidFill>
              </a:rPr>
              <a:t>Inter-organization communication</a:t>
            </a:r>
            <a:r>
              <a:rPr lang="en" dirty="0">
                <a:solidFill>
                  <a:schemeClr val="dk1"/>
                </a:solidFill>
              </a:rPr>
              <a:t> in B2B integrations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🛠️ Internal microservices with minimal tooling overhead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pic>
        <p:nvPicPr>
          <p:cNvPr id="85" name="Google Shape;8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5797" y="1574236"/>
            <a:ext cx="3373500" cy="1995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8E4E196-B9B5-0066-088B-2007BABA5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9100"/>
            <a:ext cx="9144000" cy="857250"/>
          </a:xfrm>
          <a:prstGeom prst="rect">
            <a:avLst/>
          </a:prstGeom>
        </p:spPr>
      </p:pic>
      <p:sp>
        <p:nvSpPr>
          <p:cNvPr id="90" name="Google Shape;90;p25"/>
          <p:cNvSpPr txBox="1"/>
          <p:nvPr/>
        </p:nvSpPr>
        <p:spPr>
          <a:xfrm>
            <a:off x="242175" y="-52125"/>
            <a:ext cx="5816654" cy="61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Practical REST Example – Payment Integration</a:t>
            </a:r>
            <a:endParaRPr sz="1800" b="1" dirty="0">
              <a:solidFill>
                <a:schemeClr val="bg1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</p:txBody>
      </p:sp>
      <p:sp>
        <p:nvSpPr>
          <p:cNvPr id="91" name="Google Shape;91;p25"/>
          <p:cNvSpPr txBox="1"/>
          <p:nvPr/>
        </p:nvSpPr>
        <p:spPr>
          <a:xfrm>
            <a:off x="242175" y="281776"/>
            <a:ext cx="47196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How Applications </a:t>
            </a: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Poppins" panose="00000500000000000000" pitchFamily="2" charset="0"/>
                <a:sym typeface="Montserrat"/>
              </a:rPr>
              <a:t>Talk</a:t>
            </a: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 to Payment Providers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2" name="Google Shape;92;p25"/>
          <p:cNvPicPr preferRelativeResize="0"/>
          <p:nvPr/>
        </p:nvPicPr>
        <p:blipFill rotWithShape="1">
          <a:blip r:embed="rId4">
            <a:alphaModFix/>
          </a:blip>
          <a:srcRect t="12671" b="4724"/>
          <a:stretch/>
        </p:blipFill>
        <p:spPr>
          <a:xfrm>
            <a:off x="1525799" y="1047635"/>
            <a:ext cx="2152351" cy="34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5"/>
          <p:cNvPicPr preferRelativeResize="0"/>
          <p:nvPr/>
        </p:nvPicPr>
        <p:blipFill rotWithShape="1">
          <a:blip r:embed="rId5">
            <a:alphaModFix/>
          </a:blip>
          <a:srcRect t="12280"/>
          <a:stretch/>
        </p:blipFill>
        <p:spPr>
          <a:xfrm>
            <a:off x="4572000" y="828150"/>
            <a:ext cx="3149925" cy="3969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B8D0F36-C132-A893-2A24-1F89090DE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798"/>
            <a:ext cx="9144000" cy="857250"/>
          </a:xfrm>
          <a:prstGeom prst="rect">
            <a:avLst/>
          </a:prstGeom>
        </p:spPr>
      </p:pic>
      <p:sp>
        <p:nvSpPr>
          <p:cNvPr id="98" name="Google Shape;98;p26"/>
          <p:cNvSpPr txBox="1"/>
          <p:nvPr/>
        </p:nvSpPr>
        <p:spPr>
          <a:xfrm>
            <a:off x="242174" y="37928"/>
            <a:ext cx="6255269" cy="61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Practical REST Example – Payment Integration</a:t>
            </a:r>
            <a:endParaRPr sz="1800" b="1" dirty="0">
              <a:solidFill>
                <a:schemeClr val="bg1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</p:txBody>
      </p:sp>
      <p:sp>
        <p:nvSpPr>
          <p:cNvPr id="99" name="Google Shape;99;p26"/>
          <p:cNvSpPr txBox="1"/>
          <p:nvPr/>
        </p:nvSpPr>
        <p:spPr>
          <a:xfrm>
            <a:off x="242174" y="347228"/>
            <a:ext cx="47196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How Applications Talk to Payment Providers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0" name="Google Shape;10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178" y="1194572"/>
            <a:ext cx="2783675" cy="327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4121" y="1406227"/>
            <a:ext cx="5764121" cy="2450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00CCFF2-60F2-0EB9-4908-42C59C26E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7250"/>
          </a:xfrm>
          <a:prstGeom prst="rect">
            <a:avLst/>
          </a:prstGeom>
        </p:spPr>
      </p:pic>
      <p:sp>
        <p:nvSpPr>
          <p:cNvPr id="106" name="Google Shape;106;p27"/>
          <p:cNvSpPr txBox="1"/>
          <p:nvPr/>
        </p:nvSpPr>
        <p:spPr>
          <a:xfrm>
            <a:off x="242175" y="-1048"/>
            <a:ext cx="6634410" cy="61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gRPC – High-Performance Remote Communication</a:t>
            </a:r>
            <a:endParaRPr sz="1800" b="1" dirty="0">
              <a:solidFill>
                <a:schemeClr val="bg1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</p:txBody>
      </p:sp>
      <p:sp>
        <p:nvSpPr>
          <p:cNvPr id="107" name="Google Shape;107;p27"/>
          <p:cNvSpPr txBox="1"/>
          <p:nvPr/>
        </p:nvSpPr>
        <p:spPr>
          <a:xfrm>
            <a:off x="295025" y="363605"/>
            <a:ext cx="50373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Fast, Typed, Contract-Driven Service-to-Service Calls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27"/>
          <p:cNvSpPr txBox="1"/>
          <p:nvPr/>
        </p:nvSpPr>
        <p:spPr>
          <a:xfrm>
            <a:off x="295025" y="1886850"/>
            <a:ext cx="38847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⚡ </a:t>
            </a:r>
            <a:r>
              <a:rPr lang="en" sz="1100" b="1" dirty="0">
                <a:solidFill>
                  <a:schemeClr val="dk1"/>
                </a:solidFill>
              </a:rPr>
              <a:t>High performance</a:t>
            </a:r>
            <a:r>
              <a:rPr lang="en" sz="1100" dirty="0">
                <a:solidFill>
                  <a:schemeClr val="dk1"/>
                </a:solidFill>
              </a:rPr>
              <a:t> via binary + HTTP/2 multiplexing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🔒 </a:t>
            </a:r>
            <a:r>
              <a:rPr lang="en" sz="1100" b="1" dirty="0">
                <a:solidFill>
                  <a:schemeClr val="dk1"/>
                </a:solidFill>
              </a:rPr>
              <a:t>Contract-based</a:t>
            </a:r>
            <a:r>
              <a:rPr lang="en" sz="1100" dirty="0">
                <a:solidFill>
                  <a:schemeClr val="dk1"/>
                </a:solidFill>
              </a:rPr>
              <a:t> with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.proto</a:t>
            </a:r>
            <a:r>
              <a:rPr lang="en" sz="1100" dirty="0">
                <a:solidFill>
                  <a:schemeClr val="dk1"/>
                </a:solidFill>
              </a:rPr>
              <a:t> definitions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🧩 </a:t>
            </a:r>
            <a:r>
              <a:rPr lang="en" sz="1100" b="1" dirty="0">
                <a:solidFill>
                  <a:schemeClr val="dk1"/>
                </a:solidFill>
              </a:rPr>
              <a:t>Bi-directional streaming</a:t>
            </a:r>
            <a:r>
              <a:rPr lang="en" sz="1100" dirty="0">
                <a:solidFill>
                  <a:schemeClr val="dk1"/>
                </a:solidFill>
              </a:rPr>
              <a:t> and real-time support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🌐 Language-agnostic (Java, Go, Python, etc.)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109" name="Google Shape;109;p27"/>
          <p:cNvSpPr txBox="1"/>
          <p:nvPr/>
        </p:nvSpPr>
        <p:spPr>
          <a:xfrm>
            <a:off x="4179725" y="1645720"/>
            <a:ext cx="4923300" cy="15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chemeClr val="dk1"/>
                </a:solidFill>
              </a:rPr>
              <a:t>🎯 When to Use</a:t>
            </a:r>
            <a:endParaRPr sz="13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Internal microservices where </a:t>
            </a:r>
            <a:r>
              <a:rPr lang="en" sz="1100" b="1" dirty="0">
                <a:solidFill>
                  <a:schemeClr val="dk1"/>
                </a:solidFill>
              </a:rPr>
              <a:t>performance and stability</a:t>
            </a:r>
            <a:r>
              <a:rPr lang="en" sz="1100" dirty="0">
                <a:solidFill>
                  <a:schemeClr val="dk1"/>
                </a:solidFill>
              </a:rPr>
              <a:t> are key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Systems requiring </a:t>
            </a:r>
            <a:r>
              <a:rPr lang="en" sz="1100" b="1" dirty="0">
                <a:solidFill>
                  <a:schemeClr val="dk1"/>
                </a:solidFill>
              </a:rPr>
              <a:t>streaming or low-latency</a:t>
            </a:r>
            <a:r>
              <a:rPr lang="en" sz="1100" dirty="0">
                <a:solidFill>
                  <a:schemeClr val="dk1"/>
                </a:solidFill>
              </a:rPr>
              <a:t> comms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Teams that prefer </a:t>
            </a:r>
            <a:r>
              <a:rPr lang="en" sz="1100" b="1" dirty="0">
                <a:solidFill>
                  <a:schemeClr val="dk1"/>
                </a:solidFill>
              </a:rPr>
              <a:t>strict contracts</a:t>
            </a:r>
            <a:r>
              <a:rPr lang="en" sz="1100" dirty="0">
                <a:solidFill>
                  <a:schemeClr val="dk1"/>
                </a:solidFill>
              </a:rPr>
              <a:t> between components</a:t>
            </a:r>
            <a:endParaRPr sz="1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49C9C8B-F543-E405-1D12-9FDC02F8B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7250"/>
          </a:xfrm>
          <a:prstGeom prst="rect">
            <a:avLst/>
          </a:prstGeom>
        </p:spPr>
      </p:pic>
      <p:sp>
        <p:nvSpPr>
          <p:cNvPr id="114" name="Google Shape;114;p28"/>
          <p:cNvSpPr txBox="1"/>
          <p:nvPr/>
        </p:nvSpPr>
        <p:spPr>
          <a:xfrm>
            <a:off x="295024" y="-19771"/>
            <a:ext cx="6395707" cy="61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</a:rPr>
              <a:t>gRPC – High-Performance Remote Communication</a:t>
            </a:r>
            <a:endParaRPr sz="1800" b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28"/>
          <p:cNvSpPr txBox="1"/>
          <p:nvPr/>
        </p:nvSpPr>
        <p:spPr>
          <a:xfrm>
            <a:off x="295025" y="326435"/>
            <a:ext cx="50373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Fast, Typed, Contract-Driven Service-to-Service Calls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28"/>
          <p:cNvSpPr txBox="1"/>
          <p:nvPr/>
        </p:nvSpPr>
        <p:spPr>
          <a:xfrm>
            <a:off x="295024" y="1809272"/>
            <a:ext cx="38847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⚡ </a:t>
            </a:r>
            <a:r>
              <a:rPr lang="en" sz="1100" b="1" dirty="0">
                <a:solidFill>
                  <a:schemeClr val="dk1"/>
                </a:solidFill>
              </a:rPr>
              <a:t>High performance</a:t>
            </a:r>
            <a:r>
              <a:rPr lang="en" sz="1100" dirty="0">
                <a:solidFill>
                  <a:schemeClr val="dk1"/>
                </a:solidFill>
              </a:rPr>
              <a:t> via binary + HTTP/2 multiplexing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🔒 </a:t>
            </a:r>
            <a:r>
              <a:rPr lang="en" sz="1100" b="1" dirty="0">
                <a:solidFill>
                  <a:schemeClr val="dk1"/>
                </a:solidFill>
              </a:rPr>
              <a:t>Contract-based</a:t>
            </a:r>
            <a:r>
              <a:rPr lang="en" sz="1100" dirty="0">
                <a:solidFill>
                  <a:schemeClr val="dk1"/>
                </a:solidFill>
              </a:rPr>
              <a:t> with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.proto</a:t>
            </a:r>
            <a:r>
              <a:rPr lang="en" sz="1100" dirty="0">
                <a:solidFill>
                  <a:schemeClr val="dk1"/>
                </a:solidFill>
              </a:rPr>
              <a:t> definitions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🧩 </a:t>
            </a:r>
            <a:r>
              <a:rPr lang="en" sz="1100" b="1" dirty="0">
                <a:solidFill>
                  <a:schemeClr val="dk1"/>
                </a:solidFill>
              </a:rPr>
              <a:t>Bi-directional streaming</a:t>
            </a:r>
            <a:r>
              <a:rPr lang="en" sz="1100" dirty="0">
                <a:solidFill>
                  <a:schemeClr val="dk1"/>
                </a:solidFill>
              </a:rPr>
              <a:t> and real-time support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🌐 Language-agnostic (Java, Go, Python, etc.)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117" name="Google Shape;117;p28"/>
          <p:cNvSpPr txBox="1"/>
          <p:nvPr/>
        </p:nvSpPr>
        <p:spPr>
          <a:xfrm>
            <a:off x="4179724" y="1456911"/>
            <a:ext cx="4923300" cy="15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chemeClr val="dk1"/>
                </a:solidFill>
              </a:rPr>
              <a:t>🎯 When to Use</a:t>
            </a:r>
            <a:endParaRPr sz="13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Internal microservices where </a:t>
            </a:r>
            <a:r>
              <a:rPr lang="en" sz="1100" b="1" dirty="0">
                <a:solidFill>
                  <a:schemeClr val="dk1"/>
                </a:solidFill>
              </a:rPr>
              <a:t>performance and stability</a:t>
            </a:r>
            <a:r>
              <a:rPr lang="en" sz="1100" dirty="0">
                <a:solidFill>
                  <a:schemeClr val="dk1"/>
                </a:solidFill>
              </a:rPr>
              <a:t> are key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Systems requiring </a:t>
            </a:r>
            <a:r>
              <a:rPr lang="en" sz="1100" b="1" dirty="0">
                <a:solidFill>
                  <a:schemeClr val="dk1"/>
                </a:solidFill>
              </a:rPr>
              <a:t>streaming or low-latency</a:t>
            </a:r>
            <a:r>
              <a:rPr lang="en" sz="1100" dirty="0">
                <a:solidFill>
                  <a:schemeClr val="dk1"/>
                </a:solidFill>
              </a:rPr>
              <a:t> comms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Teams that prefer </a:t>
            </a:r>
            <a:r>
              <a:rPr lang="en" sz="1100" b="1" dirty="0">
                <a:solidFill>
                  <a:schemeClr val="dk1"/>
                </a:solidFill>
              </a:rPr>
              <a:t>strict contracts</a:t>
            </a:r>
            <a:r>
              <a:rPr lang="en" sz="1100" dirty="0">
                <a:solidFill>
                  <a:schemeClr val="dk1"/>
                </a:solidFill>
              </a:rPr>
              <a:t> between components</a:t>
            </a:r>
            <a:endParaRPr sz="1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4F86ACC-D114-3717-C2E2-419EAC447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7250"/>
          </a:xfrm>
          <a:prstGeom prst="rect">
            <a:avLst/>
          </a:prstGeom>
        </p:spPr>
      </p:pic>
      <p:sp>
        <p:nvSpPr>
          <p:cNvPr id="122" name="Google Shape;122;p29"/>
          <p:cNvSpPr txBox="1"/>
          <p:nvPr/>
        </p:nvSpPr>
        <p:spPr>
          <a:xfrm>
            <a:off x="242175" y="-37575"/>
            <a:ext cx="5447100" cy="61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Practical REST Example – Stock</a:t>
            </a:r>
            <a:endParaRPr sz="1800" b="1" dirty="0">
              <a:solidFill>
                <a:schemeClr val="bg1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</p:txBody>
      </p:sp>
      <p:sp>
        <p:nvSpPr>
          <p:cNvPr id="123" name="Google Shape;123;p29"/>
          <p:cNvSpPr txBox="1"/>
          <p:nvPr/>
        </p:nvSpPr>
        <p:spPr>
          <a:xfrm>
            <a:off x="242175" y="306223"/>
            <a:ext cx="47196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How Applications Talk to Payment Providers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4" name="Google Shape;124;p29"/>
          <p:cNvPicPr preferRelativeResize="0"/>
          <p:nvPr/>
        </p:nvPicPr>
        <p:blipFill rotWithShape="1">
          <a:blip r:embed="rId4">
            <a:alphaModFix/>
          </a:blip>
          <a:srcRect t="11386"/>
          <a:stretch/>
        </p:blipFill>
        <p:spPr>
          <a:xfrm>
            <a:off x="1722902" y="936248"/>
            <a:ext cx="2922599" cy="4287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9"/>
          <p:cNvPicPr preferRelativeResize="0"/>
          <p:nvPr/>
        </p:nvPicPr>
        <p:blipFill rotWithShape="1">
          <a:blip r:embed="rId5">
            <a:alphaModFix/>
          </a:blip>
          <a:srcRect t="11095"/>
          <a:stretch/>
        </p:blipFill>
        <p:spPr>
          <a:xfrm>
            <a:off x="4572000" y="936248"/>
            <a:ext cx="3409925" cy="384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3A60700-AC44-C0EE-49CB-CED5B819A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63"/>
            <a:ext cx="9144000" cy="857250"/>
          </a:xfrm>
          <a:prstGeom prst="rect">
            <a:avLst/>
          </a:prstGeom>
        </p:spPr>
      </p:pic>
      <p:sp>
        <p:nvSpPr>
          <p:cNvPr id="130" name="Google Shape;130;p30"/>
          <p:cNvSpPr txBox="1"/>
          <p:nvPr/>
        </p:nvSpPr>
        <p:spPr>
          <a:xfrm>
            <a:off x="242175" y="-82827"/>
            <a:ext cx="5447100" cy="61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Practical REST Example – Stock</a:t>
            </a:r>
            <a:endParaRPr sz="1800" b="1" dirty="0">
              <a:solidFill>
                <a:schemeClr val="bg1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</p:txBody>
      </p:sp>
      <p:sp>
        <p:nvSpPr>
          <p:cNvPr id="131" name="Google Shape;131;p30"/>
          <p:cNvSpPr txBox="1"/>
          <p:nvPr/>
        </p:nvSpPr>
        <p:spPr>
          <a:xfrm>
            <a:off x="242175" y="268390"/>
            <a:ext cx="47196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How Applications Talk to Payment Providers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Google Shape;13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6215" y="1588795"/>
            <a:ext cx="5764123" cy="253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4688" y="1025708"/>
            <a:ext cx="1639525" cy="366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ABE9A21-FBF2-5762-9BE0-22681C087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7250"/>
          </a:xfrm>
          <a:prstGeom prst="rect">
            <a:avLst/>
          </a:prstGeom>
        </p:spPr>
      </p:pic>
      <p:sp>
        <p:nvSpPr>
          <p:cNvPr id="138" name="Google Shape;138;p31"/>
          <p:cNvSpPr txBox="1"/>
          <p:nvPr/>
        </p:nvSpPr>
        <p:spPr>
          <a:xfrm>
            <a:off x="288950" y="2325"/>
            <a:ext cx="5447100" cy="61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</a:rPr>
              <a:t>When REST and gRPC Work Together</a:t>
            </a:r>
            <a:endParaRPr sz="1800" b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31"/>
          <p:cNvSpPr txBox="1"/>
          <p:nvPr/>
        </p:nvSpPr>
        <p:spPr>
          <a:xfrm>
            <a:off x="288950" y="319327"/>
            <a:ext cx="65187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Mixing Protocols to Optimize Communication Across Boundaries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0" name="Google Shape;140;p31"/>
          <p:cNvPicPr preferRelativeResize="0"/>
          <p:nvPr/>
        </p:nvPicPr>
        <p:blipFill rotWithShape="1">
          <a:blip r:embed="rId4">
            <a:alphaModFix/>
          </a:blip>
          <a:srcRect t="13599"/>
          <a:stretch/>
        </p:blipFill>
        <p:spPr>
          <a:xfrm>
            <a:off x="1233086" y="1019702"/>
            <a:ext cx="3599109" cy="406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1"/>
          <p:cNvPicPr preferRelativeResize="0"/>
          <p:nvPr/>
        </p:nvPicPr>
        <p:blipFill rotWithShape="1">
          <a:blip r:embed="rId5">
            <a:alphaModFix/>
          </a:blip>
          <a:srcRect t="17018" b="6324"/>
          <a:stretch/>
        </p:blipFill>
        <p:spPr>
          <a:xfrm>
            <a:off x="4703919" y="1019702"/>
            <a:ext cx="3766443" cy="3722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AC3F42C-0F05-8F8E-4163-F902684A2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50" y="-27348"/>
            <a:ext cx="9144000" cy="857250"/>
          </a:xfrm>
          <a:prstGeom prst="rect">
            <a:avLst/>
          </a:prstGeom>
        </p:spPr>
      </p:pic>
      <p:sp>
        <p:nvSpPr>
          <p:cNvPr id="146" name="Google Shape;146;p32"/>
          <p:cNvSpPr txBox="1"/>
          <p:nvPr/>
        </p:nvSpPr>
        <p:spPr>
          <a:xfrm>
            <a:off x="242175" y="-77369"/>
            <a:ext cx="5447100" cy="61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When REST and gRPC Work Together</a:t>
            </a:r>
            <a:endParaRPr sz="1800" b="1" dirty="0">
              <a:solidFill>
                <a:schemeClr val="bg1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</p:txBody>
      </p:sp>
      <p:sp>
        <p:nvSpPr>
          <p:cNvPr id="147" name="Google Shape;147;p32"/>
          <p:cNvSpPr txBox="1"/>
          <p:nvPr/>
        </p:nvSpPr>
        <p:spPr>
          <a:xfrm>
            <a:off x="242175" y="238653"/>
            <a:ext cx="65187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Mixing Protocols to Optimize Communication Across Boundaries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8" name="Google Shape;14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8316" y="924063"/>
            <a:ext cx="6842825" cy="382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A638BD8-296A-A3C3-B13F-B729E2D28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7250"/>
          </a:xfrm>
          <a:prstGeom prst="rect">
            <a:avLst/>
          </a:prstGeom>
        </p:spPr>
      </p:pic>
      <p:sp>
        <p:nvSpPr>
          <p:cNvPr id="153" name="Google Shape;153;p33"/>
          <p:cNvSpPr txBox="1"/>
          <p:nvPr/>
        </p:nvSpPr>
        <p:spPr>
          <a:xfrm>
            <a:off x="242175" y="-60527"/>
            <a:ext cx="8128674" cy="61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Asynchronous Communication with Queues and Message Brokers</a:t>
            </a:r>
            <a:endParaRPr sz="1800" b="1" dirty="0">
              <a:solidFill>
                <a:schemeClr val="bg1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</p:txBody>
      </p:sp>
      <p:sp>
        <p:nvSpPr>
          <p:cNvPr id="154" name="Google Shape;154;p33"/>
          <p:cNvSpPr txBox="1"/>
          <p:nvPr/>
        </p:nvSpPr>
        <p:spPr>
          <a:xfrm>
            <a:off x="197571" y="283260"/>
            <a:ext cx="65187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 Decoupling Systems for Scalability and Resilience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33"/>
          <p:cNvSpPr txBox="1"/>
          <p:nvPr/>
        </p:nvSpPr>
        <p:spPr>
          <a:xfrm>
            <a:off x="362375" y="1521925"/>
            <a:ext cx="34689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📬 </a:t>
            </a:r>
            <a:r>
              <a:rPr lang="en" sz="1100" b="1">
                <a:solidFill>
                  <a:schemeClr val="dk1"/>
                </a:solidFill>
              </a:rPr>
              <a:t>Decouple producers and consumers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⏳ </a:t>
            </a:r>
            <a:r>
              <a:rPr lang="en" sz="1100" b="1">
                <a:solidFill>
                  <a:schemeClr val="dk1"/>
                </a:solidFill>
              </a:rPr>
              <a:t>Process at different speeds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🛠️ Increase </a:t>
            </a:r>
            <a:r>
              <a:rPr lang="en" sz="1100" b="1">
                <a:solidFill>
                  <a:schemeClr val="dk1"/>
                </a:solidFill>
              </a:rPr>
              <a:t>resilience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lang="en" sz="1100" b="1">
                <a:solidFill>
                  <a:schemeClr val="dk1"/>
                </a:solidFill>
              </a:rPr>
              <a:t>scalability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⚙️ Handle </a:t>
            </a:r>
            <a:r>
              <a:rPr lang="en" sz="1100" b="1">
                <a:solidFill>
                  <a:schemeClr val="dk1"/>
                </a:solidFill>
              </a:rPr>
              <a:t>event-driven</a:t>
            </a:r>
            <a:r>
              <a:rPr lang="en" sz="1100">
                <a:solidFill>
                  <a:schemeClr val="dk1"/>
                </a:solidFill>
              </a:rPr>
              <a:t> or </a:t>
            </a:r>
            <a:r>
              <a:rPr lang="en" sz="1100" b="1">
                <a:solidFill>
                  <a:schemeClr val="dk1"/>
                </a:solidFill>
              </a:rPr>
              <a:t>batch workflows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4336150" y="1362275"/>
            <a:ext cx="39348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✅ Loose coupling</a:t>
            </a:r>
            <a:br>
              <a:rPr lang="en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✅ Failure isolation (retries, dead-letter queues)</a:t>
            </a:r>
            <a:br>
              <a:rPr lang="en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✅ Load buffering</a:t>
            </a:r>
            <a:br>
              <a:rPr lang="en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✅ Parallel processing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9F17946-862A-83C9-3432-E973F91DE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7250"/>
          </a:xfrm>
          <a:prstGeom prst="rect">
            <a:avLst/>
          </a:prstGeom>
        </p:spPr>
      </p:pic>
      <p:sp>
        <p:nvSpPr>
          <p:cNvPr id="161" name="Google Shape;161;p34"/>
          <p:cNvSpPr txBox="1"/>
          <p:nvPr/>
        </p:nvSpPr>
        <p:spPr>
          <a:xfrm>
            <a:off x="242174" y="-45654"/>
            <a:ext cx="7600850" cy="61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</a:rPr>
              <a:t>Asynchronous Communication with Queues and Message Brokers</a:t>
            </a:r>
            <a:endParaRPr sz="1800" b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34"/>
          <p:cNvSpPr txBox="1"/>
          <p:nvPr/>
        </p:nvSpPr>
        <p:spPr>
          <a:xfrm>
            <a:off x="197571" y="312996"/>
            <a:ext cx="65187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 Decoupling Systems for Scalability and Resilience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3" name="Google Shape;16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571" y="1250748"/>
            <a:ext cx="8839201" cy="314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C67BE8F-C24E-F349-6431-CCD342E6C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9100"/>
            <a:ext cx="9144000" cy="857250"/>
          </a:xfrm>
          <a:prstGeom prst="rect">
            <a:avLst/>
          </a:prstGeom>
        </p:spPr>
      </p:pic>
      <p:sp>
        <p:nvSpPr>
          <p:cNvPr id="168" name="Google Shape;168;p35"/>
          <p:cNvSpPr txBox="1"/>
          <p:nvPr/>
        </p:nvSpPr>
        <p:spPr>
          <a:xfrm>
            <a:off x="242175" y="-97695"/>
            <a:ext cx="5447100" cy="61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Robust Interface Design for Integration</a:t>
            </a:r>
            <a:endParaRPr sz="1800" b="1" dirty="0">
              <a:solidFill>
                <a:schemeClr val="bg1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</p:txBody>
      </p:sp>
      <p:sp>
        <p:nvSpPr>
          <p:cNvPr id="169" name="Google Shape;169;p35"/>
          <p:cNvSpPr txBox="1"/>
          <p:nvPr/>
        </p:nvSpPr>
        <p:spPr>
          <a:xfrm>
            <a:off x="242175" y="275822"/>
            <a:ext cx="65187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Designing APIs and Contracts That Are Clear, Durable, and Evolvable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70" name="Google Shape;170;p35"/>
          <p:cNvGraphicFramePr/>
          <p:nvPr>
            <p:extLst>
              <p:ext uri="{D42A27DB-BD31-4B8C-83A1-F6EECF244321}">
                <p14:modId xmlns:p14="http://schemas.microsoft.com/office/powerpoint/2010/main" val="3162526848"/>
              </p:ext>
            </p:extLst>
          </p:nvPr>
        </p:nvGraphicFramePr>
        <p:xfrm>
          <a:off x="1546302" y="1132047"/>
          <a:ext cx="6600825" cy="3468003"/>
        </p:xfrm>
        <a:graphic>
          <a:graphicData uri="http://schemas.openxmlformats.org/drawingml/2006/table">
            <a:tbl>
              <a:tblPr>
                <a:noFill/>
                <a:tableStyleId>{C967BC45-A497-4AF9-8EAE-200C8BC83C6D}</a:tableStyleId>
              </a:tblPr>
              <a:tblGrid>
                <a:gridCol w="218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rgbClr val="000000"/>
                          </a:solidFill>
                        </a:rPr>
                        <a:t>Principle</a:t>
                      </a:r>
                      <a:endParaRPr sz="1100" b="1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sz="1100" b="1" dirty="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📄 Clear Contracts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/>
                        <a:t>Use OpenAPI/Swagger or </a:t>
                      </a:r>
                      <a:r>
                        <a:rPr lang="en" sz="1100" dirty="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.proto</a:t>
                      </a:r>
                      <a:r>
                        <a:rPr lang="en" sz="1100" dirty="0"/>
                        <a:t> to document exactly what is expected</a:t>
                      </a:r>
                      <a:endParaRPr sz="1100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🚦 Validation Rules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Enforce input/output formats, types, ranges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🛡️ Versioning Strategy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Always version external APIs (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/v1/...</a:t>
                      </a:r>
                      <a:r>
                        <a:rPr lang="en" sz="1100"/>
                        <a:t>)</a:t>
                      </a:r>
                      <a:endParaRPr sz="110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🔁 Idempotency Support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Make endpoints safe to retry (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PUT</a:t>
                      </a:r>
                      <a:r>
                        <a:rPr lang="en" sz="1100"/>
                        <a:t>, 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idempotency-key</a:t>
                      </a:r>
                      <a:r>
                        <a:rPr lang="en" sz="1100"/>
                        <a:t> headers)</a:t>
                      </a:r>
                      <a:endParaRPr sz="110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🪪 Authentication &amp; Authorization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Design with security and scopes in mind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🧪 Testable Interfaces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Provide mocks/stubs for partner testing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📊 Observability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Log, trace, and monitor interactions for reliability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8756C7A-9054-902E-7D42-75C933F41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9650"/>
            <a:ext cx="9144000" cy="857250"/>
          </a:xfrm>
          <a:prstGeom prst="rect">
            <a:avLst/>
          </a:prstGeom>
        </p:spPr>
      </p:pic>
      <p:sp>
        <p:nvSpPr>
          <p:cNvPr id="175" name="Google Shape;175;p36"/>
          <p:cNvSpPr txBox="1"/>
          <p:nvPr/>
        </p:nvSpPr>
        <p:spPr>
          <a:xfrm>
            <a:off x="242175" y="-49650"/>
            <a:ext cx="5447100" cy="61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High Availability &amp; Fault Tolerance</a:t>
            </a:r>
            <a:endParaRPr sz="1800" b="1" dirty="0">
              <a:solidFill>
                <a:schemeClr val="bg1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</p:txBody>
      </p:sp>
      <p:sp>
        <p:nvSpPr>
          <p:cNvPr id="176" name="Google Shape;176;p36"/>
          <p:cNvSpPr txBox="1"/>
          <p:nvPr/>
        </p:nvSpPr>
        <p:spPr>
          <a:xfrm>
            <a:off x="242175" y="284251"/>
            <a:ext cx="65187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Designing Systems That Survive Failures Gracefully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77" name="Google Shape;177;p36"/>
          <p:cNvGraphicFramePr/>
          <p:nvPr>
            <p:extLst>
              <p:ext uri="{D42A27DB-BD31-4B8C-83A1-F6EECF244321}">
                <p14:modId xmlns:p14="http://schemas.microsoft.com/office/powerpoint/2010/main" val="3898474051"/>
              </p:ext>
            </p:extLst>
          </p:nvPr>
        </p:nvGraphicFramePr>
        <p:xfrm>
          <a:off x="581237" y="975471"/>
          <a:ext cx="7981525" cy="3554228"/>
        </p:xfrm>
        <a:graphic>
          <a:graphicData uri="http://schemas.openxmlformats.org/drawingml/2006/table">
            <a:tbl>
              <a:tblPr>
                <a:noFill/>
                <a:tableStyleId>{C967BC45-A497-4AF9-8EAE-200C8BC83C6D}</a:tableStyleId>
              </a:tblPr>
              <a:tblGrid>
                <a:gridCol w="252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3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1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Pattern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Purpose</a:t>
                      </a:r>
                      <a:endParaRPr sz="1100" b="1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♻️ Retries + Backoff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Retry failed calls with delays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🚪 Circuit Breaker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Prevent overloading failing services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🌐 Load Balancers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Distribute traffic across healthy instances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🧍 Redundancy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Multiple replicas to avoid single points of failure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📡 Failover Strategies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Switch to backup instances/services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🔎 Health Checks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Detect failing components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🔄 Auto-healing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Restart or replace unhealthy nodes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63D4F47-2A68-B389-4BA8-A629771B2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7250"/>
          </a:xfrm>
          <a:prstGeom prst="rect">
            <a:avLst/>
          </a:prstGeom>
        </p:spPr>
      </p:pic>
      <p:sp>
        <p:nvSpPr>
          <p:cNvPr id="182" name="Google Shape;182;p37"/>
          <p:cNvSpPr txBox="1"/>
          <p:nvPr/>
        </p:nvSpPr>
        <p:spPr>
          <a:xfrm>
            <a:off x="242174" y="2325"/>
            <a:ext cx="6039679" cy="61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</a:rPr>
              <a:t>Resilient Projects with Circuit Breakers &amp; Retries</a:t>
            </a:r>
            <a:endParaRPr sz="1800" b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37"/>
          <p:cNvSpPr txBox="1"/>
          <p:nvPr/>
        </p:nvSpPr>
        <p:spPr>
          <a:xfrm>
            <a:off x="242174" y="336226"/>
            <a:ext cx="65187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Prevent Cascading Failures and Handle Instability Gracefully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84" name="Google Shape;184;p37"/>
          <p:cNvGraphicFramePr/>
          <p:nvPr>
            <p:extLst>
              <p:ext uri="{D42A27DB-BD31-4B8C-83A1-F6EECF244321}">
                <p14:modId xmlns:p14="http://schemas.microsoft.com/office/powerpoint/2010/main" val="2556113489"/>
              </p:ext>
            </p:extLst>
          </p:nvPr>
        </p:nvGraphicFramePr>
        <p:xfrm>
          <a:off x="242174" y="1946387"/>
          <a:ext cx="5601050" cy="1547883"/>
        </p:xfrm>
        <a:graphic>
          <a:graphicData uri="http://schemas.openxmlformats.org/drawingml/2006/table">
            <a:tbl>
              <a:tblPr>
                <a:noFill/>
                <a:tableStyleId>{C967BC45-A497-4AF9-8EAE-200C8BC83C6D}</a:tableStyleId>
              </a:tblPr>
              <a:tblGrid>
                <a:gridCol w="127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State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Behavior</a:t>
                      </a:r>
                      <a:endParaRPr sz="1100" b="1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/>
                        <a:t>🟢 </a:t>
                      </a:r>
                      <a:r>
                        <a:rPr lang="en" sz="1100" b="1" dirty="0"/>
                        <a:t>Closed</a:t>
                      </a:r>
                      <a:endParaRPr sz="1100" b="1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Requests flow normally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🔴 </a:t>
                      </a:r>
                      <a:r>
                        <a:rPr lang="en" sz="1100" b="1"/>
                        <a:t>Open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Calls are blocked immediately (to prevent overload)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🟡 </a:t>
                      </a:r>
                      <a:r>
                        <a:rPr lang="en" sz="1100" b="1"/>
                        <a:t>Half-Open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Test a few requests to see if service has recovered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85" name="Google Shape;18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5750" y="828150"/>
            <a:ext cx="2835850" cy="3489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272BD5B-252D-0B4D-E52F-DFB283B0B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106"/>
            <a:ext cx="9144000" cy="857250"/>
          </a:xfrm>
          <a:prstGeom prst="rect">
            <a:avLst/>
          </a:prstGeom>
        </p:spPr>
      </p:pic>
      <p:sp>
        <p:nvSpPr>
          <p:cNvPr id="190" name="Google Shape;190;p38"/>
          <p:cNvSpPr txBox="1"/>
          <p:nvPr/>
        </p:nvSpPr>
        <p:spPr>
          <a:xfrm>
            <a:off x="242175" y="-10106"/>
            <a:ext cx="5447100" cy="61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Replication &amp; Failover Strategies</a:t>
            </a:r>
            <a:endParaRPr sz="1800" b="1" dirty="0">
              <a:solidFill>
                <a:schemeClr val="bg1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</p:txBody>
      </p:sp>
      <p:sp>
        <p:nvSpPr>
          <p:cNvPr id="191" name="Google Shape;191;p38"/>
          <p:cNvSpPr txBox="1"/>
          <p:nvPr/>
        </p:nvSpPr>
        <p:spPr>
          <a:xfrm>
            <a:off x="242175" y="367295"/>
            <a:ext cx="65187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Keeping Data and Services Available Across Crashes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38"/>
          <p:cNvSpPr txBox="1"/>
          <p:nvPr/>
        </p:nvSpPr>
        <p:spPr>
          <a:xfrm>
            <a:off x="135200" y="990226"/>
            <a:ext cx="4729500" cy="13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🧩 Data is </a:t>
            </a:r>
            <a:r>
              <a:rPr lang="en" sz="1100" b="1">
                <a:solidFill>
                  <a:schemeClr val="dk1"/>
                </a:solidFill>
              </a:rPr>
              <a:t>not lost</a:t>
            </a:r>
            <a:r>
              <a:rPr lang="en" sz="1100">
                <a:solidFill>
                  <a:schemeClr val="dk1"/>
                </a:solidFill>
              </a:rPr>
              <a:t> if a node crashes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🚀 Systems stay </a:t>
            </a:r>
            <a:r>
              <a:rPr lang="en" sz="1100" b="1">
                <a:solidFill>
                  <a:schemeClr val="dk1"/>
                </a:solidFill>
              </a:rPr>
              <a:t>available and performant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🔀 Load can be distributed across replicas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193" name="Google Shape;193;p38"/>
          <p:cNvGraphicFramePr/>
          <p:nvPr>
            <p:extLst>
              <p:ext uri="{D42A27DB-BD31-4B8C-83A1-F6EECF244321}">
                <p14:modId xmlns:p14="http://schemas.microsoft.com/office/powerpoint/2010/main" val="2186569480"/>
              </p:ext>
            </p:extLst>
          </p:nvPr>
        </p:nvGraphicFramePr>
        <p:xfrm>
          <a:off x="941290" y="2556375"/>
          <a:ext cx="7377500" cy="2157453"/>
        </p:xfrm>
        <a:graphic>
          <a:graphicData uri="http://schemas.openxmlformats.org/drawingml/2006/table">
            <a:tbl>
              <a:tblPr>
                <a:noFill/>
                <a:tableStyleId>{C967BC45-A497-4AF9-8EAE-200C8BC83C6D}</a:tableStyleId>
              </a:tblPr>
              <a:tblGrid>
                <a:gridCol w="175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Strategy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Behavior</a:t>
                      </a:r>
                      <a:endParaRPr sz="1100" b="1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🕵️ Passive Failover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Standby node becomes active on failure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🔁 Active-Active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All nodes serve traffic; load balanced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🧠 Health Checks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System detects unhealthy nodes and routes traffic away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⚙️ Orchestration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Tools like Kubernetes automate failover and restart (self-healing)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4" name="Google Shape;194;p38"/>
          <p:cNvSpPr txBox="1"/>
          <p:nvPr/>
        </p:nvSpPr>
        <p:spPr>
          <a:xfrm>
            <a:off x="4963600" y="963111"/>
            <a:ext cx="40452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🔄 PostgreSQL streaming replication</a:t>
            </a:r>
            <a:br>
              <a:rPr lang="en" sz="1200" dirty="0"/>
            </a:b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☁️ Cloud DBs (e.g., Aurora Multi-AZ, Cosmos DB)</a:t>
            </a:r>
            <a:br>
              <a:rPr lang="en" sz="1200" dirty="0"/>
            </a:b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🧭 Kubernetes + Readiness/Liveness probes</a:t>
            </a:r>
            <a:br>
              <a:rPr lang="en" sz="1200" dirty="0"/>
            </a:b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🔄 DNS-based failover, Anycast IPs</a:t>
            </a:r>
            <a:endParaRPr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5E7D32D-4B23-5512-EADD-8F0261102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7250"/>
          </a:xfrm>
          <a:prstGeom prst="rect">
            <a:avLst/>
          </a:prstGeom>
        </p:spPr>
      </p:pic>
      <p:sp>
        <p:nvSpPr>
          <p:cNvPr id="199" name="Google Shape;199;p39"/>
          <p:cNvSpPr txBox="1"/>
          <p:nvPr/>
        </p:nvSpPr>
        <p:spPr>
          <a:xfrm>
            <a:off x="242174" y="0"/>
            <a:ext cx="7660323" cy="61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Tools for Monitoring and Automatic Recovery (Auto-Healing)</a:t>
            </a:r>
            <a:endParaRPr sz="1800" b="1" dirty="0">
              <a:solidFill>
                <a:schemeClr val="bg1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</p:txBody>
      </p:sp>
      <p:sp>
        <p:nvSpPr>
          <p:cNvPr id="200" name="Google Shape;200;p39"/>
          <p:cNvSpPr txBox="1"/>
          <p:nvPr/>
        </p:nvSpPr>
        <p:spPr>
          <a:xfrm>
            <a:off x="242174" y="365651"/>
            <a:ext cx="65187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Detect, Diagnose, and Recover Before Users Even Notice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01" name="Google Shape;201;p39"/>
          <p:cNvGraphicFramePr/>
          <p:nvPr>
            <p:extLst>
              <p:ext uri="{D42A27DB-BD31-4B8C-83A1-F6EECF244321}">
                <p14:modId xmlns:p14="http://schemas.microsoft.com/office/powerpoint/2010/main" val="1997708856"/>
              </p:ext>
            </p:extLst>
          </p:nvPr>
        </p:nvGraphicFramePr>
        <p:xfrm>
          <a:off x="264476" y="1792747"/>
          <a:ext cx="8603725" cy="2157453"/>
        </p:xfrm>
        <a:graphic>
          <a:graphicData uri="http://schemas.openxmlformats.org/drawingml/2006/table">
            <a:tbl>
              <a:tblPr>
                <a:noFill/>
                <a:tableStyleId>{C967BC45-A497-4AF9-8EAE-200C8BC83C6D}</a:tableStyleId>
              </a:tblPr>
              <a:tblGrid>
                <a:gridCol w="10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Layer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What to Monitor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Example Tools</a:t>
                      </a:r>
                      <a:endParaRPr sz="1100" b="1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📊 Metrics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CPU, memory, latency, throughput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Prometheus, Grafana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📈 Logs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Error traces, business events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ELK Stack (Elasticsearch, Logstash, Kibana), Loki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📡 Traces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Request flow across services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OpenTelemetry, Jaeger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🧪 Health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Readiness and liveness of services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Kubernetes Probes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762E426-13BC-3A81-B3CC-5692A9623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7250"/>
          </a:xfrm>
          <a:prstGeom prst="rect">
            <a:avLst/>
          </a:prstGeom>
        </p:spPr>
      </p:pic>
      <p:sp>
        <p:nvSpPr>
          <p:cNvPr id="206" name="Google Shape;206;p40"/>
          <p:cNvSpPr txBox="1"/>
          <p:nvPr/>
        </p:nvSpPr>
        <p:spPr>
          <a:xfrm>
            <a:off x="242174" y="2325"/>
            <a:ext cx="7362957" cy="61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Tools for Monitoring and Automatic Recovery (Auto-Healing)</a:t>
            </a:r>
            <a:endParaRPr sz="1800" b="1" dirty="0">
              <a:solidFill>
                <a:schemeClr val="bg1"/>
              </a:solidFill>
              <a:latin typeface="Poppins" panose="00000500000000000000" pitchFamily="2" charset="0"/>
              <a:ea typeface="Montserrat"/>
              <a:cs typeface="Poppins" panose="00000500000000000000" pitchFamily="2" charset="0"/>
              <a:sym typeface="Montserrat"/>
            </a:endParaRPr>
          </a:p>
        </p:txBody>
      </p:sp>
      <p:sp>
        <p:nvSpPr>
          <p:cNvPr id="207" name="Google Shape;207;p40"/>
          <p:cNvSpPr txBox="1"/>
          <p:nvPr/>
        </p:nvSpPr>
        <p:spPr>
          <a:xfrm>
            <a:off x="242174" y="355838"/>
            <a:ext cx="65187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Detect, Diagnose, and Recover Before Users Even Notice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08" name="Google Shape;208;p40"/>
          <p:cNvGraphicFramePr/>
          <p:nvPr>
            <p:extLst>
              <p:ext uri="{D42A27DB-BD31-4B8C-83A1-F6EECF244321}">
                <p14:modId xmlns:p14="http://schemas.microsoft.com/office/powerpoint/2010/main" val="55146434"/>
              </p:ext>
            </p:extLst>
          </p:nvPr>
        </p:nvGraphicFramePr>
        <p:xfrm>
          <a:off x="242174" y="1500843"/>
          <a:ext cx="8784900" cy="1944093"/>
        </p:xfrm>
        <a:graphic>
          <a:graphicData uri="http://schemas.openxmlformats.org/drawingml/2006/table">
            <a:tbl>
              <a:tblPr>
                <a:noFill/>
                <a:tableStyleId>{C967BC45-A497-4AF9-8EAE-200C8BC83C6D}</a:tableStyleId>
              </a:tblPr>
              <a:tblGrid>
                <a:gridCol w="297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Strategy</a:t>
                      </a:r>
                      <a:endParaRPr sz="1100" b="1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Description</a:t>
                      </a:r>
                      <a:endParaRPr sz="1100" b="1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🚑 Self-Restart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Restart crashed containers via orchestrator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📦 Pod Replacement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Replace failed pods in Kubernetes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🧠 Replica Recovery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Auto-promote replica in database failover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🔄 Auto-scaling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Add/remove instances based on load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Custom 106">
      <a:dk1>
        <a:srgbClr val="000000"/>
      </a:dk1>
      <a:lt1>
        <a:srgbClr val="FFFFFF"/>
      </a:lt1>
      <a:dk2>
        <a:srgbClr val="004366"/>
      </a:dk2>
      <a:lt2>
        <a:srgbClr val="D4E3F4"/>
      </a:lt2>
      <a:accent1>
        <a:srgbClr val="3984D0"/>
      </a:accent1>
      <a:accent2>
        <a:srgbClr val="4682B4"/>
      </a:accent2>
      <a:accent3>
        <a:srgbClr val="004366"/>
      </a:accent3>
      <a:accent4>
        <a:srgbClr val="36454F"/>
      </a:accent4>
      <a:accent5>
        <a:srgbClr val="7ACCF1"/>
      </a:accent5>
      <a:accent6>
        <a:srgbClr val="F5F5F5"/>
      </a:accent6>
      <a:hlink>
        <a:srgbClr val="1D5183"/>
      </a:hlink>
      <a:folHlink>
        <a:srgbClr val="4163B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in">
  <a:themeElements>
    <a:clrScheme name="Custom 106">
      <a:dk1>
        <a:srgbClr val="000000"/>
      </a:dk1>
      <a:lt1>
        <a:srgbClr val="FFFFFF"/>
      </a:lt1>
      <a:dk2>
        <a:srgbClr val="004366"/>
      </a:dk2>
      <a:lt2>
        <a:srgbClr val="D4E3F4"/>
      </a:lt2>
      <a:accent1>
        <a:srgbClr val="3984D0"/>
      </a:accent1>
      <a:accent2>
        <a:srgbClr val="4682B4"/>
      </a:accent2>
      <a:accent3>
        <a:srgbClr val="004366"/>
      </a:accent3>
      <a:accent4>
        <a:srgbClr val="36454F"/>
      </a:accent4>
      <a:accent5>
        <a:srgbClr val="7ACCF1"/>
      </a:accent5>
      <a:accent6>
        <a:srgbClr val="F5F5F5"/>
      </a:accent6>
      <a:hlink>
        <a:srgbClr val="1D5183"/>
      </a:hlink>
      <a:folHlink>
        <a:srgbClr val="4163B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ain">
  <a:themeElements>
    <a:clrScheme name="Custom 106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1D5183"/>
      </a:accent1>
      <a:accent2>
        <a:srgbClr val="4163BB"/>
      </a:accent2>
      <a:accent3>
        <a:srgbClr val="009EDC"/>
      </a:accent3>
      <a:accent4>
        <a:srgbClr val="4163BB"/>
      </a:accent4>
      <a:accent5>
        <a:srgbClr val="1D5183"/>
      </a:accent5>
      <a:accent6>
        <a:srgbClr val="009EDC"/>
      </a:accent6>
      <a:hlink>
        <a:srgbClr val="1D5183"/>
      </a:hlink>
      <a:folHlink>
        <a:srgbClr val="4163B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C4BF2EB6E0AA3499D5D22DB6C773100" ma:contentTypeVersion="47" ma:contentTypeDescription="Crie um novo documento." ma:contentTypeScope="" ma:versionID="dffb45610ec274493f1df6af23dbe6ac">
  <xsd:schema xmlns:xsd="http://www.w3.org/2001/XMLSchema" xmlns:xs="http://www.w3.org/2001/XMLSchema" xmlns:p="http://schemas.microsoft.com/office/2006/metadata/properties" xmlns:ns2="2074a592-0284-4838-a99a-676a646e30ba" xmlns:ns3="e20d8d4b-1949-445f-b54d-8717a3d10a21" targetNamespace="http://schemas.microsoft.com/office/2006/metadata/properties" ma:root="true" ma:fieldsID="8dcf4bf69a9820a60792a588e054d98e" ns2:_="" ns3:_="">
    <xsd:import namespace="2074a592-0284-4838-a99a-676a646e30ba"/>
    <xsd:import namespace="e20d8d4b-1949-445f-b54d-8717a3d10a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Status" minOccurs="0"/>
                <xsd:element ref="ns2:Coordena_x00e7__x00e3_o" minOccurs="0"/>
                <xsd:element ref="ns2:Data_Recebimento" minOccurs="0"/>
                <xsd:element ref="ns2:Data_Rev_Coord" minOccurs="0"/>
                <xsd:element ref="ns2:Obs_x002e_" minOccurs="0"/>
                <xsd:element ref="ns2:Nome_Comercial" minOccurs="0"/>
                <xsd:element ref="ns2:Disciplina" minOccurs="0"/>
                <xsd:element ref="ns3:SharedWithUsers" minOccurs="0"/>
                <xsd:element ref="ns3:SharedWithDetails" minOccurs="0"/>
                <xsd:element ref="ns2:Sequencia" minOccurs="0"/>
                <xsd:element ref="ns2:Data_envio_materiais" minOccurs="0"/>
                <xsd:element ref="ns2:Iniciodadisciplina" minOccurs="0"/>
                <xsd:element ref="ns2:Status_Entrega" minOccurs="0"/>
                <xsd:element ref="ns2:Nome_do_professor" minOccurs="0"/>
                <xsd:element ref="ns2:Datadafinaliza_x00e7__x00e3_o" minOccurs="0"/>
                <xsd:element ref="ns2:MediaServiceLocation" minOccurs="0"/>
                <xsd:element ref="ns2:Emailseler" minOccurs="0"/>
                <xsd:element ref="ns2:Analista" minOccurs="0"/>
                <xsd:element ref="ns2:Analista_respons_x00e1_veel" minOccurs="0"/>
                <xsd:element ref="ns2:Titula_x00e7__x00e3_o" minOccurs="0"/>
                <xsd:element ref="ns2:NOME_SELLER" minOccurs="0"/>
                <xsd:element ref="ns2:Analista_Responsav_x00e9_l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74a592-0284-4838-a99a-676a646e30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771e4ab9-48e6-401e-8cb3-95486c831b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Status" ma:index="20" nillable="true" ma:displayName="Status" ma:default="Bruto" ma:format="Dropdown" ma:internalName="Status">
      <xsd:simpleType>
        <xsd:union memberTypes="dms:Text">
          <xsd:simpleType>
            <xsd:restriction base="dms:Choice">
              <xsd:enumeration value="Atrasado"/>
              <xsd:enumeration value="Bruto"/>
              <xsd:enumeration value="Ajuste Infoprod"/>
              <xsd:enumeration value="Recebimento Parcial"/>
              <xsd:enumeration value="Não obrigatório"/>
              <xsd:enumeration value="Desconsiderar"/>
              <xsd:enumeration value="Liberado para disponibilização"/>
              <xsd:enumeration value="Revisão de questão"/>
              <xsd:enumeration value="Embed"/>
              <xsd:enumeration value="Disponibilizado"/>
              <xsd:enumeration value="BQ enviado para cadastro"/>
              <xsd:enumeration value="BQ Cadastrado"/>
              <xsd:enumeration value="Turma concluída"/>
              <xsd:enumeration value="Excluir do Cosmos"/>
              <xsd:enumeration value="Podcast | Em produção"/>
              <xsd:enumeration value="Formulário preenchido - banner"/>
              <xsd:enumeration value="Documentação conferida"/>
              <xsd:enumeration value="Documentação pendente"/>
              <xsd:enumeration value="Documentação"/>
              <xsd:enumeration value="Aguardando validação acadêmica"/>
              <xsd:enumeration value="Titulação divergente"/>
              <xsd:enumeration value="Lançamento suspenso"/>
              <xsd:enumeration value="Descontinuado"/>
              <xsd:enumeration value="Disciplina Cogna"/>
              <xsd:enumeration value="Disponibilizado Cogna"/>
              <xsd:enumeration value="Curso lançado"/>
              <xsd:enumeration value="Lançamento em breve"/>
              <xsd:enumeration value="Reaproveitar conteúdo"/>
              <xsd:enumeration value="NÃO reaproveitar da turma anterior"/>
            </xsd:restriction>
          </xsd:simpleType>
        </xsd:union>
      </xsd:simpleType>
    </xsd:element>
    <xsd:element name="Coordena_x00e7__x00e3_o" ma:index="21" nillable="true" ma:displayName="Coordenação" ma:format="Dropdown" ma:list="UserInfo" ma:SharePointGroup="0" ma:internalName="Coordena_x00e7__x00e3_o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ata_Recebimento" ma:index="22" nillable="true" ma:displayName="Data_Recebimento_Material" ma:format="DateOnly" ma:internalName="Data_Recebimento">
      <xsd:simpleType>
        <xsd:restriction base="dms:DateTime"/>
      </xsd:simpleType>
    </xsd:element>
    <xsd:element name="Data_Rev_Coord" ma:index="23" nillable="true" ma:displayName="Data_Rev_Coord" ma:format="DateOnly" ma:internalName="Data_Rev_Coord">
      <xsd:simpleType>
        <xsd:restriction base="dms:DateTime"/>
      </xsd:simpleType>
    </xsd:element>
    <xsd:element name="Obs_x002e_" ma:index="24" nillable="true" ma:displayName="Obs." ma:format="Dropdown" ma:internalName="Obs_x002e_">
      <xsd:simpleType>
        <xsd:restriction base="dms:Note">
          <xsd:maxLength value="255"/>
        </xsd:restriction>
      </xsd:simpleType>
    </xsd:element>
    <xsd:element name="Nome_Comercial" ma:index="25" nillable="true" ma:displayName="Nome_Comercial" ma:format="Dropdown" ma:internalName="Nome_Comercial">
      <xsd:simpleType>
        <xsd:restriction base="dms:Note">
          <xsd:maxLength value="255"/>
        </xsd:restriction>
      </xsd:simpleType>
    </xsd:element>
    <xsd:element name="Disciplina" ma:index="26" nillable="true" ma:displayName="Disciplina" ma:format="Dropdown" ma:internalName="Disciplina">
      <xsd:simpleType>
        <xsd:restriction base="dms:Note">
          <xsd:maxLength value="255"/>
        </xsd:restriction>
      </xsd:simpleType>
    </xsd:element>
    <xsd:element name="Sequencia" ma:index="29" nillable="true" ma:displayName="Sequencia" ma:format="Dropdown" ma:internalName="Sequencia" ma:percentage="FALSE">
      <xsd:simpleType>
        <xsd:restriction base="dms:Number"/>
      </xsd:simpleType>
    </xsd:element>
    <xsd:element name="Data_envio_materiais" ma:index="30" nillable="true" ma:displayName="Data_Envio_materiais" ma:format="DateOnly" ma:internalName="Data_envio_materiais">
      <xsd:simpleType>
        <xsd:restriction base="dms:DateTime"/>
      </xsd:simpleType>
    </xsd:element>
    <xsd:element name="Iniciodadisciplina" ma:index="31" nillable="true" ma:displayName="Inicio da disciplina" ma:format="DateOnly" ma:indexed="true" ma:internalName="Iniciodadisciplina">
      <xsd:simpleType>
        <xsd:restriction base="dms:DateTime"/>
      </xsd:simpleType>
    </xsd:element>
    <xsd:element name="Status_Entrega" ma:index="32" nillable="true" ma:displayName="Status_Entrega" ma:format="Dropdown" ma:internalName="Status_Entrega">
      <xsd:simpleType>
        <xsd:restriction base="dms:Choice">
          <xsd:enumeration value="Atrasado"/>
        </xsd:restriction>
      </xsd:simpleType>
    </xsd:element>
    <xsd:element name="Nome_do_professor" ma:index="34" nillable="true" ma:displayName="Nome_do_professor" ma:format="Dropdown" ma:internalName="Nome_do_professor">
      <xsd:simpleType>
        <xsd:restriction base="dms:Text">
          <xsd:maxLength value="255"/>
        </xsd:restriction>
      </xsd:simpleType>
    </xsd:element>
    <xsd:element name="Datadafinaliza_x00e7__x00e3_o" ma:index="35" nillable="true" ma:displayName="Data_finalizacao_disciplina" ma:format="DateOnly" ma:internalName="Datadafinaliza_x00e7__x00e3_o">
      <xsd:simpleType>
        <xsd:restriction base="dms:DateTime"/>
      </xsd:simpleType>
    </xsd:element>
    <xsd:element name="MediaServiceLocation" ma:index="36" nillable="true" ma:displayName="Location" ma:indexed="true" ma:internalName="MediaServiceLocation" ma:readOnly="true">
      <xsd:simpleType>
        <xsd:restriction base="dms:Text"/>
      </xsd:simpleType>
    </xsd:element>
    <xsd:element name="Emailseler" ma:index="37" nillable="true" ma:displayName="Email_seller" ma:format="Dropdown" ma:internalName="Emailseler">
      <xsd:simpleType>
        <xsd:restriction base="dms:Text">
          <xsd:maxLength value="255"/>
        </xsd:restriction>
      </xsd:simpleType>
    </xsd:element>
    <xsd:element name="Analista" ma:index="38" nillable="true" ma:displayName="Analista" ma:format="Dropdown" ma:internalName="Analista">
      <xsd:simpleType>
        <xsd:restriction base="dms:Text">
          <xsd:maxLength value="255"/>
        </xsd:restriction>
      </xsd:simpleType>
    </xsd:element>
    <xsd:element name="Analista_respons_x00e1_veel" ma:index="39" nillable="true" ma:displayName="Email_Analista_responsáveel" ma:format="Dropdown" ma:internalName="Analista_respons_x00e1_veel">
      <xsd:simpleType>
        <xsd:restriction base="dms:Text">
          <xsd:maxLength value="255"/>
        </xsd:restriction>
      </xsd:simpleType>
    </xsd:element>
    <xsd:element name="Titula_x00e7__x00e3_o" ma:index="40" nillable="true" ma:displayName="Titulação" ma:format="Dropdown" ma:internalName="Titula_x00e7__x00e3_o">
      <xsd:simpleType>
        <xsd:restriction base="dms:Choice">
          <xsd:enumeration value="Especialista"/>
          <xsd:enumeration value="Mestre"/>
          <xsd:enumeration value="Doutor(a)"/>
        </xsd:restriction>
      </xsd:simpleType>
    </xsd:element>
    <xsd:element name="NOME_SELLER" ma:index="41" nillable="true" ma:displayName="Nome_Seller" ma:format="Dropdown" ma:internalName="NOME_SELLER">
      <xsd:simpleType>
        <xsd:restriction base="dms:Text">
          <xsd:maxLength value="255"/>
        </xsd:restriction>
      </xsd:simpleType>
    </xsd:element>
    <xsd:element name="Analista_Responsav_x00e9_l" ma:index="42" nillable="true" ma:displayName="Nome_Analista_Responsavél" ma:format="Dropdown" ma:internalName="Analista_Responsav_x00e9_l">
      <xsd:simpleType>
        <xsd:restriction base="dms:Choice">
          <xsd:enumeration value="Diana"/>
          <xsd:enumeration value="Joyce"/>
          <xsd:enumeration value="Lucas"/>
        </xsd:restriction>
      </xsd:simpleType>
    </xsd:element>
    <xsd:element name="MediaServiceBillingMetadata" ma:index="4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0d8d4b-1949-445f-b54d-8717a3d10a2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15443eb-cbbb-44e0-b5db-83270feeb83d}" ma:internalName="TaxCatchAll" ma:showField="CatchAllData" ma:web="e20d8d4b-1949-445f-b54d-8717a3d10a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7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8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bs_x002e_ xmlns="2074a592-0284-4838-a99a-676a646e30ba" xsi:nil="true"/>
    <Sequencia xmlns="2074a592-0284-4838-a99a-676a646e30ba" xsi:nil="true"/>
    <Iniciodadisciplina xmlns="2074a592-0284-4838-a99a-676a646e30ba" xsi:nil="true"/>
    <Titula_x00e7__x00e3_o xmlns="2074a592-0284-4838-a99a-676a646e30ba" xsi:nil="true"/>
    <Data_Rev_Coord xmlns="2074a592-0284-4838-a99a-676a646e30ba" xsi:nil="true"/>
    <Nome_do_professor xmlns="2074a592-0284-4838-a99a-676a646e30ba" xsi:nil="true"/>
    <Analista xmlns="2074a592-0284-4838-a99a-676a646e30ba" xsi:nil="true"/>
    <Coordena_x00e7__x00e3_o xmlns="2074a592-0284-4838-a99a-676a646e30ba">
      <UserInfo>
        <DisplayName/>
        <AccountId xsi:nil="true"/>
        <AccountType/>
      </UserInfo>
    </Coordena_x00e7__x00e3_o>
    <Data_envio_materiais xmlns="2074a592-0284-4838-a99a-676a646e30ba" xsi:nil="true"/>
    <Datadafinaliza_x00e7__x00e3_o xmlns="2074a592-0284-4838-a99a-676a646e30ba" xsi:nil="true"/>
    <NOME_SELLER xmlns="2074a592-0284-4838-a99a-676a646e30ba" xsi:nil="true"/>
    <Analista_respons_x00e1_veel xmlns="2074a592-0284-4838-a99a-676a646e30ba" xsi:nil="true"/>
    <Nome_Comercial xmlns="2074a592-0284-4838-a99a-676a646e30ba" xsi:nil="true"/>
    <Disciplina xmlns="2074a592-0284-4838-a99a-676a646e30ba" xsi:nil="true"/>
    <Emailseler xmlns="2074a592-0284-4838-a99a-676a646e30ba" xsi:nil="true"/>
    <Status xmlns="2074a592-0284-4838-a99a-676a646e30ba">Disponibilizado</Status>
    <TaxCatchAll xmlns="e20d8d4b-1949-445f-b54d-8717a3d10a21" xsi:nil="true"/>
    <Analista_Responsav_x00e9_l xmlns="2074a592-0284-4838-a99a-676a646e30ba" xsi:nil="true"/>
    <lcf76f155ced4ddcb4097134ff3c332f xmlns="2074a592-0284-4838-a99a-676a646e30ba">
      <Terms xmlns="http://schemas.microsoft.com/office/infopath/2007/PartnerControls"/>
    </lcf76f155ced4ddcb4097134ff3c332f>
    <Data_Recebimento xmlns="2074a592-0284-4838-a99a-676a646e30ba" xsi:nil="true"/>
    <Status_Entrega xmlns="2074a592-0284-4838-a99a-676a646e30b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A53DC5-BC61-40E6-BCD6-7B72939B8EB7}"/>
</file>

<file path=customXml/itemProps2.xml><?xml version="1.0" encoding="utf-8"?>
<ds:datastoreItem xmlns:ds="http://schemas.openxmlformats.org/officeDocument/2006/customXml" ds:itemID="{0A710627-D7B2-47F8-9DBF-369BAC45C211}">
  <ds:schemaRefs>
    <ds:schemaRef ds:uri="http://schemas.microsoft.com/office/2006/metadata/properties"/>
    <ds:schemaRef ds:uri="http://schemas.microsoft.com/office/infopath/2007/PartnerControls"/>
    <ds:schemaRef ds:uri="2074a592-0284-4838-a99a-676a646e30ba"/>
    <ds:schemaRef ds:uri="e20d8d4b-1949-445f-b54d-8717a3d10a21"/>
  </ds:schemaRefs>
</ds:datastoreItem>
</file>

<file path=customXml/itemProps3.xml><?xml version="1.0" encoding="utf-8"?>
<ds:datastoreItem xmlns:ds="http://schemas.openxmlformats.org/officeDocument/2006/customXml" ds:itemID="{EC93A77E-3240-4CBC-B744-57F592DF89B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dc42001-9759-4b38-a906-152fbf37e35a}" enabled="1" method="Privileged" siteId="{a50e7b76-8ea5-492c-bf17-97d652fc3ce9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1184</Words>
  <Application>Microsoft Office PowerPoint</Application>
  <PresentationFormat>Apresentação na tela (16:9)</PresentationFormat>
  <Paragraphs>324</Paragraphs>
  <Slides>20</Slides>
  <Notes>20</Notes>
  <HiddenSlides>0</HiddenSlides>
  <MMClips>0</MMClips>
  <ScaleCrop>false</ScaleCrop>
  <HeadingPairs>
    <vt:vector size="4" baseType="variant">
      <vt:variant>
        <vt:lpstr>Tema</vt:lpstr>
      </vt:variant>
      <vt:variant>
        <vt:i4>3</vt:i4>
      </vt:variant>
      <vt:variant>
        <vt:lpstr>Títulos de slides</vt:lpstr>
      </vt:variant>
      <vt:variant>
        <vt:i4>20</vt:i4>
      </vt:variant>
    </vt:vector>
  </HeadingPairs>
  <TitlesOfParts>
    <vt:vector size="23" baseType="lpstr">
      <vt:lpstr>Main</vt:lpstr>
      <vt:lpstr>Main</vt:lpstr>
      <vt:lpstr>Main</vt:lpstr>
      <vt:lpstr>Software Design &amp; System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Priscila Da Silva</dc:creator>
  <cp:lastModifiedBy>PRISCILA FERNANDA DA SILVA TADS028</cp:lastModifiedBy>
  <cp:revision>2</cp:revision>
  <dcterms:modified xsi:type="dcterms:W3CDTF">2025-08-18T14:08:45Z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0x0101003C4BF2EB6E0AA3499D5D22DB6C773100</vt:lpwstr>
  </property>
  <property fmtid="{D5CDD505-2E9C-101B-9397-08002B2CF9AE}" pid="3" name="ClassificationContentMarkingFooterLocations">
    <vt:lpwstr>Main:3\Main:3\Main:3</vt:lpwstr>
  </property>
  <property fmtid="{D5CDD505-2E9C-101B-9397-08002B2CF9AE}" pid="4" name="ClassificationContentMarkingFooterText">
    <vt:lpwstr>Público</vt:lpwstr>
  </property>
  <property fmtid="{D5CDD505-2E9C-101B-9397-08002B2CF9AE}" pid="5" name="MediaServiceImageTags">
    <vt:lpwstr/>
  </property>
</Properties>
</file>