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League Spartan" panose="020B0604020202020204" charset="0"/>
      <p:regular r:id="rId19"/>
      <p:bold r:id="rId20"/>
    </p:embeddedFont>
    <p:embeddedFont>
      <p:font typeface="League Spartan Light" panose="020B0604020202020204" charset="0"/>
      <p:regular r:id="rId21"/>
      <p:bold r:id="rId22"/>
    </p:embeddedFont>
    <p:embeddedFont>
      <p:font typeface="League Spartan Medium" panose="020B0604020202020204" charset="0"/>
      <p:regular r:id="rId23"/>
      <p:bold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Poppins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16">
          <p15:clr>
            <a:srgbClr val="FF9900"/>
          </p15:clr>
        </p15:guide>
        <p15:guide id="2" orient="horz" pos="228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pos="5171">
          <p15:clr>
            <a:srgbClr val="FF9900"/>
          </p15:clr>
        </p15:guide>
        <p15:guide id="5" orient="horz" pos="286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pos="216"/>
        <p:guide orient="horz" pos="228"/>
        <p:guide orient="horz" pos="432"/>
        <p:guide pos="5171"/>
        <p:guide orient="horz" pos="2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d57c2f8f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6d57c2f8f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e8b4d298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6e8b4d298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e8b4d2989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6e8b4d2989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e8b4d2989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36e8b4d2989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e8b4d2989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36e8b4d2989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e8b4d298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6e8b4d298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e8b4d298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6e8b4d298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e8b4d298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6e8b4d298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e8b4d2989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6e8b4d2989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e8b4d2989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6e8b4d2989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e8b4d298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6e8b4d2989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e8b4d2989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6e8b4d2989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e8b4d2989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6e8b4d2989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e8b4d2989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6e8b4d2989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ctrTitle"/>
          </p:nvPr>
        </p:nvSpPr>
        <p:spPr>
          <a:xfrm>
            <a:off x="2414499" y="1281325"/>
            <a:ext cx="5979487" cy="1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2700">
                <a:solidFill>
                  <a:srgbClr val="0FB1ED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Software Design &amp; System Design</a:t>
            </a:r>
            <a:endParaRPr sz="1700" b="0" i="0" u="none" strike="noStrike" cap="none">
              <a:solidFill>
                <a:srgbClr val="0FB1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6" name="Google Shape;46;p15"/>
          <p:cNvCxnSpPr/>
          <p:nvPr/>
        </p:nvCxnSpPr>
        <p:spPr>
          <a:xfrm>
            <a:off x="2414500" y="1625975"/>
            <a:ext cx="0" cy="1919700"/>
          </a:xfrm>
          <a:prstGeom prst="straightConnector1">
            <a:avLst/>
          </a:prstGeom>
          <a:noFill/>
          <a:ln w="19050" cap="flat" cmpd="sng">
            <a:solidFill>
              <a:srgbClr val="00436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" name="Google Shape;4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200" y="1792175"/>
            <a:ext cx="1378801" cy="155915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5"/>
          <p:cNvSpPr txBox="1"/>
          <p:nvPr/>
        </p:nvSpPr>
        <p:spPr>
          <a:xfrm>
            <a:off x="2437295" y="2571750"/>
            <a:ext cx="563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Patterns</a:t>
            </a:r>
            <a:endParaRPr sz="1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15"/>
          <p:cNvSpPr txBox="1"/>
          <p:nvPr/>
        </p:nvSpPr>
        <p:spPr>
          <a:xfrm>
            <a:off x="886200" y="4319700"/>
            <a:ext cx="2155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Otávio Santana, Founder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otavio@os.expert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" name="Google Shape;5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4325" y="4628400"/>
            <a:ext cx="130350" cy="13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/>
        </p:nvSpPr>
        <p:spPr>
          <a:xfrm>
            <a:off x="601000" y="285290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2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6"/>
          <p:cNvSpPr txBox="1"/>
          <p:nvPr/>
        </p:nvSpPr>
        <p:spPr>
          <a:xfrm>
            <a:off x="621548" y="636172"/>
            <a:ext cx="35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Topics on this class</a:t>
            </a:r>
            <a:endParaRPr sz="1500" b="1" i="0" u="none" strike="noStrike" cap="none" dirty="0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6"/>
          <p:cNvSpPr txBox="1"/>
          <p:nvPr/>
        </p:nvSpPr>
        <p:spPr>
          <a:xfrm>
            <a:off x="601000" y="1428900"/>
            <a:ext cx="2153100" cy="22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30200" algn="l" rtl="0">
              <a:spcBef>
                <a:spcPts val="70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Singleton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Factory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Strategy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Observer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Builder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Prototype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Adapter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Decorator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Proxy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/>
        </p:nvSpPr>
        <p:spPr>
          <a:xfrm>
            <a:off x="382782" y="493446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OO Design Principles (Head First)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403326" y="844328"/>
            <a:ext cx="4144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Nine Rules That Shape Smart Patterns</a:t>
            </a:r>
            <a:endParaRPr sz="1500" b="1" i="0" u="none" strike="noStrike" cap="none" dirty="0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7"/>
          <p:cNvSpPr txBox="1"/>
          <p:nvPr/>
        </p:nvSpPr>
        <p:spPr>
          <a:xfrm>
            <a:off x="245626" y="1756824"/>
            <a:ext cx="41442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Encapsulate What Varies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Favor Composition Over Inheritance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Program to Interfaces, Not Implementations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Strive for Loosely Coupled Designs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Remember the Open/Closed Principle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Depend Upon Abstractions, Not Concretions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Only Talk to Your Friends</a:t>
            </a:r>
            <a:r>
              <a:rPr lang="en" sz="1200" dirty="0">
                <a:solidFill>
                  <a:schemeClr val="dk1"/>
                </a:solidFill>
              </a:rPr>
              <a:t> </a:t>
            </a:r>
            <a:r>
              <a:rPr lang="en" sz="1200" i="1" dirty="0">
                <a:solidFill>
                  <a:schemeClr val="dk1"/>
                </a:solidFill>
              </a:rPr>
              <a:t>(Law of Demeter)</a:t>
            </a:r>
            <a:endParaRPr sz="1200" i="1" dirty="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Don’t Call Us, We’ll Call You</a:t>
            </a:r>
            <a:r>
              <a:rPr lang="en" sz="1200" dirty="0">
                <a:solidFill>
                  <a:schemeClr val="dk1"/>
                </a:solidFill>
              </a:rPr>
              <a:t> </a:t>
            </a:r>
            <a:r>
              <a:rPr lang="en" sz="1200" i="1" dirty="0">
                <a:solidFill>
                  <a:schemeClr val="dk1"/>
                </a:solidFill>
              </a:rPr>
              <a:t>(Inversion of Control)</a:t>
            </a:r>
            <a:endParaRPr sz="1200" i="1" dirty="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Encapsulate Invocation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65" name="Google Shape;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925" y="152400"/>
            <a:ext cx="3765749" cy="435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/>
        </p:nvSpPr>
        <p:spPr>
          <a:xfrm>
            <a:off x="175265" y="513767"/>
            <a:ext cx="5052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The Gang of Four (GoF) Design Patterns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8"/>
          <p:cNvSpPr txBox="1"/>
          <p:nvPr/>
        </p:nvSpPr>
        <p:spPr>
          <a:xfrm>
            <a:off x="195816" y="864642"/>
            <a:ext cx="5495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The Original 23 Patterns That Changed Software Design</a:t>
            </a:r>
            <a:endParaRPr sz="1500" b="1" i="0" u="none" strike="noStrike" cap="none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8"/>
          <p:cNvSpPr txBox="1"/>
          <p:nvPr/>
        </p:nvSpPr>
        <p:spPr>
          <a:xfrm>
            <a:off x="175265" y="1530359"/>
            <a:ext cx="4894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“Design Patterns: Elements of Reusable Object-Oriented Software”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by </a:t>
            </a:r>
            <a:r>
              <a:rPr lang="en" sz="1100" i="1" dirty="0">
                <a:solidFill>
                  <a:schemeClr val="dk1"/>
                </a:solidFill>
              </a:rPr>
              <a:t>Erich Gamma, Richard Helm, Ralph Johnson, and John Vlissides</a:t>
            </a:r>
            <a:endParaRPr sz="1100" i="1" dirty="0">
              <a:solidFill>
                <a:schemeClr val="dk1"/>
              </a:solidFill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3725" y="483625"/>
            <a:ext cx="3305010" cy="411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/>
        </p:nvSpPr>
        <p:spPr>
          <a:xfrm>
            <a:off x="322349" y="270428"/>
            <a:ext cx="5052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The Gang of Four (GoF) Design Patterns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9"/>
          <p:cNvSpPr txBox="1"/>
          <p:nvPr/>
        </p:nvSpPr>
        <p:spPr>
          <a:xfrm>
            <a:off x="342900" y="621303"/>
            <a:ext cx="5495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The Original 23 Patterns That Changed Software Design</a:t>
            </a:r>
            <a:endParaRPr sz="1500" b="1" i="0" u="none" strike="noStrike" cap="none" dirty="0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9"/>
          <p:cNvSpPr txBox="1"/>
          <p:nvPr/>
        </p:nvSpPr>
        <p:spPr>
          <a:xfrm>
            <a:off x="1348499" y="1032852"/>
            <a:ext cx="3000000" cy="28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🔧 Creational Patterns (5)</a:t>
            </a:r>
            <a:endParaRPr sz="1300" b="1" dirty="0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Concerned with the </a:t>
            </a:r>
            <a:r>
              <a:rPr lang="en" sz="1100" b="1" dirty="0">
                <a:solidFill>
                  <a:schemeClr val="dk1"/>
                </a:solidFill>
              </a:rPr>
              <a:t>way objects are created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Singleton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Factory Method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Abstract Factory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Builder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Prototype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81" name="Google Shape;81;p19"/>
          <p:cNvSpPr txBox="1"/>
          <p:nvPr/>
        </p:nvSpPr>
        <p:spPr>
          <a:xfrm>
            <a:off x="5198244" y="962501"/>
            <a:ext cx="3000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🏗 Structural Patterns (7)</a:t>
            </a:r>
            <a:endParaRPr sz="1300" b="1" dirty="0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Focus on </a:t>
            </a:r>
            <a:r>
              <a:rPr lang="en" sz="1100" b="1" dirty="0">
                <a:solidFill>
                  <a:schemeClr val="dk1"/>
                </a:solidFill>
              </a:rPr>
              <a:t>object composition</a:t>
            </a:r>
            <a:r>
              <a:rPr lang="en" sz="1100" dirty="0">
                <a:solidFill>
                  <a:schemeClr val="dk1"/>
                </a:solidFill>
              </a:rPr>
              <a:t> and how classes work together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Adapter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Bridge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Composite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Decorator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Facade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Flyweight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Proxy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/>
        </p:nvSpPr>
        <p:spPr>
          <a:xfrm>
            <a:off x="300724" y="268924"/>
            <a:ext cx="5052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The Gang of Four (GoF) Design Patterns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20"/>
          <p:cNvSpPr txBox="1"/>
          <p:nvPr/>
        </p:nvSpPr>
        <p:spPr>
          <a:xfrm>
            <a:off x="321275" y="619799"/>
            <a:ext cx="5495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The Original 23 Patterns That Changed Software Design</a:t>
            </a:r>
            <a:endParaRPr sz="1500" b="1" i="0" u="none" strike="noStrike" cap="none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0"/>
          <p:cNvSpPr txBox="1"/>
          <p:nvPr/>
        </p:nvSpPr>
        <p:spPr>
          <a:xfrm>
            <a:off x="393050" y="930950"/>
            <a:ext cx="4675500" cy="3450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🔁 Behavioral Patterns (11)</a:t>
            </a:r>
            <a:endParaRPr sz="1300" b="1" dirty="0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Deal with </a:t>
            </a:r>
            <a:r>
              <a:rPr lang="en" sz="1200" b="1" dirty="0">
                <a:solidFill>
                  <a:schemeClr val="dk1"/>
                </a:solidFill>
              </a:rPr>
              <a:t>object interaction and responsibility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Chain of Responsibility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Command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Interpreter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Iterator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Mediator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Memento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Observer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State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Strategy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Template Method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Visitor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375" y="1133675"/>
            <a:ext cx="3211950" cy="32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326298" y="376347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Singleton Pattern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21"/>
          <p:cNvSpPr txBox="1"/>
          <p:nvPr/>
        </p:nvSpPr>
        <p:spPr>
          <a:xfrm>
            <a:off x="346842" y="727229"/>
            <a:ext cx="4144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One Instance to Rule Them All?</a:t>
            </a:r>
            <a:endParaRPr sz="1500" b="1" i="0" u="none" strike="noStrike" cap="none" dirty="0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1"/>
          <p:cNvSpPr txBox="1"/>
          <p:nvPr/>
        </p:nvSpPr>
        <p:spPr>
          <a:xfrm>
            <a:off x="346842" y="1340857"/>
            <a:ext cx="44088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Ensures a </a:t>
            </a:r>
            <a:r>
              <a:rPr lang="en" sz="1200" b="1">
                <a:solidFill>
                  <a:schemeClr val="dk1"/>
                </a:solidFill>
              </a:rPr>
              <a:t>class has only one instance</a:t>
            </a:r>
            <a:r>
              <a:rPr lang="en" sz="1200">
                <a:solidFill>
                  <a:schemeClr val="dk1"/>
                </a:solidFill>
              </a:rPr>
              <a:t> and provides a global point of access to it.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930" y="533400"/>
            <a:ext cx="4016671" cy="401667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1"/>
          <p:cNvSpPr txBox="1"/>
          <p:nvPr/>
        </p:nvSpPr>
        <p:spPr>
          <a:xfrm>
            <a:off x="454442" y="2408357"/>
            <a:ext cx="3421800" cy="62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❗ But... Is Singleton an Anti-Pattern?</a:t>
            </a:r>
            <a:endParaRPr sz="1200" b="1" dirty="0">
              <a:solidFill>
                <a:schemeClr val="dk1"/>
              </a:solidFill>
            </a:endParaRPr>
          </a:p>
        </p:txBody>
      </p:sp>
      <p:sp>
        <p:nvSpPr>
          <p:cNvPr id="99" name="Google Shape;99;p21"/>
          <p:cNvSpPr txBox="1"/>
          <p:nvPr/>
        </p:nvSpPr>
        <p:spPr>
          <a:xfrm>
            <a:off x="549567" y="3000032"/>
            <a:ext cx="30000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Does it break </a:t>
            </a:r>
            <a:r>
              <a:rPr lang="en" sz="1200" b="1" dirty="0">
                <a:solidFill>
                  <a:schemeClr val="dk1"/>
                </a:solidFill>
              </a:rPr>
              <a:t>testability</a:t>
            </a:r>
            <a:r>
              <a:rPr lang="en" sz="1200" dirty="0">
                <a:solidFill>
                  <a:schemeClr val="dk1"/>
                </a:solidFill>
              </a:rPr>
              <a:t>?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Does it hide </a:t>
            </a:r>
            <a:r>
              <a:rPr lang="en" sz="1200" b="1" dirty="0">
                <a:solidFill>
                  <a:schemeClr val="dk1"/>
                </a:solidFill>
              </a:rPr>
              <a:t>dependencies</a:t>
            </a:r>
            <a:r>
              <a:rPr lang="en" sz="1200" dirty="0">
                <a:solidFill>
                  <a:schemeClr val="dk1"/>
                </a:solidFill>
              </a:rPr>
              <a:t>?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Does it lead to </a:t>
            </a:r>
            <a:r>
              <a:rPr lang="en" sz="1200" b="1" dirty="0">
                <a:solidFill>
                  <a:schemeClr val="dk1"/>
                </a:solidFill>
              </a:rPr>
              <a:t>global state</a:t>
            </a:r>
            <a:r>
              <a:rPr lang="en" sz="1200" dirty="0">
                <a:solidFill>
                  <a:schemeClr val="dk1"/>
                </a:solidFill>
              </a:rPr>
              <a:t>?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/>
        </p:nvSpPr>
        <p:spPr>
          <a:xfrm>
            <a:off x="413730" y="317992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Factory Pattern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2"/>
          <p:cNvSpPr txBox="1"/>
          <p:nvPr/>
        </p:nvSpPr>
        <p:spPr>
          <a:xfrm>
            <a:off x="434274" y="668874"/>
            <a:ext cx="41442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Creating Objects Without Exposing Instantiation Logic</a:t>
            </a:r>
            <a:endParaRPr sz="1500" b="1" i="0" u="none" strike="noStrike" cap="none" dirty="0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434274" y="1534143"/>
            <a:ext cx="4408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A </a:t>
            </a:r>
            <a:r>
              <a:rPr lang="en" sz="1100" b="1" dirty="0">
                <a:solidFill>
                  <a:schemeClr val="dk1"/>
                </a:solidFill>
              </a:rPr>
              <a:t>creational pattern</a:t>
            </a:r>
            <a:r>
              <a:rPr lang="en" sz="1100" dirty="0">
                <a:solidFill>
                  <a:schemeClr val="dk1"/>
                </a:solidFill>
              </a:rPr>
              <a:t> that delegates the responsibility of object creation to a </a:t>
            </a:r>
            <a:r>
              <a:rPr lang="en" sz="1100" b="1" dirty="0">
                <a:solidFill>
                  <a:schemeClr val="dk1"/>
                </a:solidFill>
              </a:rPr>
              <a:t>factory method or class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107" name="Google Shape;107;p22"/>
          <p:cNvSpPr txBox="1"/>
          <p:nvPr/>
        </p:nvSpPr>
        <p:spPr>
          <a:xfrm>
            <a:off x="450955" y="2207421"/>
            <a:ext cx="3000000" cy="17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✅ Benefits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Decouples </a:t>
            </a:r>
            <a:r>
              <a:rPr lang="en" sz="1100" b="1">
                <a:solidFill>
                  <a:schemeClr val="dk1"/>
                </a:solidFill>
              </a:rPr>
              <a:t>instantiation from logic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Adheres to </a:t>
            </a:r>
            <a:r>
              <a:rPr lang="en" sz="1100" b="1">
                <a:solidFill>
                  <a:schemeClr val="dk1"/>
                </a:solidFill>
              </a:rPr>
              <a:t>Open/Closed Principle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Enables </a:t>
            </a:r>
            <a:r>
              <a:rPr lang="en" sz="1100" b="1">
                <a:solidFill>
                  <a:schemeClr val="dk1"/>
                </a:solidFill>
              </a:rPr>
              <a:t>polymorphism at creation time</a:t>
            </a:r>
            <a:endParaRPr sz="1100" b="1">
              <a:solidFill>
                <a:schemeClr val="dk1"/>
              </a:solidFill>
            </a:endParaRPr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3975" y="918924"/>
            <a:ext cx="3459699" cy="345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336374" y="552919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Strategy Pattern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23"/>
          <p:cNvSpPr txBox="1"/>
          <p:nvPr/>
        </p:nvSpPr>
        <p:spPr>
          <a:xfrm>
            <a:off x="356918" y="903801"/>
            <a:ext cx="4144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Varying Behavior at Runtime Without Ifs</a:t>
            </a:r>
            <a:endParaRPr sz="1500" b="1" i="0" u="none" strike="noStrike" cap="none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407899" y="1965546"/>
            <a:ext cx="4639885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You need to switch </a:t>
            </a:r>
            <a:r>
              <a:rPr lang="en" sz="1200" b="1">
                <a:solidFill>
                  <a:schemeClr val="dk1"/>
                </a:solidFill>
              </a:rPr>
              <a:t>behavior dynamically</a:t>
            </a:r>
            <a:br>
              <a:rPr lang="en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You want to avoid </a:t>
            </a:r>
            <a:r>
              <a:rPr lang="en" sz="1200" b="1">
                <a:solidFill>
                  <a:schemeClr val="dk1"/>
                </a:solidFill>
              </a:rPr>
              <a:t>long if-else or switch statements</a:t>
            </a:r>
            <a:br>
              <a:rPr lang="en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You want to follow </a:t>
            </a:r>
            <a:r>
              <a:rPr lang="en" sz="1200" b="1">
                <a:solidFill>
                  <a:schemeClr val="dk1"/>
                </a:solidFill>
              </a:rPr>
              <a:t>Open/Closed Principle</a:t>
            </a:r>
            <a:r>
              <a:rPr lang="en" sz="1200">
                <a:solidFill>
                  <a:schemeClr val="dk1"/>
                </a:solidFill>
              </a:rPr>
              <a:t> for behaviors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784" y="817158"/>
            <a:ext cx="3613992" cy="3613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/>
        </p:nvSpPr>
        <p:spPr>
          <a:xfrm>
            <a:off x="407899" y="456275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Observer Pattern</a:t>
            </a:r>
            <a:endParaRPr sz="2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428444" y="807157"/>
            <a:ext cx="447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Reacting to Changes Without Tight Coupling</a:t>
            </a:r>
            <a:endParaRPr sz="1500" b="1" i="0" u="none" strike="noStrike" cap="none" dirty="0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407899" y="1824300"/>
            <a:ext cx="4164101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You need to </a:t>
            </a:r>
            <a:r>
              <a:rPr lang="en" sz="1200" b="1">
                <a:solidFill>
                  <a:schemeClr val="dk1"/>
                </a:solidFill>
              </a:rPr>
              <a:t>notify multiple components</a:t>
            </a:r>
            <a:r>
              <a:rPr lang="en" sz="1200">
                <a:solidFill>
                  <a:schemeClr val="dk1"/>
                </a:solidFill>
              </a:rPr>
              <a:t> of a change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You want to </a:t>
            </a:r>
            <a:r>
              <a:rPr lang="en" sz="1200" b="1">
                <a:solidFill>
                  <a:schemeClr val="dk1"/>
                </a:solidFill>
              </a:rPr>
              <a:t>decouple publisher from subscribers</a:t>
            </a:r>
            <a:br>
              <a:rPr lang="en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Used in </a:t>
            </a:r>
            <a:r>
              <a:rPr lang="en" sz="1200" b="1">
                <a:solidFill>
                  <a:schemeClr val="dk1"/>
                </a:solidFill>
              </a:rPr>
              <a:t>event-driven</a:t>
            </a:r>
            <a:r>
              <a:rPr lang="en" sz="1200">
                <a:solidFill>
                  <a:schemeClr val="dk1"/>
                </a:solidFill>
              </a:rPr>
              <a:t> and </a:t>
            </a:r>
            <a:r>
              <a:rPr lang="en" sz="1200" b="1">
                <a:solidFill>
                  <a:schemeClr val="dk1"/>
                </a:solidFill>
              </a:rPr>
              <a:t>GUI systems</a:t>
            </a:r>
            <a:r>
              <a:rPr lang="en" sz="1200">
                <a:solidFill>
                  <a:schemeClr val="dk1"/>
                </a:solidFill>
              </a:rPr>
              <a:t>, or to build </a:t>
            </a:r>
            <a:r>
              <a:rPr lang="en" sz="1200" b="1">
                <a:solidFill>
                  <a:schemeClr val="dk1"/>
                </a:solidFill>
              </a:rPr>
              <a:t>reactive APIs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195" y="894494"/>
            <a:ext cx="3241906" cy="3241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68150" y="426538"/>
            <a:ext cx="504108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Builder Pattern</a:t>
            </a:r>
            <a:endParaRPr sz="2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593975" y="777420"/>
            <a:ext cx="492492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Constructing Complex Objects Step by Step</a:t>
            </a:r>
            <a:endParaRPr sz="1500" b="1" i="0" u="none" strike="noStrike" cap="none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37636" y="1430290"/>
            <a:ext cx="4251000" cy="207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object requires </a:t>
            </a:r>
            <a:r>
              <a:rPr lang="en" b="1">
                <a:solidFill>
                  <a:schemeClr val="dk1"/>
                </a:solidFill>
              </a:rPr>
              <a:t>many parameters</a:t>
            </a:r>
            <a:r>
              <a:rPr lang="en">
                <a:solidFill>
                  <a:schemeClr val="dk1"/>
                </a:solidFill>
              </a:rPr>
              <a:t> (especially optional ones)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You want to avoid </a:t>
            </a:r>
            <a:r>
              <a:rPr lang="en" b="1">
                <a:solidFill>
                  <a:schemeClr val="dk1"/>
                </a:solidFill>
              </a:rPr>
              <a:t>telescoping constructors</a:t>
            </a:r>
            <a:br>
              <a:rPr lang="en" b="1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You need to ensure </a:t>
            </a:r>
            <a:r>
              <a:rPr lang="en" b="1">
                <a:solidFill>
                  <a:schemeClr val="dk1"/>
                </a:solidFill>
              </a:rPr>
              <a:t>immutability</a:t>
            </a:r>
            <a:r>
              <a:rPr lang="en">
                <a:solidFill>
                  <a:schemeClr val="dk1"/>
                </a:solidFill>
              </a:rPr>
              <a:t> while simplifying object creation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8895" y="901055"/>
            <a:ext cx="3131313" cy="3131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/>
        </p:nvSpPr>
        <p:spPr>
          <a:xfrm>
            <a:off x="324785" y="511073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Prototype Pattern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345330" y="861955"/>
            <a:ext cx="447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Cloning Objects Instead of Rebuilding Them</a:t>
            </a:r>
            <a:endParaRPr sz="1500" b="1" i="0" u="none" strike="noStrike" cap="none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229480" y="1824299"/>
            <a:ext cx="4251000" cy="13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Object creation is </a:t>
            </a:r>
            <a:r>
              <a:rPr lang="en" sz="1100" b="1" dirty="0">
                <a:solidFill>
                  <a:schemeClr val="dk1"/>
                </a:solidFill>
              </a:rPr>
              <a:t>expensive or slow</a:t>
            </a:r>
            <a:br>
              <a:rPr lang="en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You need to </a:t>
            </a:r>
            <a:r>
              <a:rPr lang="en" sz="1100" b="1" dirty="0">
                <a:solidFill>
                  <a:schemeClr val="dk1"/>
                </a:solidFill>
              </a:rPr>
              <a:t>clone objects with complex initialization</a:t>
            </a:r>
            <a:br>
              <a:rPr lang="en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You want to keep instantiation </a:t>
            </a:r>
            <a:r>
              <a:rPr lang="en" sz="1100" b="1" dirty="0">
                <a:solidFill>
                  <a:schemeClr val="dk1"/>
                </a:solidFill>
              </a:rPr>
              <a:t>decoupled</a:t>
            </a:r>
            <a:r>
              <a:rPr lang="en" sz="1100" dirty="0">
                <a:solidFill>
                  <a:schemeClr val="dk1"/>
                </a:solidFill>
              </a:rPr>
              <a:t> from the client code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530" y="1094616"/>
            <a:ext cx="4180301" cy="2786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407900" y="563600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Adapter Pattern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28445" y="914482"/>
            <a:ext cx="5102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Making Incompatible Interfaces Work Together</a:t>
            </a:r>
            <a:endParaRPr sz="1500" b="1" i="0" u="none" strike="noStrike" cap="none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407900" y="1824300"/>
            <a:ext cx="4414630" cy="182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You need to </a:t>
            </a:r>
            <a:r>
              <a:rPr lang="en" sz="1200" b="1" dirty="0">
                <a:solidFill>
                  <a:schemeClr val="dk1"/>
                </a:solidFill>
              </a:rPr>
              <a:t>integrate third-party or legacy classes</a:t>
            </a:r>
            <a:br>
              <a:rPr lang="en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You want to </a:t>
            </a:r>
            <a:r>
              <a:rPr lang="en" sz="1200" b="1" dirty="0">
                <a:solidFill>
                  <a:schemeClr val="dk1"/>
                </a:solidFill>
              </a:rPr>
              <a:t>decouple the client</a:t>
            </a:r>
            <a:r>
              <a:rPr lang="en" sz="1200" dirty="0">
                <a:solidFill>
                  <a:schemeClr val="dk1"/>
                </a:solidFill>
              </a:rPr>
              <a:t> from specific implementations</a:t>
            </a:r>
            <a:br>
              <a:rPr lang="en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You need to </a:t>
            </a:r>
            <a:r>
              <a:rPr lang="en" sz="1200" b="1" dirty="0">
                <a:solidFill>
                  <a:schemeClr val="dk1"/>
                </a:solidFill>
              </a:rPr>
              <a:t>adapt incompatible APIs</a:t>
            </a:r>
            <a:r>
              <a:rPr lang="en" sz="1200" dirty="0">
                <a:solidFill>
                  <a:schemeClr val="dk1"/>
                </a:solidFill>
              </a:rPr>
              <a:t> in a clean, maintainable way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902" y="909800"/>
            <a:ext cx="3382754" cy="3382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/>
        </p:nvSpPr>
        <p:spPr>
          <a:xfrm>
            <a:off x="239730" y="612325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Decorator Pattern</a:t>
            </a:r>
            <a:endParaRPr sz="2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260275" y="963207"/>
            <a:ext cx="5102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Add Behavior Without Modifying Code</a:t>
            </a:r>
            <a:endParaRPr sz="1500" b="1" i="0" u="none" strike="noStrike" cap="none" dirty="0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239730" y="1862837"/>
            <a:ext cx="4251000" cy="15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You need to </a:t>
            </a:r>
            <a:r>
              <a:rPr lang="en" sz="1100" b="1" dirty="0">
                <a:solidFill>
                  <a:schemeClr val="dk1"/>
                </a:solidFill>
              </a:rPr>
              <a:t>add responsibilities</a:t>
            </a:r>
            <a:r>
              <a:rPr lang="en" sz="1100" dirty="0">
                <a:solidFill>
                  <a:schemeClr val="dk1"/>
                </a:solidFill>
              </a:rPr>
              <a:t> to objects without changing their code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You want to use </a:t>
            </a:r>
            <a:r>
              <a:rPr lang="en" sz="1100" b="1" dirty="0">
                <a:solidFill>
                  <a:schemeClr val="dk1"/>
                </a:solidFill>
              </a:rPr>
              <a:t>composition over inheritance</a:t>
            </a:r>
            <a:br>
              <a:rPr lang="en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You want </a:t>
            </a:r>
            <a:r>
              <a:rPr lang="en" sz="1100" b="1" dirty="0">
                <a:solidFill>
                  <a:schemeClr val="dk1"/>
                </a:solidFill>
              </a:rPr>
              <a:t>flexible layering of features</a:t>
            </a:r>
            <a:r>
              <a:rPr lang="en" sz="1100" dirty="0">
                <a:solidFill>
                  <a:schemeClr val="dk1"/>
                </a:solidFill>
              </a:rPr>
              <a:t> (e.g., logging, validation, formatting)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250" y="889800"/>
            <a:ext cx="3468275" cy="34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/>
        </p:nvSpPr>
        <p:spPr>
          <a:xfrm>
            <a:off x="492491" y="521668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Proxy Pattern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513036" y="872550"/>
            <a:ext cx="5102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Controlling Access with a Representative</a:t>
            </a:r>
            <a:endParaRPr sz="1500" b="1" i="0" u="none" strike="noStrike" cap="none" dirty="0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260275" y="1854036"/>
            <a:ext cx="4251000" cy="2037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You need to add </a:t>
            </a:r>
            <a:r>
              <a:rPr lang="en" sz="1200" b="1" dirty="0">
                <a:solidFill>
                  <a:schemeClr val="dk1"/>
                </a:solidFill>
              </a:rPr>
              <a:t>access control</a:t>
            </a:r>
            <a:r>
              <a:rPr lang="en" sz="1200" dirty="0">
                <a:solidFill>
                  <a:schemeClr val="dk1"/>
                </a:solidFill>
              </a:rPr>
              <a:t>, </a:t>
            </a:r>
            <a:r>
              <a:rPr lang="en" sz="1200" b="1" dirty="0">
                <a:solidFill>
                  <a:schemeClr val="dk1"/>
                </a:solidFill>
              </a:rPr>
              <a:t>lazy loading</a:t>
            </a:r>
            <a:r>
              <a:rPr lang="en" sz="1200" dirty="0">
                <a:solidFill>
                  <a:schemeClr val="dk1"/>
                </a:solidFill>
              </a:rPr>
              <a:t>, or </a:t>
            </a:r>
            <a:r>
              <a:rPr lang="en" sz="1200" b="1" dirty="0">
                <a:solidFill>
                  <a:schemeClr val="dk1"/>
                </a:solidFill>
              </a:rPr>
              <a:t>caching</a:t>
            </a:r>
            <a:br>
              <a:rPr lang="en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You want to </a:t>
            </a:r>
            <a:r>
              <a:rPr lang="en" sz="1200" b="1" dirty="0">
                <a:solidFill>
                  <a:schemeClr val="dk1"/>
                </a:solidFill>
              </a:rPr>
              <a:t>log, secure, or monitor</a:t>
            </a:r>
            <a:r>
              <a:rPr lang="en" sz="1200" dirty="0">
                <a:solidFill>
                  <a:schemeClr val="dk1"/>
                </a:solidFill>
              </a:rPr>
              <a:t> access without touching the real object</a:t>
            </a:r>
            <a:br>
              <a:rPr lang="en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You’re working with </a:t>
            </a:r>
            <a:r>
              <a:rPr lang="en" sz="1200" b="1" dirty="0">
                <a:solidFill>
                  <a:schemeClr val="dk1"/>
                </a:solidFill>
              </a:rPr>
              <a:t>remote or expensive-to-create objects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1900" y="872550"/>
            <a:ext cx="3227976" cy="322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47" ma:contentTypeDescription="Crie um novo documento." ma:contentTypeScope="" ma:versionID="dffb45610ec274493f1df6af23dbe6ac">
  <xsd:schema xmlns:xsd="http://www.w3.org/2001/XMLSchema" xmlns:xs="http://www.w3.org/2001/XMLSchema" xmlns:p="http://schemas.microsoft.com/office/2006/metadata/properties" xmlns:ns2="2074a592-0284-4838-a99a-676a646e30ba" xmlns:ns3="e20d8d4b-1949-445f-b54d-8717a3d10a21" targetNamespace="http://schemas.microsoft.com/office/2006/metadata/properties" ma:root="true" ma:fieldsID="8dcf4bf69a9820a60792a588e054d98e" ns2:_="" ns3:_=""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 minOccurs="0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nillable="true" ma:displayName="Status" ma:default="Bruto" ma:format="Dropdown" ma:internalName="Status">
      <xsd:simpleType>
        <xsd:union memberTypes="dms:Text">
          <xsd:simpleType>
            <xsd:restriction base="dms:Choice"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</xsd:restriction>
          </xsd:simpleType>
        </xsd:union>
      </xsd:simpleType>
    </xsd:element>
    <xsd:element name="Coordena_x00e7__x00e3_o" ma:index="21" nillable="true" ma:displayName="Coordenação" ma:format="Dropdown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format="Dropdown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Disponibilizado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</documentManagement>
</p:properties>
</file>

<file path=customXml/itemProps1.xml><?xml version="1.0" encoding="utf-8"?>
<ds:datastoreItem xmlns:ds="http://schemas.openxmlformats.org/officeDocument/2006/customXml" ds:itemID="{2D7A8FBA-4B85-4ABA-A631-D95BE87C6BB4}"/>
</file>

<file path=customXml/itemProps2.xml><?xml version="1.0" encoding="utf-8"?>
<ds:datastoreItem xmlns:ds="http://schemas.openxmlformats.org/officeDocument/2006/customXml" ds:itemID="{7DBCA9F3-924E-4CF0-8DE2-F378DD8C59A4}"/>
</file>

<file path=customXml/itemProps3.xml><?xml version="1.0" encoding="utf-8"?>
<ds:datastoreItem xmlns:ds="http://schemas.openxmlformats.org/officeDocument/2006/customXml" ds:itemID="{80E2C143-2839-41A5-B2E3-0EBA91E9F63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Apresentação na tela (16:9)</PresentationFormat>
  <Paragraphs>111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Arial</vt:lpstr>
      <vt:lpstr>League Spartan Medium</vt:lpstr>
      <vt:lpstr>Montserrat</vt:lpstr>
      <vt:lpstr>League Spartan Light</vt:lpstr>
      <vt:lpstr>Calibri</vt:lpstr>
      <vt:lpstr>Poppins</vt:lpstr>
      <vt:lpstr>League Spartan</vt:lpstr>
      <vt:lpstr>Main</vt:lpstr>
      <vt:lpstr>Main</vt:lpstr>
      <vt:lpstr>Software Design &amp; System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Priscila Da Silva</dc:creator>
  <cp:lastModifiedBy>PRISCILA FERNANDA DA SILVA TADS028</cp:lastModifiedBy>
  <cp:revision>1</cp:revision>
  <dcterms:modified xsi:type="dcterms:W3CDTF">2025-07-11T14:48:09Z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  <property fmtid="{D5CDD505-2E9C-101B-9397-08002B2CF9AE}" pid="3" name="MediaServiceImageTags">
    <vt:lpwstr/>
  </property>
</Properties>
</file>