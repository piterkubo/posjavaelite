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  <p:sldMasterId id="2147483661" r:id="rId5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Roboto Mono" panose="00000009000000000000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16">
          <p15:clr>
            <a:srgbClr val="FF9900"/>
          </p15:clr>
        </p15:guide>
        <p15:guide id="2" orient="horz" pos="228">
          <p15:clr>
            <a:srgbClr val="747775"/>
          </p15:clr>
        </p15:guide>
        <p15:guide id="3" orient="horz" pos="432">
          <p15:clr>
            <a:srgbClr val="747775"/>
          </p15:clr>
        </p15:guide>
        <p15:guide id="4" pos="5171">
          <p15:clr>
            <a:srgbClr val="FF9900"/>
          </p15:clr>
        </p15:guide>
        <p15:guide id="5" orient="horz" pos="2867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tavio Santana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DC"/>
    <a:srgbClr val="23232D"/>
    <a:srgbClr val="16161D"/>
    <a:srgbClr val="ABCBEB"/>
    <a:srgbClr val="D2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EF3273-637A-4A1E-9847-21F8B95DEEC2}">
  <a:tblStyle styleId="{CDEF3273-637A-4A1E-9847-21F8B95DEE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74" y="523"/>
      </p:cViewPr>
      <p:guideLst>
        <p:guide pos="216"/>
        <p:guide orient="horz" pos="228"/>
        <p:guide orient="horz" pos="432"/>
        <p:guide pos="5171"/>
        <p:guide orient="horz" pos="2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Kelle Rodrigues Barbosa" userId="S::joyce.barbosa@kroton.com.br::8c08e31e-b3ba-42b8-b150-8158ecd9d93c" providerId="AD" clId="Web-{B97F6AF7-E06F-0C63-24CE-2AE5FA18202E}"/>
    <pc:docChg chg="mod modMainMaster">
      <pc:chgData name="Joyce Kelle Rodrigues Barbosa" userId="S::joyce.barbosa@kroton.com.br::8c08e31e-b3ba-42b8-b150-8158ecd9d93c" providerId="AD" clId="Web-{B97F6AF7-E06F-0C63-24CE-2AE5FA18202E}" dt="2025-08-18T13:32:34.276" v="1" actId="33475"/>
      <pc:docMkLst>
        <pc:docMk/>
      </pc:docMkLst>
      <pc:sldMasterChg chg="addSp">
        <pc:chgData name="Joyce Kelle Rodrigues Barbosa" userId="S::joyce.barbosa@kroton.com.br::8c08e31e-b3ba-42b8-b150-8158ecd9d93c" providerId="AD" clId="Web-{B97F6AF7-E06F-0C63-24CE-2AE5FA18202E}" dt="2025-08-18T13:32:34.276" v="0" actId="33475"/>
        <pc:sldMasterMkLst>
          <pc:docMk/>
          <pc:sldMasterMk cId="0" sldId="2147483660"/>
        </pc:sldMasterMkLst>
        <pc:spChg chg="add">
          <ac:chgData name="Joyce Kelle Rodrigues Barbosa" userId="S::joyce.barbosa@kroton.com.br::8c08e31e-b3ba-42b8-b150-8158ecd9d93c" providerId="AD" clId="Web-{B97F6AF7-E06F-0C63-24CE-2AE5FA18202E}" dt="2025-08-18T13:32:34.276" v="0" actId="33475"/>
          <ac:spMkLst>
            <pc:docMk/>
            <pc:sldMasterMk cId="0" sldId="2147483660"/>
            <ac:spMk id="3" creationId="{D877D78B-608B-B09C-B563-BB46AB6E8687}"/>
          </ac:spMkLst>
        </pc:spChg>
      </pc:sldMasterChg>
      <pc:sldMasterChg chg="addSp">
        <pc:chgData name="Joyce Kelle Rodrigues Barbosa" userId="S::joyce.barbosa@kroton.com.br::8c08e31e-b3ba-42b8-b150-8158ecd9d93c" providerId="AD" clId="Web-{B97F6AF7-E06F-0C63-24CE-2AE5FA18202E}" dt="2025-08-18T13:32:34.276" v="0" actId="33475"/>
        <pc:sldMasterMkLst>
          <pc:docMk/>
          <pc:sldMasterMk cId="0" sldId="2147483661"/>
        </pc:sldMasterMkLst>
        <pc:spChg chg="add">
          <ac:chgData name="Joyce Kelle Rodrigues Barbosa" userId="S::joyce.barbosa@kroton.com.br::8c08e31e-b3ba-42b8-b150-8158ecd9d93c" providerId="AD" clId="Web-{B97F6AF7-E06F-0C63-24CE-2AE5FA18202E}" dt="2025-08-18T13:32:34.276" v="0" actId="33475"/>
          <ac:spMkLst>
            <pc:docMk/>
            <pc:sldMasterMk cId="0" sldId="2147483661"/>
            <ac:spMk id="3" creationId="{B7604B82-FA81-C80C-E54D-679D9374F02D}"/>
          </ac:spMkLst>
        </pc:sp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7T18:40:46.420" idx="1">
    <p:pos x="6000" y="0"/>
    <p:text>Please, give me icon to each ones.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7-07T19:10:35.716" idx="2">
    <p:pos x="4262" y="444"/>
    <p:text>Please, enhance this table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6d57c2f8f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6d57c2f8f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d5f9f226a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6d5f9f226a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49c0cece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449c0cece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49c0cece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449c0cece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49c0cece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449c0cece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449c0cece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449c0cece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49c0cece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449c0cece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49c0cece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449c0cece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49c0cecea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449c0cecea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49c0cece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449c0cece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49c0cecea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3449c0cecea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49c0cecea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449c0cecea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9c0cece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449c0cece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49c0cecea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449c0cecea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49c0cecea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449c0cecea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49c0cecea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449c0cecea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49c0cecea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449c0cecea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49c0cecea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449c0cecea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49c0cecea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449c0cecea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" sz="1300" b="1">
                <a:solidFill>
                  <a:schemeClr val="dk1"/>
                </a:solidFill>
              </a:rPr>
              <a:t>🧠 Sources of Latency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Network delay</a:t>
            </a:r>
            <a:r>
              <a:rPr lang="en">
                <a:solidFill>
                  <a:schemeClr val="dk1"/>
                </a:solidFill>
              </a:rPr>
              <a:t> – physical distance, congestion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Backend processing</a:t>
            </a:r>
            <a:r>
              <a:rPr lang="en">
                <a:solidFill>
                  <a:schemeClr val="dk1"/>
                </a:solidFill>
              </a:rPr>
              <a:t> – business logic, DB queries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Serialization/deserialization</a:t>
            </a:r>
            <a:r>
              <a:rPr lang="en">
                <a:solidFill>
                  <a:schemeClr val="dk1"/>
                </a:solidFill>
              </a:rPr>
              <a:t> – converting data formats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Queueing delays</a:t>
            </a:r>
            <a:r>
              <a:rPr lang="en">
                <a:solidFill>
                  <a:schemeClr val="dk1"/>
                </a:solidFill>
              </a:rPr>
              <a:t> – requests waiting to be served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b="1">
                <a:solidFill>
                  <a:schemeClr val="dk1"/>
                </a:solidFill>
              </a:rPr>
              <a:t>Client-side rendering</a:t>
            </a:r>
            <a:r>
              <a:rPr lang="en">
                <a:solidFill>
                  <a:schemeClr val="dk1"/>
                </a:solidFill>
              </a:rPr>
              <a:t> – browser-side delays (JS execution)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5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pty">
  <p:cSld name="Title Slide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">
  <p:cSld name="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3024" y="4741400"/>
            <a:ext cx="256949" cy="3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 information 1">
  <p:cSld name="Title Slide_3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342550" y="244675"/>
            <a:ext cx="3313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Medium"/>
              <a:buNone/>
              <a:defRPr sz="1400" b="0" i="0" u="none" strike="noStrike" cap="none">
                <a:solidFill>
                  <a:srgbClr val="000000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ubTitle" idx="1"/>
          </p:nvPr>
        </p:nvSpPr>
        <p:spPr>
          <a:xfrm>
            <a:off x="398350" y="650250"/>
            <a:ext cx="32580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 Light"/>
              <a:buNone/>
              <a:defRPr sz="1400" b="0" i="0" u="none" strike="noStrike" cap="none">
                <a:solidFill>
                  <a:srgbClr val="000000"/>
                </a:solidFill>
                <a:latin typeface="League Spartan Light"/>
                <a:ea typeface="League Spartan Light"/>
                <a:cs typeface="League Spartan Light"/>
                <a:sym typeface="League Spartan Light"/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2"/>
          </p:nvPr>
        </p:nvSpPr>
        <p:spPr>
          <a:xfrm>
            <a:off x="398350" y="1943850"/>
            <a:ext cx="5215200" cy="25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●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○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ague Spartan"/>
              <a:buChar char="■"/>
              <a:defRPr sz="1400" b="0" i="0" u="none" strike="noStrike" cap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/>
          <p:nvPr/>
        </p:nvSpPr>
        <p:spPr>
          <a:xfrm>
            <a:off x="6227350" y="-397537"/>
            <a:ext cx="5975778" cy="6243350"/>
          </a:xfrm>
          <a:custGeom>
            <a:avLst/>
            <a:gdLst/>
            <a:ahLst/>
            <a:cxnLst/>
            <a:rect l="l" t="t" r="r" b="b"/>
            <a:pathLst>
              <a:path w="7135257" h="7135257" extrusionOk="0">
                <a:moveTo>
                  <a:pt x="3567626" y="0"/>
                </a:moveTo>
                <a:cubicBezTo>
                  <a:pt x="3783404" y="0"/>
                  <a:pt x="3999181" y="30869"/>
                  <a:pt x="4207766" y="92606"/>
                </a:cubicBezTo>
                <a:lnTo>
                  <a:pt x="4339338" y="138627"/>
                </a:lnTo>
                <a:lnTo>
                  <a:pt x="6847357" y="138627"/>
                </a:lnTo>
                <a:lnTo>
                  <a:pt x="6847357" y="2470155"/>
                </a:lnTo>
                <a:lnTo>
                  <a:pt x="6878019" y="2522042"/>
                </a:lnTo>
                <a:cubicBezTo>
                  <a:pt x="7221003" y="3174705"/>
                  <a:pt x="7221003" y="3960557"/>
                  <a:pt x="6878019" y="4613219"/>
                </a:cubicBezTo>
                <a:lnTo>
                  <a:pt x="6847357" y="4665107"/>
                </a:lnTo>
                <a:lnTo>
                  <a:pt x="6847357" y="6996627"/>
                </a:lnTo>
                <a:lnTo>
                  <a:pt x="4339351" y="6996627"/>
                </a:lnTo>
                <a:lnTo>
                  <a:pt x="4207770" y="7042651"/>
                </a:lnTo>
                <a:cubicBezTo>
                  <a:pt x="3442959" y="7269021"/>
                  <a:pt x="2581451" y="7080380"/>
                  <a:pt x="1977799" y="6476728"/>
                </a:cubicBezTo>
                <a:lnTo>
                  <a:pt x="658529" y="5157458"/>
                </a:lnTo>
                <a:cubicBezTo>
                  <a:pt x="-219510" y="4279419"/>
                  <a:pt x="-219510" y="2855835"/>
                  <a:pt x="658529" y="1977795"/>
                </a:cubicBezTo>
                <a:lnTo>
                  <a:pt x="1977795" y="658530"/>
                </a:lnTo>
                <a:cubicBezTo>
                  <a:pt x="2416815" y="219510"/>
                  <a:pt x="2992220" y="0"/>
                  <a:pt x="356762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2"/>
          <p:cNvPicPr preferRelativeResize="0"/>
          <p:nvPr/>
        </p:nvPicPr>
        <p:blipFill rotWithShape="1">
          <a:blip r:embed="rId3">
            <a:alphaModFix/>
          </a:blip>
          <a:srcRect t="13615" b="13615"/>
          <a:stretch/>
        </p:blipFill>
        <p:spPr>
          <a:xfrm>
            <a:off x="6302460" y="-286782"/>
            <a:ext cx="5755003" cy="5984081"/>
          </a:xfrm>
          <a:custGeom>
            <a:avLst/>
            <a:gdLst/>
            <a:ahLst/>
            <a:cxnLst/>
            <a:rect l="l" t="t" r="r" b="b"/>
            <a:pathLst>
              <a:path w="6577146" h="6838950" extrusionOk="0">
                <a:moveTo>
                  <a:pt x="2656971" y="0"/>
                </a:moveTo>
                <a:lnTo>
                  <a:pt x="6571074" y="0"/>
                </a:lnTo>
                <a:lnTo>
                  <a:pt x="6571074" y="2322003"/>
                </a:lnTo>
                <a:lnTo>
                  <a:pt x="6577146" y="2332710"/>
                </a:lnTo>
                <a:lnTo>
                  <a:pt x="6577146" y="4506248"/>
                </a:lnTo>
                <a:lnTo>
                  <a:pt x="6571074" y="4516955"/>
                </a:lnTo>
                <a:lnTo>
                  <a:pt x="6571074" y="6838950"/>
                </a:lnTo>
                <a:lnTo>
                  <a:pt x="2653408" y="6838950"/>
                </a:lnTo>
                <a:lnTo>
                  <a:pt x="2636156" y="6832602"/>
                </a:lnTo>
                <a:cubicBezTo>
                  <a:pt x="2367267" y="6722954"/>
                  <a:pt x="2115234" y="6554946"/>
                  <a:pt x="1897998" y="6328576"/>
                </a:cubicBezTo>
                <a:lnTo>
                  <a:pt x="631959" y="5009306"/>
                </a:lnTo>
                <a:cubicBezTo>
                  <a:pt x="-210652" y="4131267"/>
                  <a:pt x="-210652" y="2707683"/>
                  <a:pt x="631959" y="1829643"/>
                </a:cubicBezTo>
                <a:lnTo>
                  <a:pt x="1897994" y="510378"/>
                </a:lnTo>
                <a:cubicBezTo>
                  <a:pt x="2108647" y="290868"/>
                  <a:pt x="2352021" y="126236"/>
                  <a:pt x="2611755" y="1648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footer">
  <p:cSld name="Title Slide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275" y="4670400"/>
            <a:ext cx="1606651" cy="3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subTitle" idx="1"/>
          </p:nvPr>
        </p:nvSpPr>
        <p:spPr>
          <a:xfrm>
            <a:off x="1428187" y="349931"/>
            <a:ext cx="5353500" cy="3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877D78B-608B-B09C-B563-BB46AB6E868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7604B82-FA81-C80C-E54D-679D9374F02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44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comments" Target="../comments/commen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D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ctrTitle"/>
          </p:nvPr>
        </p:nvSpPr>
        <p:spPr>
          <a:xfrm>
            <a:off x="886200" y="1580614"/>
            <a:ext cx="5979487" cy="1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Software Design &amp; System Design</a:t>
            </a:r>
            <a:endParaRPr sz="40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p15"/>
          <p:cNvSpPr txBox="1"/>
          <p:nvPr/>
        </p:nvSpPr>
        <p:spPr>
          <a:xfrm>
            <a:off x="886200" y="3012182"/>
            <a:ext cx="563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Documentation</a:t>
            </a:r>
            <a:endParaRPr sz="1800" b="0" i="0" u="none" strike="noStrike" cap="none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15"/>
          <p:cNvSpPr txBox="1"/>
          <p:nvPr/>
        </p:nvSpPr>
        <p:spPr>
          <a:xfrm>
            <a:off x="886200" y="3973650"/>
            <a:ext cx="21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Otávio Santana, Founder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    otavio@os.expert</a:t>
            </a:r>
            <a:endParaRPr sz="12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325" y="4282350"/>
            <a:ext cx="130350" cy="1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F3EEF93A-5604-3D26-33D5-FA73BC6E0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25" y="371060"/>
            <a:ext cx="591120" cy="73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23044DE-9D46-31B3-3454-F26203B74758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2A8EEDD-2FD1-5ED0-5D94-8D559E6E22C3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Google Shape;55;p16"/>
          <p:cNvSpPr txBox="1"/>
          <p:nvPr/>
        </p:nvSpPr>
        <p:spPr>
          <a:xfrm>
            <a:off x="276900" y="144040"/>
            <a:ext cx="45828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700" b="0" i="0" u="none" strike="noStrike" cap="none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6"/>
          <p:cNvSpPr txBox="1"/>
          <p:nvPr/>
        </p:nvSpPr>
        <p:spPr>
          <a:xfrm>
            <a:off x="260278" y="435450"/>
            <a:ext cx="35103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Topics on this class</a:t>
            </a:r>
            <a:endParaRPr sz="1500" i="0" u="none" strike="noStrike" cap="none" dirty="0">
              <a:solidFill>
                <a:srgbClr val="009ED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6"/>
          <p:cNvSpPr txBox="1"/>
          <p:nvPr/>
        </p:nvSpPr>
        <p:spPr>
          <a:xfrm>
            <a:off x="276900" y="1839922"/>
            <a:ext cx="5679838" cy="1143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30200" algn="l" rtl="0">
              <a:spcBef>
                <a:spcPts val="70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How to document a system design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Use of diagrams (UML, C4 model)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Importance of clear and concise documentation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600"/>
              <a:buFont typeface="Poppins"/>
              <a:buChar char="●"/>
            </a:pPr>
            <a:r>
              <a:rPr lang="en" sz="1600" dirty="0">
                <a:solidFill>
                  <a:srgbClr val="3D3D3D"/>
                </a:solidFill>
                <a:latin typeface="Poppins"/>
                <a:ea typeface="Poppins"/>
                <a:cs typeface="Poppins"/>
                <a:sym typeface="Poppins"/>
              </a:rPr>
              <a:t>Documentation as code</a:t>
            </a:r>
            <a:endParaRPr sz="1600" dirty="0">
              <a:solidFill>
                <a:srgbClr val="3D3D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D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5947" y="0"/>
            <a:ext cx="5203902" cy="52039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7"/>
          <p:cNvSpPr txBox="1"/>
          <p:nvPr/>
        </p:nvSpPr>
        <p:spPr>
          <a:xfrm>
            <a:off x="239725" y="393523"/>
            <a:ext cx="3559124" cy="1014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Why Document System Design and Architecture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239725" y="1095238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Planning, Scaling, and Sharing Knowledge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133045" y="2112761"/>
            <a:ext cx="4545635" cy="183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Planning &amp; Alignment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Scalability (Human, not technical)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Traceability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Communication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Refactoring &amp; Modernization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50165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100"/>
              <a:buFont typeface="+mj-lt"/>
              <a:buAutoNum type="arabicPeriod"/>
            </a:pPr>
            <a:r>
              <a:rPr lang="e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Continuity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4D8F7EF-3D9C-1960-F40A-82CE038D069F}"/>
              </a:ext>
            </a:extLst>
          </p:cNvPr>
          <p:cNvCxnSpPr>
            <a:cxnSpLocks/>
          </p:cNvCxnSpPr>
          <p:nvPr/>
        </p:nvCxnSpPr>
        <p:spPr>
          <a:xfrm flipV="1">
            <a:off x="5170707" y="0"/>
            <a:ext cx="0" cy="514350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D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/>
        </p:nvSpPr>
        <p:spPr>
          <a:xfrm>
            <a:off x="155905" y="569319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Documentation Types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176455" y="920194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C4, UML, and ADR – Different Views, One Goal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8"/>
          <p:cNvSpPr txBox="1"/>
          <p:nvPr/>
        </p:nvSpPr>
        <p:spPr>
          <a:xfrm>
            <a:off x="155905" y="1372625"/>
            <a:ext cx="3641162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bg1"/>
                </a:solidFill>
              </a:rPr>
              <a:t>Each format tells part of the story: </a:t>
            </a:r>
            <a:r>
              <a:rPr lang="en" sz="1100" i="1" dirty="0">
                <a:solidFill>
                  <a:schemeClr val="bg1"/>
                </a:solidFill>
              </a:rPr>
              <a:t>structure</a:t>
            </a:r>
            <a:r>
              <a:rPr lang="en" sz="1100" dirty="0">
                <a:solidFill>
                  <a:schemeClr val="bg1"/>
                </a:solidFill>
              </a:rPr>
              <a:t>, </a:t>
            </a:r>
            <a:r>
              <a:rPr lang="en" sz="1100" i="1" dirty="0">
                <a:solidFill>
                  <a:schemeClr val="bg1"/>
                </a:solidFill>
              </a:rPr>
              <a:t>interaction</a:t>
            </a:r>
            <a:r>
              <a:rPr lang="en" sz="1100" dirty="0">
                <a:solidFill>
                  <a:schemeClr val="bg1"/>
                </a:solidFill>
              </a:rPr>
              <a:t>, </a:t>
            </a:r>
            <a:r>
              <a:rPr lang="en" sz="1100" i="1" dirty="0">
                <a:solidFill>
                  <a:schemeClr val="bg1"/>
                </a:solidFill>
              </a:rPr>
              <a:t>rationale</a:t>
            </a:r>
            <a:r>
              <a:rPr lang="en" sz="1100" dirty="0">
                <a:solidFill>
                  <a:schemeClr val="bg1"/>
                </a:solidFill>
              </a:rPr>
              <a:t> — all matter.</a:t>
            </a:r>
            <a:endParaRPr sz="1100" dirty="0">
              <a:solidFill>
                <a:schemeClr val="bg1"/>
              </a:solidFill>
            </a:endParaRPr>
          </a:p>
        </p:txBody>
      </p:sp>
      <p:pic>
        <p:nvPicPr>
          <p:cNvPr id="73" name="Google Shape;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1"/>
            <a:ext cx="4572000" cy="517328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8"/>
          <p:cNvSpPr txBox="1"/>
          <p:nvPr/>
        </p:nvSpPr>
        <p:spPr>
          <a:xfrm>
            <a:off x="603251" y="2112717"/>
            <a:ext cx="131698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C4 Model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5" name="Google Shape;75;p18"/>
          <p:cNvSpPr txBox="1"/>
          <p:nvPr/>
        </p:nvSpPr>
        <p:spPr>
          <a:xfrm>
            <a:off x="643891" y="2682624"/>
            <a:ext cx="71444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UML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3AA1F03C-B8EC-37BB-EAE2-237897C36660}"/>
              </a:ext>
            </a:extLst>
          </p:cNvPr>
          <p:cNvCxnSpPr>
            <a:cxnSpLocks/>
          </p:cNvCxnSpPr>
          <p:nvPr/>
        </p:nvCxnSpPr>
        <p:spPr>
          <a:xfrm flipV="1">
            <a:off x="4553487" y="0"/>
            <a:ext cx="0" cy="514350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Google Shape;76;p18"/>
          <p:cNvSpPr txBox="1"/>
          <p:nvPr/>
        </p:nvSpPr>
        <p:spPr>
          <a:xfrm>
            <a:off x="667515" y="3354131"/>
            <a:ext cx="71444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ADR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9D5488BF-E45F-2638-7B9D-899F8B9E5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13" y="2714991"/>
            <a:ext cx="363273" cy="363273"/>
          </a:xfrm>
          <a:prstGeom prst="rect">
            <a:avLst/>
          </a:prstGeom>
        </p:spPr>
      </p:pic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4D0CAD07-1AFA-FD42-B569-E485A5B26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25" y="2122549"/>
            <a:ext cx="410723" cy="410723"/>
          </a:xfrm>
          <a:prstGeom prst="rect">
            <a:avLst/>
          </a:prstGeom>
        </p:spPr>
      </p:pic>
      <p:pic>
        <p:nvPicPr>
          <p:cNvPr id="17" name="Imagem 16" descr="Ícone&#10;&#10;O conteúdo gerado por IA pode estar incorreto.">
            <a:extLst>
              <a:ext uri="{FF2B5EF4-FFF2-40B4-BE49-F238E27FC236}">
                <a16:creationId xmlns:a16="http://schemas.microsoft.com/office/drawing/2014/main" id="{8F4DDE7D-09E4-3B0D-A7D9-611422A18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33" y="3383173"/>
            <a:ext cx="318157" cy="318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6B73540-94A3-3859-1039-D05BDA0F89E5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691F078-B9F6-E26F-9A2E-48043DA260A5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Google Shape;81;p19"/>
          <p:cNvSpPr txBox="1"/>
          <p:nvPr/>
        </p:nvSpPr>
        <p:spPr>
          <a:xfrm>
            <a:off x="239725" y="25103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UML – Unified Modeling Language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260275" y="338808"/>
            <a:ext cx="5798554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The Classic Language for Software Structure and Behavior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381675" y="1262700"/>
            <a:ext cx="64926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📦 </a:t>
            </a:r>
            <a:r>
              <a:rPr lang="en" b="1" dirty="0"/>
              <a:t>Component Diagram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Shows system modules and their dependencies.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🔄 </a:t>
            </a:r>
            <a:r>
              <a:rPr lang="en" b="1" dirty="0"/>
              <a:t>Sequence Diagram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Represents interactions over time — who calls whom, and when.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🔁 </a:t>
            </a:r>
            <a:r>
              <a:rPr lang="en" b="1" dirty="0"/>
              <a:t>Activity Diagram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Flowchart-style logic: conditions, loops, branches.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📐 </a:t>
            </a:r>
            <a:r>
              <a:rPr lang="en" b="1" dirty="0">
                <a:solidFill>
                  <a:schemeClr val="dk1"/>
                </a:solidFill>
              </a:rPr>
              <a:t>Class Diagram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Describes object-oriented structure: classes, fields, methods, and relationships (inheritance, aggregation, etc.)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1254289-8F6C-4521-33FC-30549CC86AA2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Google Shape;88;p20"/>
          <p:cNvSpPr txBox="1"/>
          <p:nvPr/>
        </p:nvSpPr>
        <p:spPr>
          <a:xfrm>
            <a:off x="239725" y="-1702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C4 Model – Visualizing Software Architecture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260275" y="354170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FB1ED"/>
                </a:solidFill>
                <a:latin typeface="Montserrat"/>
                <a:ea typeface="Montserrat"/>
                <a:cs typeface="Montserrat"/>
                <a:sym typeface="Montserrat"/>
              </a:rPr>
              <a:t>From High-Level Context to Detailed Components</a:t>
            </a:r>
            <a:endParaRPr dirty="0">
              <a:solidFill>
                <a:srgbClr val="0FB1E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20"/>
          <p:cNvSpPr txBox="1"/>
          <p:nvPr/>
        </p:nvSpPr>
        <p:spPr>
          <a:xfrm>
            <a:off x="588130" y="1403200"/>
            <a:ext cx="225667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📌 Context Diagram</a:t>
            </a:r>
            <a:endParaRPr/>
          </a:p>
        </p:txBody>
      </p:sp>
      <p:sp>
        <p:nvSpPr>
          <p:cNvPr id="91" name="Google Shape;91;p20"/>
          <p:cNvSpPr txBox="1"/>
          <p:nvPr/>
        </p:nvSpPr>
        <p:spPr>
          <a:xfrm>
            <a:off x="585530" y="3290400"/>
            <a:ext cx="3210606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💻 Code Diagram</a:t>
            </a:r>
            <a:r>
              <a:rPr lang="en" dirty="0">
                <a:solidFill>
                  <a:schemeClr val="dk1"/>
                </a:solidFill>
              </a:rPr>
              <a:t> </a:t>
            </a:r>
            <a:r>
              <a:rPr lang="en" i="1" dirty="0">
                <a:solidFill>
                  <a:schemeClr val="dk1"/>
                </a:solidFill>
              </a:rPr>
              <a:t>(optional)</a:t>
            </a:r>
            <a:endParaRPr dirty="0"/>
          </a:p>
        </p:txBody>
      </p:sp>
      <p:sp>
        <p:nvSpPr>
          <p:cNvPr id="92" name="Google Shape;92;p20"/>
          <p:cNvSpPr txBox="1"/>
          <p:nvPr/>
        </p:nvSpPr>
        <p:spPr>
          <a:xfrm>
            <a:off x="538559" y="2638350"/>
            <a:ext cx="2895987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🔧 Component Diagram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579199" y="1986300"/>
            <a:ext cx="2669005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🧰 Container Diagram</a:t>
            </a:r>
            <a:endParaRPr dirty="0"/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3">
            <a:alphaModFix/>
          </a:blip>
          <a:srcRect l="4435" t="17019" r="3542"/>
          <a:stretch/>
        </p:blipFill>
        <p:spPr>
          <a:xfrm>
            <a:off x="5064175" y="1190505"/>
            <a:ext cx="3723799" cy="3357601"/>
          </a:xfrm>
          <a:prstGeom prst="roundRect">
            <a:avLst>
              <a:gd name="adj" fmla="val 3604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D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239725" y="627269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ADR – Architecture Decision Record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260275" y="978144"/>
            <a:ext cx="54156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Documenting Design Decisions with Purpose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21"/>
          <p:cNvSpPr txBox="1"/>
          <p:nvPr/>
        </p:nvSpPr>
        <p:spPr>
          <a:xfrm>
            <a:off x="145625" y="2351450"/>
            <a:ext cx="4233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Char char="●"/>
            </a:pPr>
            <a:r>
              <a:rPr lang="en" dirty="0">
                <a:solidFill>
                  <a:schemeClr val="bg1"/>
                </a:solidFill>
              </a:rPr>
              <a:t>Keeps track of why decisions were made</a:t>
            </a:r>
            <a:endParaRPr dirty="0">
              <a:solidFill>
                <a:schemeClr val="bg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Char char="●"/>
            </a:pPr>
            <a:r>
              <a:rPr lang="en" dirty="0">
                <a:solidFill>
                  <a:schemeClr val="bg1"/>
                </a:solidFill>
              </a:rPr>
              <a:t>Helps onboard new team members quickly</a:t>
            </a:r>
            <a:endParaRPr dirty="0">
              <a:solidFill>
                <a:schemeClr val="bg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Char char="●"/>
            </a:pPr>
            <a:r>
              <a:rPr lang="en" dirty="0">
                <a:solidFill>
                  <a:schemeClr val="bg1"/>
                </a:solidFill>
              </a:rPr>
              <a:t>Improves collaboration and accountability</a:t>
            </a:r>
            <a:endParaRPr dirty="0">
              <a:solidFill>
                <a:schemeClr val="bg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400"/>
              <a:buChar char="●"/>
            </a:pPr>
            <a:r>
              <a:rPr lang="en" dirty="0">
                <a:solidFill>
                  <a:schemeClr val="bg1"/>
                </a:solidFill>
              </a:rPr>
              <a:t>Enables evolutionary architecture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116" y="0"/>
            <a:ext cx="51435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21819848-F717-40F1-0BEC-0C4AE3CE8BC3}"/>
              </a:ext>
            </a:extLst>
          </p:cNvPr>
          <p:cNvCxnSpPr>
            <a:cxnSpLocks/>
          </p:cNvCxnSpPr>
          <p:nvPr/>
        </p:nvCxnSpPr>
        <p:spPr>
          <a:xfrm flipV="1">
            <a:off x="5282467" y="0"/>
            <a:ext cx="0" cy="514350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B74B72C-1B7B-D714-7B00-B44871E8D0B1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CA434D5-E6E0-A2E7-8E9C-564A76CD7E03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" name="Google Shape;107;p22"/>
          <p:cNvSpPr txBox="1"/>
          <p:nvPr/>
        </p:nvSpPr>
        <p:spPr>
          <a:xfrm>
            <a:off x="239725" y="10235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Documentation as Code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60275" y="338808"/>
            <a:ext cx="6116100" cy="624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9EDC"/>
                </a:solidFill>
                <a:latin typeface="Montserrat"/>
                <a:ea typeface="Montserrat"/>
                <a:cs typeface="Montserrat"/>
                <a:sym typeface="Montserrat"/>
              </a:rPr>
              <a:t>Version, Review, and Evolve Like Your Architecture Deserves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416725" y="1197250"/>
            <a:ext cx="57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Treating documentation like source code brings software-level discipline to architecture and design knowledge.</a:t>
            </a:r>
            <a:endParaRPr/>
          </a:p>
        </p:txBody>
      </p:sp>
      <p:sp>
        <p:nvSpPr>
          <p:cNvPr id="110" name="Google Shape;110;p22"/>
          <p:cNvSpPr txBox="1"/>
          <p:nvPr/>
        </p:nvSpPr>
        <p:spPr>
          <a:xfrm>
            <a:off x="535775" y="2235725"/>
            <a:ext cx="279139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🗂 Versioning</a:t>
            </a:r>
            <a:endParaRPr sz="1600"/>
          </a:p>
        </p:txBody>
      </p:sp>
      <p:sp>
        <p:nvSpPr>
          <p:cNvPr id="111" name="Google Shape;111;p22"/>
          <p:cNvSpPr txBox="1"/>
          <p:nvPr/>
        </p:nvSpPr>
        <p:spPr>
          <a:xfrm>
            <a:off x="2374650" y="2235725"/>
            <a:ext cx="366950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👥 Collaboration &amp; Review</a:t>
            </a:r>
            <a:endParaRPr sz="1600"/>
          </a:p>
        </p:txBody>
      </p:sp>
      <p:sp>
        <p:nvSpPr>
          <p:cNvPr id="112" name="Google Shape;112;p22"/>
          <p:cNvSpPr txBox="1"/>
          <p:nvPr/>
        </p:nvSpPr>
        <p:spPr>
          <a:xfrm>
            <a:off x="5278450" y="2202650"/>
            <a:ext cx="366950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🔄 Maintainability</a:t>
            </a:r>
            <a:endParaRPr sz="1600"/>
          </a:p>
        </p:txBody>
      </p:sp>
      <p:sp>
        <p:nvSpPr>
          <p:cNvPr id="113" name="Google Shape;113;p22"/>
          <p:cNvSpPr txBox="1"/>
          <p:nvPr/>
        </p:nvSpPr>
        <p:spPr>
          <a:xfrm>
            <a:off x="535775" y="3280850"/>
            <a:ext cx="209565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🧪 CI Integration</a:t>
            </a:r>
            <a:endParaRPr sz="1600"/>
          </a:p>
        </p:txBody>
      </p:sp>
      <p:sp>
        <p:nvSpPr>
          <p:cNvPr id="114" name="Google Shape;114;p22"/>
          <p:cNvSpPr txBox="1"/>
          <p:nvPr/>
        </p:nvSpPr>
        <p:spPr>
          <a:xfrm>
            <a:off x="2420690" y="3291010"/>
            <a:ext cx="279139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📁 Single Source of Truth</a:t>
            </a:r>
            <a:endParaRPr sz="1600" dirty="0"/>
          </a:p>
        </p:txBody>
      </p:sp>
      <p:sp>
        <p:nvSpPr>
          <p:cNvPr id="115" name="Google Shape;115;p22"/>
          <p:cNvSpPr txBox="1"/>
          <p:nvPr/>
        </p:nvSpPr>
        <p:spPr>
          <a:xfrm>
            <a:off x="5374650" y="3201450"/>
            <a:ext cx="366950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🔐 Git as Source of Truth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645A3DD-18ED-35D0-542B-E62F10A6CBF1}"/>
              </a:ext>
            </a:extLst>
          </p:cNvPr>
          <p:cNvSpPr/>
          <p:nvPr/>
        </p:nvSpPr>
        <p:spPr>
          <a:xfrm>
            <a:off x="0" y="0"/>
            <a:ext cx="9144000" cy="859597"/>
          </a:xfrm>
          <a:prstGeom prst="rect">
            <a:avLst/>
          </a:prstGeom>
          <a:solidFill>
            <a:srgbClr val="16161D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3F7C112D-9D4B-6589-AB41-11B71D5285C3}"/>
              </a:ext>
            </a:extLst>
          </p:cNvPr>
          <p:cNvCxnSpPr>
            <a:cxnSpLocks/>
          </p:cNvCxnSpPr>
          <p:nvPr/>
        </p:nvCxnSpPr>
        <p:spPr>
          <a:xfrm flipH="1">
            <a:off x="0" y="852163"/>
            <a:ext cx="9144000" cy="0"/>
          </a:xfrm>
          <a:prstGeom prst="line">
            <a:avLst/>
          </a:prstGeom>
          <a:ln w="12700" cap="flat" cmpd="sng" algn="ctr">
            <a:solidFill>
              <a:srgbClr val="D2D2F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0" name="Google Shape;120;p23"/>
          <p:cNvSpPr txBox="1"/>
          <p:nvPr/>
        </p:nvSpPr>
        <p:spPr>
          <a:xfrm>
            <a:off x="239725" y="-4633"/>
            <a:ext cx="60258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Markdown for Technical Documentation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260275" y="32394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Lightweight, Flexible, and Developer-Friendly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443174" y="2050440"/>
            <a:ext cx="237279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1800" dirty="0"/>
              <a:t>📖</a:t>
            </a:r>
            <a:r>
              <a:rPr lang="en" sz="1800" dirty="0"/>
              <a:t>Clean &amp; Readable</a:t>
            </a:r>
            <a:endParaRPr sz="1800" dirty="0"/>
          </a:p>
        </p:txBody>
      </p:sp>
      <p:sp>
        <p:nvSpPr>
          <p:cNvPr id="123" name="Google Shape;123;p23"/>
          <p:cNvSpPr txBox="1"/>
          <p:nvPr/>
        </p:nvSpPr>
        <p:spPr>
          <a:xfrm>
            <a:off x="3006212" y="1988049"/>
            <a:ext cx="292722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1800" dirty="0"/>
              <a:t> </a:t>
            </a:r>
            <a:r>
              <a:rPr lang="pt-BR" sz="1800" dirty="0"/>
              <a:t>👨‍💻</a:t>
            </a:r>
            <a:r>
              <a:rPr lang="en" sz="1800" dirty="0"/>
              <a:t>Developer-Friendly</a:t>
            </a:r>
            <a:endParaRPr sz="1800" dirty="0"/>
          </a:p>
        </p:txBody>
      </p:sp>
      <p:sp>
        <p:nvSpPr>
          <p:cNvPr id="124" name="Google Shape;124;p23"/>
          <p:cNvSpPr txBox="1"/>
          <p:nvPr/>
        </p:nvSpPr>
        <p:spPr>
          <a:xfrm>
            <a:off x="5615674" y="1941884"/>
            <a:ext cx="352832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" sz="1800" dirty="0"/>
              <a:t> </a:t>
            </a:r>
            <a:r>
              <a:rPr lang="pt-BR" sz="1800" dirty="0"/>
              <a:t>💼</a:t>
            </a:r>
            <a:r>
              <a:rPr lang="en" sz="1800" dirty="0"/>
              <a:t>Portable</a:t>
            </a:r>
            <a:endParaRPr sz="1800" dirty="0"/>
          </a:p>
        </p:txBody>
      </p:sp>
      <p:sp>
        <p:nvSpPr>
          <p:cNvPr id="125" name="Google Shape;125;p23"/>
          <p:cNvSpPr txBox="1"/>
          <p:nvPr/>
        </p:nvSpPr>
        <p:spPr>
          <a:xfrm>
            <a:off x="443174" y="3174598"/>
            <a:ext cx="176154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1800" dirty="0"/>
              <a:t>📊</a:t>
            </a:r>
            <a:r>
              <a:rPr lang="en" sz="1800" dirty="0"/>
              <a:t>Diagrams</a:t>
            </a:r>
            <a:endParaRPr sz="1800" dirty="0"/>
          </a:p>
        </p:txBody>
      </p:sp>
      <p:sp>
        <p:nvSpPr>
          <p:cNvPr id="126" name="Google Shape;126;p23"/>
          <p:cNvSpPr txBox="1"/>
          <p:nvPr/>
        </p:nvSpPr>
        <p:spPr>
          <a:xfrm>
            <a:off x="2815973" y="3174597"/>
            <a:ext cx="249678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1800" dirty="0"/>
              <a:t>📐</a:t>
            </a:r>
            <a:r>
              <a:rPr lang="en" sz="1800" dirty="0"/>
              <a:t>Structured Enough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ACB4D68-B8CB-40A1-0043-3C5441AFA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6"/>
            <a:ext cx="9144000" cy="856358"/>
          </a:xfrm>
          <a:prstGeom prst="rect">
            <a:avLst/>
          </a:prstGeom>
        </p:spPr>
      </p:pic>
      <p:sp>
        <p:nvSpPr>
          <p:cNvPr id="131" name="Google Shape;131;p24"/>
          <p:cNvSpPr txBox="1"/>
          <p:nvPr/>
        </p:nvSpPr>
        <p:spPr>
          <a:xfrm>
            <a:off x="239725" y="2801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Example: ADR in Markdown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260275" y="309072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Simple, Structured, and Versionable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377025" y="935885"/>
            <a:ext cx="57282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 ADR 001: Database Strategy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## Status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Accepted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## Context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We need to choose a database strategy for the user profile service.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## Decision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We will use </a:t>
            </a: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**MongoDB**</a:t>
            </a: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for its schema flexibility and scaling features.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## Consequences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 Fast initial development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 Potential complexity in ACID transactions</a:t>
            </a:r>
            <a:endParaRPr sz="12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- We'll need to monitor data growth and indexing</a:t>
            </a:r>
            <a:endParaRPr sz="12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1E26375-4409-0E4C-0619-2B4EE639A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062"/>
            <a:ext cx="9144000" cy="856358"/>
          </a:xfrm>
          <a:prstGeom prst="rect">
            <a:avLst/>
          </a:prstGeom>
        </p:spPr>
      </p:pic>
      <p:sp>
        <p:nvSpPr>
          <p:cNvPr id="138" name="Google Shape;138;p25"/>
          <p:cNvSpPr txBox="1"/>
          <p:nvPr/>
        </p:nvSpPr>
        <p:spPr>
          <a:xfrm>
            <a:off x="239725" y="2801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AsciiDoc for Structured Architecture Documentation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260275" y="309072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Rich, Semantic, and Ideal for Long-Form Docs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60956" y="1911612"/>
            <a:ext cx="277215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/>
              <a:t>✅</a:t>
            </a:r>
            <a:r>
              <a:rPr lang="en" sz="1800" dirty="0">
                <a:latin typeface="Poppins" panose="00000500000000000000" pitchFamily="2" charset="0"/>
                <a:cs typeface="Poppins" panose="00000500000000000000" pitchFamily="2" charset="0"/>
              </a:rPr>
              <a:t>Semantic Structure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3711829" y="1911612"/>
            <a:ext cx="159210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/>
              <a:t>✅</a:t>
            </a:r>
            <a:r>
              <a:rPr lang="en" sz="1800" dirty="0">
                <a:latin typeface="Poppins" panose="00000500000000000000" pitchFamily="2" charset="0"/>
                <a:cs typeface="Poppins" panose="00000500000000000000" pitchFamily="2" charset="0"/>
              </a:rPr>
              <a:t>Extensible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5582649" y="1911612"/>
            <a:ext cx="290039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✅</a:t>
            </a:r>
            <a:r>
              <a:rPr lang="en" sz="1800" dirty="0">
                <a:latin typeface="Poppins" panose="00000500000000000000" pitchFamily="2" charset="0"/>
                <a:cs typeface="Poppins" panose="00000500000000000000" pitchFamily="2" charset="0"/>
              </a:rPr>
              <a:t>Modular &amp; Reusable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1696720" y="3305093"/>
            <a:ext cx="224914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✅</a:t>
            </a:r>
            <a:r>
              <a:rPr lang="en" sz="1800" dirty="0">
                <a:solidFill>
                  <a:schemeClr val="dk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Tooling Friendly</a:t>
            </a:r>
            <a:endParaRPr sz="1800" dirty="0">
              <a:solidFill>
                <a:schemeClr val="dk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948444" y="3305093"/>
            <a:ext cx="307383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Poppins" panose="00000500000000000000" pitchFamily="2" charset="0"/>
                <a:cs typeface="Poppins" panose="00000500000000000000" pitchFamily="2" charset="0"/>
              </a:rPr>
              <a:t>Great for Books &amp; Docs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Google Shape;144;p25"/>
          <p:cNvSpPr txBox="1"/>
          <p:nvPr/>
        </p:nvSpPr>
        <p:spPr>
          <a:xfrm>
            <a:off x="4651234" y="3338666"/>
            <a:ext cx="345028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dirty="0"/>
              <a:t>✅</a:t>
            </a:r>
            <a:endParaRPr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2D7697-AC0C-7E6A-726E-B0DDACB7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683"/>
            <a:ext cx="9144000" cy="856358"/>
          </a:xfrm>
          <a:prstGeom prst="rect">
            <a:avLst/>
          </a:prstGeom>
        </p:spPr>
      </p:pic>
      <p:sp>
        <p:nvSpPr>
          <p:cNvPr id="149" name="Google Shape;149;p26"/>
          <p:cNvSpPr txBox="1"/>
          <p:nvPr/>
        </p:nvSpPr>
        <p:spPr>
          <a:xfrm>
            <a:off x="260275" y="-5175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Example: ADR in Markdown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260275" y="29447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Simple, Structured, and Versionable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377025" y="846675"/>
            <a:ext cx="5454149" cy="399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 ADR 001: Database Strategy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:status: Accepted</a:t>
            </a:r>
            <a:endParaRPr sz="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:toc: auto</a:t>
            </a:r>
            <a:endParaRPr sz="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:date: 2025-07-06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== Context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We need to choose a database strategy for the user profile service.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The system requires flexible schema, horizontal scalability, and fast iterations.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== Decision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We will use </a:t>
            </a:r>
            <a:r>
              <a:rPr lang="en" sz="800" i="1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*MongoDB*</a:t>
            </a: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for its schema flexibility and scaling features.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Future read models can be optimized separately if needed.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== Consequences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* Fast initial development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* Potential complexity in ACID transactions</a:t>
            </a:r>
            <a:endParaRPr sz="800" dirty="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dirty="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* We'll need to monitor data growth and indexing</a:t>
            </a:r>
            <a:endParaRPr sz="800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C08A968-36AC-91C7-1280-F14DD47E6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899"/>
            <a:ext cx="9144000" cy="856358"/>
          </a:xfrm>
          <a:prstGeom prst="rect">
            <a:avLst/>
          </a:prstGeom>
        </p:spPr>
      </p:pic>
      <p:sp>
        <p:nvSpPr>
          <p:cNvPr id="156" name="Google Shape;156;p27"/>
          <p:cNvSpPr txBox="1"/>
          <p:nvPr/>
        </p:nvSpPr>
        <p:spPr>
          <a:xfrm>
            <a:off x="239725" y="-4633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Markdown vs AsciiDoc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60275" y="294204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Choosing the Right Tool for Architecture Documentation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8" name="Google Shape;158;p27"/>
          <p:cNvGraphicFramePr/>
          <p:nvPr>
            <p:extLst>
              <p:ext uri="{D42A27DB-BD31-4B8C-83A1-F6EECF244321}">
                <p14:modId xmlns:p14="http://schemas.microsoft.com/office/powerpoint/2010/main" val="3256772865"/>
              </p:ext>
            </p:extLst>
          </p:nvPr>
        </p:nvGraphicFramePr>
        <p:xfrm>
          <a:off x="1428750" y="1123156"/>
          <a:ext cx="6286500" cy="3450320"/>
        </p:xfrm>
        <a:graphic>
          <a:graphicData uri="http://schemas.openxmlformats.org/drawingml/2006/table">
            <a:tbl>
              <a:tblPr>
                <a:noFill/>
                <a:tableStyleId>{CDEF3273-637A-4A1E-9847-21F8B95DEEC2}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Feature</a:t>
                      </a:r>
                      <a:endParaRPr sz="8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Markdown</a:t>
                      </a:r>
                      <a:endParaRPr sz="8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AsciiDoc</a:t>
                      </a:r>
                      <a:endParaRPr sz="8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Learning Curve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Very easy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⚠️ Moderate – more syntax to learn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Basic Syntax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Minimal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✅ Rich and expressive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Complex Structures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❌ Limited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✅ Supports sections, callouts, tables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Extensibility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⚠️ Plugins required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Native support (e.g., diagrams)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Diagrams Integration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⚠️ Needs Mermaid plugin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Supports PlantUML, Mermaid, C4Model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Output Formats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✅ HTML, PDF (via converters)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HTML, PDF, DocBook, EPUB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Use in Software Docs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✅ READMEs, ADRs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✅ Architecture, Books, API docs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Community &amp; Tooling</a:t>
                      </a:r>
                      <a:endParaRPr sz="800" b="1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✅ Huge (GitHub, editors)</a:t>
                      </a:r>
                      <a:endParaRPr sz="110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/>
                        <a:t>⚠️ Smaller but growing (Antora, IDEs)</a:t>
                      </a:r>
                      <a:endParaRPr sz="11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F26B54-15EE-4B69-7844-289F998B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163" name="Google Shape;163;p28"/>
          <p:cNvSpPr txBox="1"/>
          <p:nvPr/>
        </p:nvSpPr>
        <p:spPr>
          <a:xfrm>
            <a:off x="260275" y="0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Visualizing Architecture with PlantUML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260275" y="28555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Diagrams as Code for System and Software Design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342900" y="14420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interaction (sequence)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decomposition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diagrams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documentation with ADRs</a:t>
            </a:r>
            <a:endParaRPr/>
          </a:p>
        </p:txBody>
      </p:sp>
      <p:sp>
        <p:nvSpPr>
          <p:cNvPr id="166" name="Google Shape;166;p28"/>
          <p:cNvSpPr txBox="1"/>
          <p:nvPr/>
        </p:nvSpPr>
        <p:spPr>
          <a:xfrm>
            <a:off x="4504525" y="1340400"/>
            <a:ext cx="42597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@startuml mvc-simple-component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View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--&gt; 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: user events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--&gt; 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: updates/query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--&gt; 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: result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Controller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--&gt; [</a:t>
            </a:r>
            <a:r>
              <a:rPr lang="en" sz="1500" u="sng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View</a:t>
            </a: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: response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@enduml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ACBF13-8596-3B59-FDFA-B861F527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" y="0"/>
            <a:ext cx="9144000" cy="856358"/>
          </a:xfrm>
          <a:prstGeom prst="rect">
            <a:avLst/>
          </a:prstGeom>
        </p:spPr>
      </p:pic>
      <p:sp>
        <p:nvSpPr>
          <p:cNvPr id="171" name="Google Shape;171;p29"/>
          <p:cNvSpPr txBox="1"/>
          <p:nvPr/>
        </p:nvSpPr>
        <p:spPr>
          <a:xfrm>
            <a:off x="239725" y="9625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Diagramming with Mermaid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260275" y="31553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 dirty="0">
                <a:solidFill>
                  <a:srgbClr val="009EDC"/>
                </a:solidFill>
              </a:rPr>
              <a:t>Text-based diagrams for Markdown and AsciiDoc</a:t>
            </a:r>
            <a:endParaRPr u="sng"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317852" y="1479812"/>
            <a:ext cx="6602145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Supports </a:t>
            </a:r>
            <a:r>
              <a:rPr lang="en" b="1" dirty="0">
                <a:solidFill>
                  <a:schemeClr val="dk1"/>
                </a:solidFill>
              </a:rPr>
              <a:t>Diagrams-as-Code</a:t>
            </a:r>
            <a:r>
              <a:rPr lang="en" dirty="0">
                <a:solidFill>
                  <a:schemeClr val="dk1"/>
                </a:solidFill>
              </a:rPr>
              <a:t>, improving version control and collaboration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Compatible with both </a:t>
            </a:r>
            <a:r>
              <a:rPr lang="en" b="1" dirty="0">
                <a:solidFill>
                  <a:schemeClr val="dk1"/>
                </a:solidFill>
              </a:rPr>
              <a:t>Markdown</a:t>
            </a:r>
            <a:r>
              <a:rPr lang="en" dirty="0">
                <a:solidFill>
                  <a:schemeClr val="dk1"/>
                </a:solidFill>
              </a:rPr>
              <a:t> and </a:t>
            </a:r>
            <a:r>
              <a:rPr lang="en" b="1" dirty="0">
                <a:solidFill>
                  <a:schemeClr val="dk1"/>
                </a:solidFill>
              </a:rPr>
              <a:t>AsciiDoc</a:t>
            </a:r>
            <a:br>
              <a:rPr lang="en" b="1" dirty="0">
                <a:solidFill>
                  <a:schemeClr val="dk1"/>
                </a:solidFill>
              </a:rPr>
            </a:b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Rendered natively on platforms like GitHub, GitLab, Obsidian, and via </a:t>
            </a:r>
            <a:r>
              <a:rPr lang="en" b="1" dirty="0">
                <a:solidFill>
                  <a:schemeClr val="dk1"/>
                </a:solidFill>
              </a:rPr>
              <a:t>Kroki</a:t>
            </a:r>
            <a:r>
              <a:rPr lang="en" dirty="0">
                <a:solidFill>
                  <a:schemeClr val="dk1"/>
                </a:solidFill>
              </a:rPr>
              <a:t> for AsciiDoc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Easy to learn and quick to use for many diagram types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524BFD-E1C4-0F51-204A-B90C62383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178" name="Google Shape;178;p30"/>
          <p:cNvSpPr txBox="1"/>
          <p:nvPr/>
        </p:nvSpPr>
        <p:spPr>
          <a:xfrm>
            <a:off x="260275" y="-30471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Visualizing Architecture with Mermaid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260275" y="28835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Diagrams as Code for System and Software Design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342900" y="144200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overviews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interaction (sequence)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 decomposition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diagrams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documentation with ADRs</a:t>
            </a:r>
            <a:endParaRPr/>
          </a:p>
        </p:txBody>
      </p:sp>
      <p:sp>
        <p:nvSpPr>
          <p:cNvPr id="181" name="Google Shape;181;p30"/>
          <p:cNvSpPr txBox="1"/>
          <p:nvPr/>
        </p:nvSpPr>
        <p:spPr>
          <a:xfrm>
            <a:off x="4504525" y="1340400"/>
            <a:ext cx="42597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graph TD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V[👁️ View] --&gt; C[🧭 Controller]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 --&gt; M[🗃️ Model]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M --&gt; C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C --&gt; V</a:t>
            </a:r>
            <a:endParaRPr sz="15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62F7F08-E6F0-E3C8-973D-A70FD80F4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186" name="Google Shape;186;p31"/>
          <p:cNvSpPr txBox="1"/>
          <p:nvPr/>
        </p:nvSpPr>
        <p:spPr>
          <a:xfrm>
            <a:off x="239725" y="9625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Exercise: Representing a Java Server Request Flow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260275" y="31553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HTTP Java Request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285625" y="1186500"/>
            <a:ext cx="60654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the flow of a request through a Java server using a sequence diagram. Use components such as: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🌐 Client (e.g., browser or mobile app)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🚪 Controller (e.g., Controller)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⚙️ Service (e.g., business logic layer)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🗄️ Repository/DAO (data access layer)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💾 Database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BA44F4-C358-9A88-CB15-D8A795A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193" name="Google Shape;193;p32"/>
          <p:cNvSpPr txBox="1"/>
          <p:nvPr/>
        </p:nvSpPr>
        <p:spPr>
          <a:xfrm>
            <a:off x="352150" y="17120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Exercise: Model Credit Card Lifecycle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342720" y="323025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Credit Card Lifecycle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260275" y="1733641"/>
            <a:ext cx="60654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The card starts in the Created state.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From Created, it can become Active.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An Active card can be: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Suspended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Cancelled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A Suspended card can return to Active.</a:t>
            </a:r>
            <a:endParaRPr sz="16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A Cancelled card is terminal (no further transitions).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3587A13-49CB-696D-173C-791DADFCB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6"/>
            <a:ext cx="9144000" cy="856358"/>
          </a:xfrm>
          <a:prstGeom prst="rect">
            <a:avLst/>
          </a:prstGeom>
        </p:spPr>
      </p:pic>
      <p:sp>
        <p:nvSpPr>
          <p:cNvPr id="200" name="Google Shape;200;p33"/>
          <p:cNvSpPr txBox="1"/>
          <p:nvPr/>
        </p:nvSpPr>
        <p:spPr>
          <a:xfrm>
            <a:off x="239725" y="-27850"/>
            <a:ext cx="67584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Exercise: Bank System Context</a:t>
            </a:r>
            <a:endParaRPr sz="1800" b="1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260275" y="285550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009EDC"/>
                </a:solidFill>
              </a:rPr>
              <a:t>External Interaction in a Modern Banking Platform</a:t>
            </a:r>
            <a:endParaRPr dirty="0">
              <a:solidFill>
                <a:srgbClr val="009E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944380" y="2371650"/>
            <a:ext cx="743512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Customer </a:t>
            </a:r>
            <a:r>
              <a:rPr lang="en" sz="2400" dirty="0">
                <a:solidFill>
                  <a:srgbClr val="009EDC"/>
                </a:solidFill>
              </a:rPr>
              <a:t>→</a:t>
            </a:r>
            <a:r>
              <a:rPr lang="en" sz="2400" dirty="0"/>
              <a:t> Bank System </a:t>
            </a:r>
            <a:r>
              <a:rPr lang="en" sz="2400" dirty="0">
                <a:solidFill>
                  <a:srgbClr val="009EDC"/>
                </a:solidFill>
              </a:rPr>
              <a:t>→</a:t>
            </a:r>
            <a:r>
              <a:rPr lang="en" sz="2400" dirty="0"/>
              <a:t> Payment Processor</a:t>
            </a:r>
            <a:endParaRPr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3DB131-867E-6F64-D7B9-7A2C0D78A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56358"/>
          </a:xfrm>
          <a:prstGeom prst="rect">
            <a:avLst/>
          </a:prstGeom>
        </p:spPr>
      </p:pic>
      <p:sp>
        <p:nvSpPr>
          <p:cNvPr id="207" name="Google Shape;207;p34"/>
          <p:cNvSpPr txBox="1"/>
          <p:nvPr/>
        </p:nvSpPr>
        <p:spPr>
          <a:xfrm>
            <a:off x="260275" y="-62258"/>
            <a:ext cx="1533000" cy="695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Structurizr</a:t>
            </a:r>
            <a:r>
              <a:rPr lang="en" sz="1800" b="1" dirty="0">
                <a:solidFill>
                  <a:srgbClr val="061B2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1800" b="1" dirty="0">
              <a:solidFill>
                <a:srgbClr val="061B2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34"/>
          <p:cNvSpPr txBox="1"/>
          <p:nvPr/>
        </p:nvSpPr>
        <p:spPr>
          <a:xfrm>
            <a:off x="260275" y="245455"/>
            <a:ext cx="6116100" cy="53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D2D2FF"/>
                </a:solidFill>
              </a:rPr>
              <a:t>External Interaction in a Modern Banking Platform</a:t>
            </a:r>
            <a:endParaRPr dirty="0">
              <a:solidFill>
                <a:srgbClr val="D2D2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4"/>
          <p:cNvSpPr txBox="1"/>
          <p:nvPr/>
        </p:nvSpPr>
        <p:spPr>
          <a:xfrm>
            <a:off x="260274" y="1833000"/>
            <a:ext cx="7187005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Write architecture diagrams as code using a simple DSL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Supports C4 Model levels: Context, Container, Component, Code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Encourages evolutionary architecture — your diagrams grow with your system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Enables collaboration: share models, version control with Git</a:t>
            </a:r>
            <a:endParaRPr sz="180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 dirty="0"/>
              <a:t>View your diagrams on the web or export them as images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Custom 106">
      <a:dk1>
        <a:srgbClr val="000000"/>
      </a:dk1>
      <a:lt1>
        <a:srgbClr val="FFFFFF"/>
      </a:lt1>
      <a:dk2>
        <a:srgbClr val="004366"/>
      </a:dk2>
      <a:lt2>
        <a:srgbClr val="D4E3F4"/>
      </a:lt2>
      <a:accent1>
        <a:srgbClr val="3984D0"/>
      </a:accent1>
      <a:accent2>
        <a:srgbClr val="4682B4"/>
      </a:accent2>
      <a:accent3>
        <a:srgbClr val="004366"/>
      </a:accent3>
      <a:accent4>
        <a:srgbClr val="36454F"/>
      </a:accent4>
      <a:accent5>
        <a:srgbClr val="7ACCF1"/>
      </a:accent5>
      <a:accent6>
        <a:srgbClr val="F5F5F5"/>
      </a:accent6>
      <a:hlink>
        <a:srgbClr val="1D5183"/>
      </a:hlink>
      <a:folHlink>
        <a:srgbClr val="4163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47" ma:contentTypeDescription="Crie um novo documento." ma:contentTypeScope="" ma:versionID="dffb45610ec274493f1df6af23dbe6ac">
  <xsd:schema xmlns:xsd="http://www.w3.org/2001/XMLSchema" xmlns:xs="http://www.w3.org/2001/XMLSchema" xmlns:p="http://schemas.microsoft.com/office/2006/metadata/properties" xmlns:ns2="2074a592-0284-4838-a99a-676a646e30ba" xmlns:ns3="e20d8d4b-1949-445f-b54d-8717a3d10a21" targetNamespace="http://schemas.microsoft.com/office/2006/metadata/properties" ma:root="true" ma:fieldsID="8dcf4bf69a9820a60792a588e054d98e" ns2:_="" ns3:_=""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 minOccurs="0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nillable="true" ma:displayName="Status" ma:default="Bruto" ma:format="Dropdown" ma:internalName="Status">
      <xsd:simpleType>
        <xsd:union memberTypes="dms:Text">
          <xsd:simpleType>
            <xsd:restriction base="dms:Choice"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</xsd:restriction>
          </xsd:simpleType>
        </xsd:union>
      </xsd:simpleType>
    </xsd:element>
    <xsd:element name="Coordena_x00e7__x00e3_o" ma:index="21" nillable="true" ma:displayName="Coordenação" ma:format="Dropdown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format="Dropdown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Disponibilizado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7E0A15-2289-4E65-B343-A026448A738D}"/>
</file>

<file path=customXml/itemProps2.xml><?xml version="1.0" encoding="utf-8"?>
<ds:datastoreItem xmlns:ds="http://schemas.openxmlformats.org/officeDocument/2006/customXml" ds:itemID="{4158B5F7-FC73-4015-B3A2-01297AFCE13F}">
  <ds:schemaRefs>
    <ds:schemaRef ds:uri="http://schemas.microsoft.com/office/2006/metadata/properties"/>
    <ds:schemaRef ds:uri="http://schemas.microsoft.com/office/infopath/2007/PartnerControls"/>
    <ds:schemaRef ds:uri="2074a592-0284-4838-a99a-676a646e30ba"/>
    <ds:schemaRef ds:uri="e20d8d4b-1949-445f-b54d-8717a3d10a21"/>
  </ds:schemaRefs>
</ds:datastoreItem>
</file>

<file path=customXml/itemProps3.xml><?xml version="1.0" encoding="utf-8"?>
<ds:datastoreItem xmlns:ds="http://schemas.openxmlformats.org/officeDocument/2006/customXml" ds:itemID="{7C1C8368-EBD9-4BC6-BFE7-A8F045A5131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dc42001-9759-4b38-a906-152fbf37e35a}" enabled="1" method="Privileged" siteId="{a50e7b76-8ea5-492c-bf17-97d652fc3ce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1884</Words>
  <Application>Microsoft Office PowerPoint</Application>
  <PresentationFormat>Apresentação na tela (16:9)</PresentationFormat>
  <Paragraphs>314</Paragraphs>
  <Slides>20</Slides>
  <Notes>20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2" baseType="lpstr">
      <vt:lpstr>Main</vt:lpstr>
      <vt:lpstr>Main</vt:lpstr>
      <vt:lpstr>Software Design &amp; System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Priscila Da Silva</dc:creator>
  <cp:lastModifiedBy>PRISCILA FERNANDA DA SILVA TADS028</cp:lastModifiedBy>
  <cp:revision>5</cp:revision>
  <dcterms:modified xsi:type="dcterms:W3CDTF">2025-08-18T13:32:39Z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  <property fmtid="{D5CDD505-2E9C-101B-9397-08002B2CF9AE}" pid="3" name="ClassificationContentMarkingFooterLocations">
    <vt:lpwstr>Main:3\Main:3</vt:lpwstr>
  </property>
  <property fmtid="{D5CDD505-2E9C-101B-9397-08002B2CF9AE}" pid="4" name="ClassificationContentMarkingFooterText">
    <vt:lpwstr>Público</vt:lpwstr>
  </property>
  <property fmtid="{D5CDD505-2E9C-101B-9397-08002B2CF9AE}" pid="5" name="MediaServiceImageTags">
    <vt:lpwstr/>
  </property>
</Properties>
</file>