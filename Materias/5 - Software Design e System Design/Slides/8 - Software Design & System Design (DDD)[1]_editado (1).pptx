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Slides/notesSlide2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slideLayouts/slideLayout2.xml" ContentType="application/vnd.openxmlformats-officedocument.presentationml.slideLayout+xml"/>
  <Override PartName="/ppt/notesSlides/notesSlide10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  <p:sldMasterId id="2147483661" r:id="rId2"/>
  </p:sldMasterIdLst>
  <p:notesMasterIdLst>
    <p:notesMasterId r:id="rId2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9144000" cy="5143500" type="screen16x9"/>
  <p:notesSz cx="6858000" cy="9144000"/>
  <p:embeddedFontLst>
    <p:embeddedFont>
      <p:font typeface="League Spartan" panose="020B0604020202020204" charset="0"/>
      <p:regular r:id="rId25"/>
      <p:bold r:id="rId26"/>
    </p:embeddedFont>
    <p:embeddedFont>
      <p:font typeface="League Spartan Light" panose="020B0604020202020204" charset="0"/>
      <p:regular r:id="rId27"/>
      <p:bold r:id="rId28"/>
    </p:embeddedFont>
    <p:embeddedFont>
      <p:font typeface="League Spartan Medium" panose="020B0604020202020204" charset="0"/>
      <p:regular r:id="rId29"/>
      <p:bold r:id="rId30"/>
    </p:embeddedFont>
    <p:embeddedFont>
      <p:font typeface="Montserrat" panose="00000500000000000000" pitchFamily="2" charset="0"/>
      <p:regular r:id="rId31"/>
      <p:bold r:id="rId32"/>
      <p:italic r:id="rId33"/>
      <p:boldItalic r:id="rId34"/>
    </p:embeddedFont>
    <p:embeddedFont>
      <p:font typeface="Poppins" panose="00000500000000000000" pitchFamily="2" charset="0"/>
      <p:regular r:id="rId35"/>
      <p:bold r:id="rId36"/>
      <p:italic r:id="rId37"/>
      <p:boldItalic r:id="rId38"/>
    </p:embeddedFont>
    <p:embeddedFont>
      <p:font typeface="Poppins Medium" panose="00000600000000000000" pitchFamily="2" charset="0"/>
      <p:regular r:id="rId39"/>
      <p:bold r:id="rId40"/>
      <p:italic r:id="rId41"/>
      <p:boldItalic r:id="rId42"/>
    </p:embeddedFont>
    <p:embeddedFont>
      <p:font typeface="Poppins SemiBold" panose="00000700000000000000" pitchFamily="2" charset="0"/>
      <p:regular r:id="rId43"/>
      <p:bold r:id="rId44"/>
      <p:italic r:id="rId45"/>
      <p:boldItalic r:id="rId46"/>
    </p:embeddedFont>
    <p:embeddedFont>
      <p:font typeface="Roboto Mono" panose="00000009000000000000" pitchFamily="49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16">
          <p15:clr>
            <a:srgbClr val="FF9900"/>
          </p15:clr>
        </p15:guide>
        <p15:guide id="2" orient="horz" pos="228">
          <p15:clr>
            <a:srgbClr val="747775"/>
          </p15:clr>
        </p15:guide>
        <p15:guide id="3" orient="horz" pos="432">
          <p15:clr>
            <a:srgbClr val="747775"/>
          </p15:clr>
        </p15:guide>
        <p15:guide id="4" pos="5171">
          <p15:clr>
            <a:srgbClr val="FF9900"/>
          </p15:clr>
        </p15:guide>
        <p15:guide id="5" orient="horz" pos="2867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E5FAD95-80CF-4179-AC4D-0EE27A1DD8AF}">
  <a:tblStyle styleId="{0E5FAD95-80CF-4179-AC4D-0EE27A1DD8A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pos="216"/>
        <p:guide orient="horz" pos="228"/>
        <p:guide orient="horz" pos="432"/>
        <p:guide pos="5171"/>
        <p:guide orient="horz" pos="286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21" Type="http://schemas.openxmlformats.org/officeDocument/2006/relationships/slide" Target="slides/slide19.xml"/><Relationship Id="rId34" Type="http://schemas.openxmlformats.org/officeDocument/2006/relationships/font" Target="fonts/font10.fntdata"/><Relationship Id="rId42" Type="http://schemas.openxmlformats.org/officeDocument/2006/relationships/font" Target="fonts/font18.fntdata"/><Relationship Id="rId47" Type="http://schemas.openxmlformats.org/officeDocument/2006/relationships/font" Target="fonts/font23.fntdata"/><Relationship Id="rId50" Type="http://schemas.openxmlformats.org/officeDocument/2006/relationships/font" Target="fonts/font26.fntdata"/><Relationship Id="rId55" Type="http://schemas.openxmlformats.org/officeDocument/2006/relationships/customXml" Target="../customXml/item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font" Target="fonts/font5.fntdata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font" Target="fonts/font16.fntdata"/><Relationship Id="rId45" Type="http://schemas.openxmlformats.org/officeDocument/2006/relationships/font" Target="fonts/font21.fntdata"/><Relationship Id="rId53" Type="http://schemas.openxmlformats.org/officeDocument/2006/relationships/theme" Target="theme/theme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openxmlformats.org/officeDocument/2006/relationships/font" Target="fonts/font19.fntdata"/><Relationship Id="rId48" Type="http://schemas.openxmlformats.org/officeDocument/2006/relationships/font" Target="fonts/font24.fntdata"/><Relationship Id="rId56" Type="http://schemas.openxmlformats.org/officeDocument/2006/relationships/customXml" Target="../customXml/item2.xml"/><Relationship Id="rId8" Type="http://schemas.openxmlformats.org/officeDocument/2006/relationships/slide" Target="slides/slide6.xml"/><Relationship Id="rId51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46" Type="http://schemas.openxmlformats.org/officeDocument/2006/relationships/font" Target="fonts/font22.fntdata"/><Relationship Id="rId20" Type="http://schemas.openxmlformats.org/officeDocument/2006/relationships/slide" Target="slides/slide18.xml"/><Relationship Id="rId41" Type="http://schemas.openxmlformats.org/officeDocument/2006/relationships/font" Target="fonts/font17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49" Type="http://schemas.openxmlformats.org/officeDocument/2006/relationships/font" Target="fonts/font25.fntdata"/><Relationship Id="rId57" Type="http://schemas.openxmlformats.org/officeDocument/2006/relationships/customXml" Target="../customXml/item3.xml"/><Relationship Id="rId10" Type="http://schemas.openxmlformats.org/officeDocument/2006/relationships/slide" Target="slides/slide8.xml"/><Relationship Id="rId31" Type="http://schemas.openxmlformats.org/officeDocument/2006/relationships/font" Target="fonts/font7.fntdata"/><Relationship Id="rId44" Type="http://schemas.openxmlformats.org/officeDocument/2006/relationships/font" Target="fonts/font20.fntdata"/><Relationship Id="rId5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" name="Google Shape;4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6d57c2f8fe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g36d57c2f8fe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6e8b4d298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g36e8b4d298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6e8f18bb3c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g36e8f18bb3c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https://www.quora.com/What-is-the-etymology-of-the-title-Staff-Engineer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6e8f18bb3c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g36e8f18bb3c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https://www.quora.com/What-is-the-etymology-of-the-title-Staff-Engineer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e8f18bb3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g36e8f18bb3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https://www.quora.com/What-is-the-etymology-of-the-title-Staff-Engineer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6e8f18bb3c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g36e8f18bb3c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https://www.quora.com/What-is-the-etymology-of-the-title-Staff-Engineer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6e8f18bb3c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36e8f18bb3c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https://www.quora.com/What-is-the-etymology-of-the-title-Staff-Engineer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e8f18bb3c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g36e8f18bb3c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https://www.quora.com/What-is-the-etymology-of-the-title-Staff-Engineer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6e8f18bb3c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g36e8f18bb3c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https://www.quora.com/What-is-the-etymology-of-the-title-Staff-Engineer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6e8f18bb3c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36e8f18bb3c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https://www.quora.com/What-is-the-etymology-of-the-title-Staff-Engineer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6e8f18bb3c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g36e8f18bb3c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https://www.quora.com/What-is-the-etymology-of-the-title-Staff-Engineer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6e8f18bb3c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g36e8f18bb3c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https://www.quora.com/What-is-the-etymology-of-the-title-Staff-Engineer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6e8f18bb3c_0_1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g36e8f18bb3c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e8f18bb3c_0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g36e8f18bb3c_0_1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g36e8f18bb3c_0_18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6e8f18bb3c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36e8f18bb3c_0_1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g36e8f18bb3c_0_19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6e8f18bb3c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g36e8f18bb3c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https://www.quora.com/What-is-the-etymology-of-the-title-Staff-Engineer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6e8f18bb3c_0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g36e8f18bb3c_0_2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https://xmolecules.org/aea-paper.pdf</a:t>
            </a:r>
            <a:endParaRPr/>
          </a:p>
        </p:txBody>
      </p:sp>
      <p:sp>
        <p:nvSpPr>
          <p:cNvPr id="222" name="Google Shape;222;g36e8f18bb3c_0_2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6e8f18bb3c_0_3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g36e8f18bb3c_0_3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https://xmolecules.org/aea-paper.pdf</a:t>
            </a:r>
            <a:endParaRPr/>
          </a:p>
        </p:txBody>
      </p:sp>
      <p:sp>
        <p:nvSpPr>
          <p:cNvPr id="231" name="Google Shape;231;g36e8f18bb3c_0_3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6e8f18bb3c_0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g36e8f18bb3c_0_3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https://xmolecules.org/aea-paper.pdf</a:t>
            </a:r>
            <a:endParaRPr/>
          </a:p>
        </p:txBody>
      </p:sp>
      <p:sp>
        <p:nvSpPr>
          <p:cNvPr id="250" name="Google Shape;250;g36e8f18bb3c_0_3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6e8f18bb3c_0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g36e8f18bb3c_0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https://xmolecules.org/aea-paper.pdf</a:t>
            </a:r>
            <a:endParaRPr/>
          </a:p>
        </p:txBody>
      </p:sp>
      <p:sp>
        <p:nvSpPr>
          <p:cNvPr id="266" name="Google Shape;266;g36e8f18bb3c_0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pty">
  <p:cSld name="Title Slide_1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 information">
  <p:cSld name="Title Slid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63024" y="4741400"/>
            <a:ext cx="256949" cy="30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275" y="4670400"/>
            <a:ext cx="1606651" cy="37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 information 1">
  <p:cSld name="Title Slide_3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275" y="4670400"/>
            <a:ext cx="1606651" cy="37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5"/>
          <p:cNvSpPr txBox="1">
            <a:spLocks noGrp="1"/>
          </p:cNvSpPr>
          <p:nvPr>
            <p:ph type="title"/>
          </p:nvPr>
        </p:nvSpPr>
        <p:spPr>
          <a:xfrm>
            <a:off x="342550" y="244675"/>
            <a:ext cx="3313800" cy="3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Medium"/>
              <a:buNone/>
              <a:defRPr sz="1400" b="0" i="0" u="none" strike="noStrike" cap="none">
                <a:solidFill>
                  <a:srgbClr val="000000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subTitle" idx="1"/>
          </p:nvPr>
        </p:nvSpPr>
        <p:spPr>
          <a:xfrm>
            <a:off x="398350" y="650250"/>
            <a:ext cx="32580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body" idx="2"/>
          </p:nvPr>
        </p:nvSpPr>
        <p:spPr>
          <a:xfrm>
            <a:off x="398350" y="1943850"/>
            <a:ext cx="5215200" cy="25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●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○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■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●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○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■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●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○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■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9pPr>
          </a:lstStyle>
          <a:p>
            <a:endParaRPr/>
          </a:p>
        </p:txBody>
      </p:sp>
      <p:sp>
        <p:nvSpPr>
          <p:cNvPr id="17" name="Google Shape;17;p5"/>
          <p:cNvSpPr/>
          <p:nvPr/>
        </p:nvSpPr>
        <p:spPr>
          <a:xfrm>
            <a:off x="6227350" y="-397537"/>
            <a:ext cx="5975778" cy="6243350"/>
          </a:xfrm>
          <a:custGeom>
            <a:avLst/>
            <a:gdLst/>
            <a:ahLst/>
            <a:cxnLst/>
            <a:rect l="l" t="t" r="r" b="b"/>
            <a:pathLst>
              <a:path w="7135257" h="7135257" extrusionOk="0">
                <a:moveTo>
                  <a:pt x="3567626" y="0"/>
                </a:moveTo>
                <a:cubicBezTo>
                  <a:pt x="3783404" y="0"/>
                  <a:pt x="3999181" y="30869"/>
                  <a:pt x="4207766" y="92606"/>
                </a:cubicBezTo>
                <a:lnTo>
                  <a:pt x="4339338" y="138627"/>
                </a:lnTo>
                <a:lnTo>
                  <a:pt x="6847357" y="138627"/>
                </a:lnTo>
                <a:lnTo>
                  <a:pt x="6847357" y="2470155"/>
                </a:lnTo>
                <a:lnTo>
                  <a:pt x="6878019" y="2522042"/>
                </a:lnTo>
                <a:cubicBezTo>
                  <a:pt x="7221003" y="3174705"/>
                  <a:pt x="7221003" y="3960557"/>
                  <a:pt x="6878019" y="4613219"/>
                </a:cubicBezTo>
                <a:lnTo>
                  <a:pt x="6847357" y="4665107"/>
                </a:lnTo>
                <a:lnTo>
                  <a:pt x="6847357" y="6996627"/>
                </a:lnTo>
                <a:lnTo>
                  <a:pt x="4339351" y="6996627"/>
                </a:lnTo>
                <a:lnTo>
                  <a:pt x="4207770" y="7042651"/>
                </a:lnTo>
                <a:cubicBezTo>
                  <a:pt x="3442959" y="7269021"/>
                  <a:pt x="2581451" y="7080380"/>
                  <a:pt x="1977799" y="6476728"/>
                </a:cubicBezTo>
                <a:lnTo>
                  <a:pt x="658529" y="5157458"/>
                </a:lnTo>
                <a:cubicBezTo>
                  <a:pt x="-219510" y="4279419"/>
                  <a:pt x="-219510" y="2855835"/>
                  <a:pt x="658529" y="1977795"/>
                </a:cubicBezTo>
                <a:lnTo>
                  <a:pt x="1977795" y="658530"/>
                </a:lnTo>
                <a:cubicBezTo>
                  <a:pt x="2416815" y="219510"/>
                  <a:pt x="2992220" y="0"/>
                  <a:pt x="3567626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" name="Google Shape;18;p5"/>
          <p:cNvPicPr preferRelativeResize="0"/>
          <p:nvPr/>
        </p:nvPicPr>
        <p:blipFill rotWithShape="1">
          <a:blip r:embed="rId3">
            <a:alphaModFix/>
          </a:blip>
          <a:srcRect t="13615" b="13615"/>
          <a:stretch/>
        </p:blipFill>
        <p:spPr>
          <a:xfrm>
            <a:off x="6302460" y="-286782"/>
            <a:ext cx="5755003" cy="5984081"/>
          </a:xfrm>
          <a:custGeom>
            <a:avLst/>
            <a:gdLst/>
            <a:ahLst/>
            <a:cxnLst/>
            <a:rect l="l" t="t" r="r" b="b"/>
            <a:pathLst>
              <a:path w="6577146" h="6838950" extrusionOk="0">
                <a:moveTo>
                  <a:pt x="2656971" y="0"/>
                </a:moveTo>
                <a:lnTo>
                  <a:pt x="6571074" y="0"/>
                </a:lnTo>
                <a:lnTo>
                  <a:pt x="6571074" y="2322003"/>
                </a:lnTo>
                <a:lnTo>
                  <a:pt x="6577146" y="2332710"/>
                </a:lnTo>
                <a:lnTo>
                  <a:pt x="6577146" y="4506248"/>
                </a:lnTo>
                <a:lnTo>
                  <a:pt x="6571074" y="4516955"/>
                </a:lnTo>
                <a:lnTo>
                  <a:pt x="6571074" y="6838950"/>
                </a:lnTo>
                <a:lnTo>
                  <a:pt x="2653408" y="6838950"/>
                </a:lnTo>
                <a:lnTo>
                  <a:pt x="2636156" y="6832602"/>
                </a:lnTo>
                <a:cubicBezTo>
                  <a:pt x="2367267" y="6722954"/>
                  <a:pt x="2115234" y="6554946"/>
                  <a:pt x="1897998" y="6328576"/>
                </a:cubicBezTo>
                <a:lnTo>
                  <a:pt x="631959" y="5009306"/>
                </a:lnTo>
                <a:cubicBezTo>
                  <a:pt x="-210652" y="4131267"/>
                  <a:pt x="-210652" y="2707683"/>
                  <a:pt x="631959" y="1829643"/>
                </a:cubicBezTo>
                <a:lnTo>
                  <a:pt x="1897994" y="510378"/>
                </a:lnTo>
                <a:cubicBezTo>
                  <a:pt x="2108647" y="290868"/>
                  <a:pt x="2352021" y="126236"/>
                  <a:pt x="2611755" y="16481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 footer">
  <p:cSld name="Title Slide_2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275" y="4670400"/>
            <a:ext cx="1606651" cy="37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>
            <a:spLocks noGrp="1"/>
          </p:cNvSpPr>
          <p:nvPr>
            <p:ph type="subTitle" idx="1"/>
          </p:nvPr>
        </p:nvSpPr>
        <p:spPr>
          <a:xfrm>
            <a:off x="1428187" y="349931"/>
            <a:ext cx="5353500" cy="39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pty">
  <p:cSld name="Title Slide_1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 information">
  <p:cSld name="Title Slid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63024" y="4741400"/>
            <a:ext cx="256949" cy="30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275" y="4670400"/>
            <a:ext cx="1606651" cy="37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 information 1">
  <p:cSld name="Title Slide_3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275" y="4670400"/>
            <a:ext cx="1606651" cy="37105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2"/>
          <p:cNvSpPr txBox="1">
            <a:spLocks noGrp="1"/>
          </p:cNvSpPr>
          <p:nvPr>
            <p:ph type="title"/>
          </p:nvPr>
        </p:nvSpPr>
        <p:spPr>
          <a:xfrm>
            <a:off x="342550" y="244675"/>
            <a:ext cx="3313800" cy="3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Medium"/>
              <a:buNone/>
              <a:defRPr sz="1400" b="0" i="0" u="none" strike="noStrike" cap="none">
                <a:solidFill>
                  <a:srgbClr val="000000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subTitle" idx="1"/>
          </p:nvPr>
        </p:nvSpPr>
        <p:spPr>
          <a:xfrm>
            <a:off x="398350" y="650250"/>
            <a:ext cx="32580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9pPr>
          </a:lstStyle>
          <a:p>
            <a:endParaRPr/>
          </a:p>
        </p:txBody>
      </p:sp>
      <p:sp>
        <p:nvSpPr>
          <p:cNvPr id="34" name="Google Shape;34;p12"/>
          <p:cNvSpPr txBox="1">
            <a:spLocks noGrp="1"/>
          </p:cNvSpPr>
          <p:nvPr>
            <p:ph type="body" idx="2"/>
          </p:nvPr>
        </p:nvSpPr>
        <p:spPr>
          <a:xfrm>
            <a:off x="398350" y="1943850"/>
            <a:ext cx="5215200" cy="25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●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marL="914400" marR="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○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marL="1371600" marR="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■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marL="1828800" marR="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●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marL="2286000" marR="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○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marL="2743200" marR="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■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6pPr>
            <a:lvl7pPr marL="3200400" marR="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●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7pPr>
            <a:lvl8pPr marL="3657600" marR="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○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8pPr>
            <a:lvl9pPr marL="4114800" marR="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■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9pPr>
          </a:lstStyle>
          <a:p>
            <a:endParaRPr/>
          </a:p>
        </p:txBody>
      </p:sp>
      <p:sp>
        <p:nvSpPr>
          <p:cNvPr id="35" name="Google Shape;35;p12"/>
          <p:cNvSpPr/>
          <p:nvPr/>
        </p:nvSpPr>
        <p:spPr>
          <a:xfrm>
            <a:off x="6227350" y="-397537"/>
            <a:ext cx="5975778" cy="6243350"/>
          </a:xfrm>
          <a:custGeom>
            <a:avLst/>
            <a:gdLst/>
            <a:ahLst/>
            <a:cxnLst/>
            <a:rect l="l" t="t" r="r" b="b"/>
            <a:pathLst>
              <a:path w="7135257" h="7135257" extrusionOk="0">
                <a:moveTo>
                  <a:pt x="3567626" y="0"/>
                </a:moveTo>
                <a:cubicBezTo>
                  <a:pt x="3783404" y="0"/>
                  <a:pt x="3999181" y="30869"/>
                  <a:pt x="4207766" y="92606"/>
                </a:cubicBezTo>
                <a:lnTo>
                  <a:pt x="4339338" y="138627"/>
                </a:lnTo>
                <a:lnTo>
                  <a:pt x="6847357" y="138627"/>
                </a:lnTo>
                <a:lnTo>
                  <a:pt x="6847357" y="2470155"/>
                </a:lnTo>
                <a:lnTo>
                  <a:pt x="6878019" y="2522042"/>
                </a:lnTo>
                <a:cubicBezTo>
                  <a:pt x="7221003" y="3174705"/>
                  <a:pt x="7221003" y="3960557"/>
                  <a:pt x="6878019" y="4613219"/>
                </a:cubicBezTo>
                <a:lnTo>
                  <a:pt x="6847357" y="4665107"/>
                </a:lnTo>
                <a:lnTo>
                  <a:pt x="6847357" y="6996627"/>
                </a:lnTo>
                <a:lnTo>
                  <a:pt x="4339351" y="6996627"/>
                </a:lnTo>
                <a:lnTo>
                  <a:pt x="4207770" y="7042651"/>
                </a:lnTo>
                <a:cubicBezTo>
                  <a:pt x="3442959" y="7269021"/>
                  <a:pt x="2581451" y="7080380"/>
                  <a:pt x="1977799" y="6476728"/>
                </a:cubicBezTo>
                <a:lnTo>
                  <a:pt x="658529" y="5157458"/>
                </a:lnTo>
                <a:cubicBezTo>
                  <a:pt x="-219510" y="4279419"/>
                  <a:pt x="-219510" y="2855835"/>
                  <a:pt x="658529" y="1977795"/>
                </a:cubicBezTo>
                <a:lnTo>
                  <a:pt x="1977795" y="658530"/>
                </a:lnTo>
                <a:cubicBezTo>
                  <a:pt x="2416815" y="219510"/>
                  <a:pt x="2992220" y="0"/>
                  <a:pt x="3567626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" name="Google Shape;36;p12"/>
          <p:cNvPicPr preferRelativeResize="0"/>
          <p:nvPr/>
        </p:nvPicPr>
        <p:blipFill rotWithShape="1">
          <a:blip r:embed="rId3">
            <a:alphaModFix/>
          </a:blip>
          <a:srcRect t="13615" b="13615"/>
          <a:stretch/>
        </p:blipFill>
        <p:spPr>
          <a:xfrm>
            <a:off x="6302460" y="-286782"/>
            <a:ext cx="5755003" cy="5984081"/>
          </a:xfrm>
          <a:custGeom>
            <a:avLst/>
            <a:gdLst/>
            <a:ahLst/>
            <a:cxnLst/>
            <a:rect l="l" t="t" r="r" b="b"/>
            <a:pathLst>
              <a:path w="6577146" h="6838950" extrusionOk="0">
                <a:moveTo>
                  <a:pt x="2656971" y="0"/>
                </a:moveTo>
                <a:lnTo>
                  <a:pt x="6571074" y="0"/>
                </a:lnTo>
                <a:lnTo>
                  <a:pt x="6571074" y="2322003"/>
                </a:lnTo>
                <a:lnTo>
                  <a:pt x="6577146" y="2332710"/>
                </a:lnTo>
                <a:lnTo>
                  <a:pt x="6577146" y="4506248"/>
                </a:lnTo>
                <a:lnTo>
                  <a:pt x="6571074" y="4516955"/>
                </a:lnTo>
                <a:lnTo>
                  <a:pt x="6571074" y="6838950"/>
                </a:lnTo>
                <a:lnTo>
                  <a:pt x="2653408" y="6838950"/>
                </a:lnTo>
                <a:lnTo>
                  <a:pt x="2636156" y="6832602"/>
                </a:lnTo>
                <a:cubicBezTo>
                  <a:pt x="2367267" y="6722954"/>
                  <a:pt x="2115234" y="6554946"/>
                  <a:pt x="1897998" y="6328576"/>
                </a:cubicBezTo>
                <a:lnTo>
                  <a:pt x="631959" y="5009306"/>
                </a:lnTo>
                <a:cubicBezTo>
                  <a:pt x="-210652" y="4131267"/>
                  <a:pt x="-210652" y="2707683"/>
                  <a:pt x="631959" y="1829643"/>
                </a:cubicBezTo>
                <a:lnTo>
                  <a:pt x="1897994" y="510378"/>
                </a:lnTo>
                <a:cubicBezTo>
                  <a:pt x="2108647" y="290868"/>
                  <a:pt x="2352021" y="126236"/>
                  <a:pt x="2611755" y="16481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 footer">
  <p:cSld name="Title Slide_2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275" y="4670400"/>
            <a:ext cx="1606651" cy="37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4"/>
          <p:cNvSpPr txBox="1">
            <a:spLocks noGrp="1"/>
          </p:cNvSpPr>
          <p:nvPr>
            <p:ph type="subTitle" idx="1"/>
          </p:nvPr>
        </p:nvSpPr>
        <p:spPr>
          <a:xfrm>
            <a:off x="1428187" y="349931"/>
            <a:ext cx="5353500" cy="39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>
            <a:spLocks noGrp="1"/>
          </p:cNvSpPr>
          <p:nvPr>
            <p:ph type="ctrTitle"/>
          </p:nvPr>
        </p:nvSpPr>
        <p:spPr>
          <a:xfrm>
            <a:off x="2414499" y="1281325"/>
            <a:ext cx="5979487" cy="1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2700">
                <a:solidFill>
                  <a:srgbClr val="0FB1ED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Software Design &amp; System Design</a:t>
            </a:r>
            <a:endParaRPr sz="1700" b="0" i="0" u="none" strike="noStrike" cap="none">
              <a:solidFill>
                <a:srgbClr val="0FB1E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46" name="Google Shape;46;p15"/>
          <p:cNvCxnSpPr/>
          <p:nvPr/>
        </p:nvCxnSpPr>
        <p:spPr>
          <a:xfrm>
            <a:off x="2414500" y="1625975"/>
            <a:ext cx="0" cy="1919700"/>
          </a:xfrm>
          <a:prstGeom prst="straightConnector1">
            <a:avLst/>
          </a:prstGeom>
          <a:noFill/>
          <a:ln w="19050" cap="flat" cmpd="sng">
            <a:solidFill>
              <a:srgbClr val="004366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7" name="Google Shape;4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6200" y="1792175"/>
            <a:ext cx="1378801" cy="155915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5"/>
          <p:cNvSpPr txBox="1"/>
          <p:nvPr/>
        </p:nvSpPr>
        <p:spPr>
          <a:xfrm>
            <a:off x="2437295" y="2571750"/>
            <a:ext cx="5634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DDD</a:t>
            </a:r>
            <a:endParaRPr sz="1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" name="Google Shape;49;p15"/>
          <p:cNvSpPr txBox="1"/>
          <p:nvPr/>
        </p:nvSpPr>
        <p:spPr>
          <a:xfrm>
            <a:off x="886200" y="4319700"/>
            <a:ext cx="21558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Otávio Santana, Founder</a:t>
            </a: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otavio@os.expert</a:t>
            </a: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0" name="Google Shape;50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4325" y="4628400"/>
            <a:ext cx="130350" cy="13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/>
        </p:nvSpPr>
        <p:spPr>
          <a:xfrm>
            <a:off x="410715" y="277856"/>
            <a:ext cx="45828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>
                <a:solidFill>
                  <a:srgbClr val="061B2C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  <a:endParaRPr sz="2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" name="Google Shape;56;p16"/>
          <p:cNvSpPr txBox="1"/>
          <p:nvPr/>
        </p:nvSpPr>
        <p:spPr>
          <a:xfrm>
            <a:off x="431263" y="628738"/>
            <a:ext cx="35103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b="1">
                <a:solidFill>
                  <a:srgbClr val="0FB1ED"/>
                </a:solidFill>
                <a:latin typeface="Montserrat"/>
                <a:ea typeface="Montserrat"/>
                <a:cs typeface="Montserrat"/>
                <a:sym typeface="Montserrat"/>
              </a:rPr>
              <a:t>Topics on this class</a:t>
            </a:r>
            <a:endParaRPr sz="1500" b="1" i="0" u="none" strike="noStrike" cap="none">
              <a:solidFill>
                <a:srgbClr val="0FB1E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6"/>
          <p:cNvSpPr txBox="1"/>
          <p:nvPr/>
        </p:nvSpPr>
        <p:spPr>
          <a:xfrm>
            <a:off x="322380" y="1182600"/>
            <a:ext cx="4417500" cy="27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457200" lvl="0" indent="-330200" algn="l" rtl="0">
              <a:spcBef>
                <a:spcPts val="70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600" dirty="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Bounded Context</a:t>
            </a:r>
            <a:endParaRPr sz="1600" dirty="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600" dirty="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Context Mapping</a:t>
            </a:r>
            <a:endParaRPr sz="1600" dirty="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600" dirty="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Ubiquitous Language</a:t>
            </a:r>
            <a:endParaRPr sz="1600" dirty="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600" dirty="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Patterns of integrations</a:t>
            </a:r>
            <a:endParaRPr sz="1600" dirty="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600" dirty="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Patterns</a:t>
            </a:r>
            <a:endParaRPr sz="1600" dirty="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600" dirty="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Overview</a:t>
            </a:r>
            <a:endParaRPr sz="1600" dirty="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600" dirty="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Entity</a:t>
            </a:r>
            <a:endParaRPr sz="1600" dirty="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600" dirty="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Aggregator</a:t>
            </a:r>
            <a:endParaRPr sz="1600" dirty="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600" dirty="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Repository</a:t>
            </a:r>
            <a:endParaRPr sz="1600" dirty="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600" dirty="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Coupling/Decoupling</a:t>
            </a:r>
            <a:endParaRPr sz="1600" dirty="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600" dirty="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Refactoring</a:t>
            </a:r>
            <a:endParaRPr sz="1600" dirty="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/>
        </p:nvSpPr>
        <p:spPr>
          <a:xfrm>
            <a:off x="239730" y="315027"/>
            <a:ext cx="45828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2100" b="1">
                <a:solidFill>
                  <a:srgbClr val="061B2C"/>
                </a:solidFill>
                <a:latin typeface="Montserrat"/>
                <a:ea typeface="Montserrat"/>
                <a:cs typeface="Montserrat"/>
                <a:sym typeface="Montserrat"/>
              </a:rPr>
              <a:t>Domain Driven Design</a:t>
            </a:r>
            <a:endParaRPr sz="1800" b="1">
              <a:solidFill>
                <a:srgbClr val="061B2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" name="Google Shape;63;p17"/>
          <p:cNvSpPr txBox="1"/>
          <p:nvPr/>
        </p:nvSpPr>
        <p:spPr>
          <a:xfrm>
            <a:off x="260274" y="665909"/>
            <a:ext cx="41442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b="1">
                <a:solidFill>
                  <a:srgbClr val="0FB1ED"/>
                </a:solidFill>
                <a:latin typeface="Montserrat"/>
                <a:ea typeface="Montserrat"/>
                <a:cs typeface="Montserrat"/>
                <a:sym typeface="Montserrat"/>
              </a:rPr>
              <a:t>Designing software to meet business goals with less rework</a:t>
            </a:r>
            <a:endParaRPr sz="1500" b="1" i="0" u="none" strike="noStrike" cap="none">
              <a:solidFill>
                <a:srgbClr val="0FB1E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4930" y="152400"/>
            <a:ext cx="3687089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7" descr="generate a logo about Domain Driven design and how it will get code close to the goal"/>
          <p:cNvPicPr preferRelativeResize="0"/>
          <p:nvPr/>
        </p:nvPicPr>
        <p:blipFill rotWithShape="1">
          <a:blip r:embed="rId4">
            <a:alphaModFix/>
          </a:blip>
          <a:srcRect t="20217"/>
          <a:stretch/>
        </p:blipFill>
        <p:spPr>
          <a:xfrm>
            <a:off x="239730" y="1286432"/>
            <a:ext cx="4115850" cy="328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225" y="1086275"/>
            <a:ext cx="6964875" cy="28313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8"/>
          <p:cNvSpPr txBox="1"/>
          <p:nvPr/>
        </p:nvSpPr>
        <p:spPr>
          <a:xfrm>
            <a:off x="259373" y="102361"/>
            <a:ext cx="60630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>
                <a:solidFill>
                  <a:srgbClr val="061B2C"/>
                </a:solidFill>
                <a:latin typeface="Poppins"/>
                <a:ea typeface="Poppins"/>
                <a:cs typeface="Poppins"/>
                <a:sym typeface="Poppins"/>
              </a:rPr>
              <a:t>DDD?</a:t>
            </a:r>
            <a:endParaRPr sz="1800" b="1" i="0" u="none" strike="noStrike" cap="none">
              <a:solidFill>
                <a:srgbClr val="061B2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" name="Google Shape;72;p18"/>
          <p:cNvSpPr/>
          <p:nvPr/>
        </p:nvSpPr>
        <p:spPr>
          <a:xfrm>
            <a:off x="228550" y="448575"/>
            <a:ext cx="5410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FB1ED"/>
                </a:solidFill>
                <a:latin typeface="Montserrat"/>
                <a:ea typeface="Montserrat"/>
                <a:cs typeface="Montserrat"/>
                <a:sym typeface="Montserrat"/>
              </a:rPr>
              <a:t>The biggest misunderstanding in the software industry!</a:t>
            </a:r>
            <a:endParaRPr sz="1400" b="1" i="0" u="none" strike="noStrike" cap="none" dirty="0">
              <a:solidFill>
                <a:srgbClr val="0FB1E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8"/>
          <p:cNvSpPr txBox="1"/>
          <p:nvPr/>
        </p:nvSpPr>
        <p:spPr>
          <a:xfrm>
            <a:off x="151650" y="2134075"/>
            <a:ext cx="2344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 Medium"/>
                <a:ea typeface="Poppins Medium"/>
                <a:cs typeface="Poppins Medium"/>
                <a:sym typeface="Poppins Medium"/>
              </a:rPr>
              <a:t>It is a framework!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4" name="Google Shape;74;p18"/>
          <p:cNvSpPr txBox="1"/>
          <p:nvPr/>
        </p:nvSpPr>
        <p:spPr>
          <a:xfrm>
            <a:off x="3336513" y="2134075"/>
            <a:ext cx="1788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 Medium"/>
                <a:ea typeface="Poppins Medium"/>
                <a:cs typeface="Poppins Medium"/>
                <a:sym typeface="Poppins Medium"/>
              </a:rPr>
              <a:t>Repository, Entity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5" name="Google Shape;75;p18"/>
          <p:cNvSpPr txBox="1"/>
          <p:nvPr/>
        </p:nvSpPr>
        <p:spPr>
          <a:xfrm>
            <a:off x="429800" y="3986175"/>
            <a:ext cx="1619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 Medium"/>
                <a:ea typeface="Poppins Medium"/>
                <a:cs typeface="Poppins Medium"/>
                <a:sym typeface="Poppins Medium"/>
              </a:rPr>
              <a:t>Microservices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6" name="Google Shape;76;p18"/>
          <p:cNvSpPr txBox="1"/>
          <p:nvPr/>
        </p:nvSpPr>
        <p:spPr>
          <a:xfrm>
            <a:off x="3069125" y="4043300"/>
            <a:ext cx="217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Code only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7" name="Google Shape;77;p18"/>
          <p:cNvSpPr txBox="1"/>
          <p:nvPr/>
        </p:nvSpPr>
        <p:spPr>
          <a:xfrm>
            <a:off x="6198700" y="2134075"/>
            <a:ext cx="217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Java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8" name="Google Shape;78;p18"/>
          <p:cNvSpPr txBox="1"/>
          <p:nvPr/>
        </p:nvSpPr>
        <p:spPr>
          <a:xfrm>
            <a:off x="6198700" y="4043300"/>
            <a:ext cx="217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Complex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373" y="1494446"/>
            <a:ext cx="4120625" cy="2407869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9"/>
          <p:cNvSpPr txBox="1"/>
          <p:nvPr/>
        </p:nvSpPr>
        <p:spPr>
          <a:xfrm>
            <a:off x="290196" y="339207"/>
            <a:ext cx="60630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>
                <a:solidFill>
                  <a:srgbClr val="061B2C"/>
                </a:solidFill>
                <a:latin typeface="Poppins"/>
                <a:ea typeface="Poppins"/>
                <a:cs typeface="Poppins"/>
                <a:sym typeface="Poppins"/>
              </a:rPr>
              <a:t>DDD!</a:t>
            </a:r>
            <a:endParaRPr sz="1800" b="1" i="0" u="none" strike="noStrike" cap="none">
              <a:solidFill>
                <a:srgbClr val="061B2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9"/>
          <p:cNvSpPr/>
          <p:nvPr/>
        </p:nvSpPr>
        <p:spPr>
          <a:xfrm>
            <a:off x="259373" y="685421"/>
            <a:ext cx="5410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FB1ED"/>
                </a:solidFill>
                <a:latin typeface="Montserrat"/>
                <a:ea typeface="Montserrat"/>
                <a:cs typeface="Montserrat"/>
                <a:sym typeface="Montserrat"/>
              </a:rPr>
              <a:t>Handling and focus to the Business</a:t>
            </a:r>
            <a:endParaRPr sz="1400" b="1" i="0" u="none" strike="noStrike" cap="none">
              <a:solidFill>
                <a:srgbClr val="0FB1E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1205010" y="1793646"/>
            <a:ext cx="2344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 Medium"/>
                <a:ea typeface="Poppins Medium"/>
                <a:cs typeface="Poppins Medium"/>
                <a:sym typeface="Poppins Medium"/>
              </a:rPr>
              <a:t>Domains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689110" y="1873171"/>
            <a:ext cx="1788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 Medium"/>
                <a:ea typeface="Poppins Medium"/>
                <a:cs typeface="Poppins Medium"/>
                <a:sym typeface="Poppins Medium"/>
              </a:rPr>
              <a:t>Transfer Knowledge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1354910" y="3289196"/>
            <a:ext cx="1619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 Medium"/>
                <a:ea typeface="Poppins Medium"/>
                <a:cs typeface="Poppins Medium"/>
                <a:sym typeface="Poppins Medium"/>
              </a:rPr>
              <a:t>Tactics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9" name="Google Shape;89;p19"/>
          <p:cNvSpPr txBox="1"/>
          <p:nvPr/>
        </p:nvSpPr>
        <p:spPr>
          <a:xfrm>
            <a:off x="4689110" y="3289196"/>
            <a:ext cx="217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Strategy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3600" y="1117671"/>
            <a:ext cx="4796400" cy="2802754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0"/>
          <p:cNvSpPr txBox="1"/>
          <p:nvPr/>
        </p:nvSpPr>
        <p:spPr>
          <a:xfrm>
            <a:off x="259373" y="102361"/>
            <a:ext cx="60630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>
                <a:solidFill>
                  <a:srgbClr val="061B2C"/>
                </a:solidFill>
                <a:latin typeface="Poppins"/>
                <a:ea typeface="Poppins"/>
                <a:cs typeface="Poppins"/>
                <a:sym typeface="Poppins"/>
              </a:rPr>
              <a:t>Strategic DDD</a:t>
            </a:r>
            <a:endParaRPr sz="1800" b="1" i="0" u="none" strike="noStrike" cap="none">
              <a:solidFill>
                <a:srgbClr val="061B2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p20"/>
          <p:cNvSpPr/>
          <p:nvPr/>
        </p:nvSpPr>
        <p:spPr>
          <a:xfrm>
            <a:off x="228550" y="448575"/>
            <a:ext cx="5410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FB1ED"/>
                </a:solidFill>
                <a:latin typeface="Montserrat"/>
                <a:ea typeface="Montserrat"/>
                <a:cs typeface="Montserrat"/>
                <a:sym typeface="Montserrat"/>
              </a:rPr>
              <a:t>The biggest mistake when implementing DDD</a:t>
            </a:r>
            <a:endParaRPr sz="1400" b="1" i="0" u="none" strike="noStrike" cap="none">
              <a:solidFill>
                <a:srgbClr val="0FB1E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" name="Google Shape;97;p20"/>
          <p:cNvSpPr txBox="1"/>
          <p:nvPr/>
        </p:nvSpPr>
        <p:spPr>
          <a:xfrm>
            <a:off x="2089400" y="1476100"/>
            <a:ext cx="2344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 Medium"/>
                <a:ea typeface="Poppins Medium"/>
                <a:cs typeface="Poppins Medium"/>
                <a:sym typeface="Poppins Medium"/>
              </a:rPr>
              <a:t>Domains and Subdomains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8" name="Google Shape;98;p20"/>
          <p:cNvSpPr txBox="1"/>
          <p:nvPr/>
        </p:nvSpPr>
        <p:spPr>
          <a:xfrm>
            <a:off x="2089400" y="3134725"/>
            <a:ext cx="1915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Ubiquitous language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9" name="Google Shape;99;p20"/>
          <p:cNvSpPr txBox="1"/>
          <p:nvPr/>
        </p:nvSpPr>
        <p:spPr>
          <a:xfrm>
            <a:off x="5924750" y="1476100"/>
            <a:ext cx="1619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 Medium"/>
                <a:ea typeface="Poppins Medium"/>
                <a:cs typeface="Poppins Medium"/>
                <a:sym typeface="Poppins Medium"/>
              </a:rPr>
              <a:t>Context Mapping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00" name="Google Shape;100;p20"/>
          <p:cNvSpPr txBox="1"/>
          <p:nvPr/>
        </p:nvSpPr>
        <p:spPr>
          <a:xfrm>
            <a:off x="5924750" y="3269700"/>
            <a:ext cx="1953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Bounded Contexts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/>
        </p:nvSpPr>
        <p:spPr>
          <a:xfrm>
            <a:off x="336215" y="280780"/>
            <a:ext cx="60630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dirty="0">
                <a:solidFill>
                  <a:srgbClr val="061B2C"/>
                </a:solidFill>
                <a:latin typeface="Poppins"/>
                <a:ea typeface="Poppins"/>
                <a:cs typeface="Poppins"/>
                <a:sym typeface="Poppins"/>
              </a:rPr>
              <a:t>Domains</a:t>
            </a:r>
            <a:endParaRPr sz="1800" b="1" i="0" u="none" strike="noStrike" cap="none" dirty="0">
              <a:solidFill>
                <a:srgbClr val="061B2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" name="Google Shape;106;p21"/>
          <p:cNvSpPr/>
          <p:nvPr/>
        </p:nvSpPr>
        <p:spPr>
          <a:xfrm>
            <a:off x="305392" y="626994"/>
            <a:ext cx="5410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FB1ED"/>
                </a:solidFill>
                <a:latin typeface="Montserrat"/>
                <a:ea typeface="Montserrat"/>
                <a:cs typeface="Montserrat"/>
                <a:sym typeface="Montserrat"/>
              </a:rPr>
              <a:t>Central area of a company’s operations</a:t>
            </a:r>
            <a:endParaRPr sz="1400" b="1" i="0" u="none" strike="noStrike" cap="none" dirty="0">
              <a:solidFill>
                <a:srgbClr val="0FB1E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07" name="Google Shape;107;p21"/>
          <p:cNvGraphicFramePr/>
          <p:nvPr>
            <p:extLst>
              <p:ext uri="{D42A27DB-BD31-4B8C-83A1-F6EECF244321}">
                <p14:modId xmlns:p14="http://schemas.microsoft.com/office/powerpoint/2010/main" val="2056498450"/>
              </p:ext>
            </p:extLst>
          </p:nvPr>
        </p:nvGraphicFramePr>
        <p:xfrm>
          <a:off x="336215" y="1179902"/>
          <a:ext cx="7389900" cy="3250200"/>
        </p:xfrm>
        <a:graphic>
          <a:graphicData uri="http://schemas.openxmlformats.org/drawingml/2006/table">
            <a:tbl>
              <a:tblPr>
                <a:noFill/>
                <a:tableStyleId>{0E5FAD95-80CF-4179-AC4D-0EE27A1DD8AF}</a:tableStyleId>
              </a:tblPr>
              <a:tblGrid>
                <a:gridCol w="1646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7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4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81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43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" sz="1050" b="1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Subdomain Type</a:t>
                      </a:r>
                      <a:endParaRPr sz="1050" b="1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43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" sz="1050" b="1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Role</a:t>
                      </a:r>
                      <a:endParaRPr sz="1050" b="1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43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" sz="1050" b="1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Business Differentiation</a:t>
                      </a:r>
                      <a:endParaRPr sz="1050" b="1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43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" sz="1050" b="1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Complexity of Business Logic</a:t>
                      </a:r>
                      <a:endParaRPr sz="1050" b="1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2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43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" sz="850" b="1">
                          <a:solidFill>
                            <a:srgbClr val="373D4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Core Subdomain</a:t>
                      </a:r>
                      <a:endParaRPr sz="850" b="1">
                        <a:solidFill>
                          <a:srgbClr val="373D4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43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" sz="850">
                          <a:solidFill>
                            <a:srgbClr val="373D4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Unique to the company, defining its identity and competitive advantage</a:t>
                      </a:r>
                      <a:endParaRPr sz="850">
                        <a:solidFill>
                          <a:srgbClr val="373D4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43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" sz="850">
                          <a:solidFill>
                            <a:srgbClr val="373D4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High</a:t>
                      </a:r>
                      <a:endParaRPr sz="850">
                        <a:solidFill>
                          <a:srgbClr val="373D4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43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" sz="850">
                          <a:solidFill>
                            <a:srgbClr val="373D4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High</a:t>
                      </a:r>
                      <a:endParaRPr sz="850">
                        <a:solidFill>
                          <a:srgbClr val="373D4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2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43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" sz="850" b="1">
                          <a:solidFill>
                            <a:srgbClr val="373D4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Generic Subdomain</a:t>
                      </a:r>
                      <a:endParaRPr sz="850" b="1">
                        <a:solidFill>
                          <a:srgbClr val="373D4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43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" sz="850">
                          <a:solidFill>
                            <a:srgbClr val="373D4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Common across all companies, standard business activities</a:t>
                      </a:r>
                      <a:endParaRPr sz="850">
                        <a:solidFill>
                          <a:srgbClr val="373D4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43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" sz="850">
                          <a:solidFill>
                            <a:srgbClr val="373D4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Low</a:t>
                      </a:r>
                      <a:endParaRPr sz="850">
                        <a:solidFill>
                          <a:srgbClr val="373D4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43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" sz="850">
                          <a:solidFill>
                            <a:srgbClr val="373D4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High</a:t>
                      </a:r>
                      <a:endParaRPr sz="850">
                        <a:solidFill>
                          <a:srgbClr val="373D4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75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43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" sz="850" b="1">
                          <a:solidFill>
                            <a:srgbClr val="373D4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Supporting Subdomain</a:t>
                      </a:r>
                      <a:endParaRPr sz="850" b="1">
                        <a:solidFill>
                          <a:srgbClr val="373D4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43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" sz="850">
                          <a:solidFill>
                            <a:srgbClr val="373D4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Supports core business activities without providing direct competitive advantage</a:t>
                      </a:r>
                      <a:endParaRPr sz="850">
                        <a:solidFill>
                          <a:srgbClr val="373D4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43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" sz="850">
                          <a:solidFill>
                            <a:srgbClr val="373D4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Medium</a:t>
                      </a:r>
                      <a:endParaRPr sz="850">
                        <a:solidFill>
                          <a:srgbClr val="373D4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43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" sz="850" dirty="0">
                          <a:solidFill>
                            <a:srgbClr val="373D4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Varies</a:t>
                      </a:r>
                      <a:endParaRPr sz="850" dirty="0">
                        <a:solidFill>
                          <a:srgbClr val="373D4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/>
        </p:nvSpPr>
        <p:spPr>
          <a:xfrm>
            <a:off x="333715" y="251044"/>
            <a:ext cx="60630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>
                <a:solidFill>
                  <a:srgbClr val="061B2C"/>
                </a:solidFill>
                <a:latin typeface="Poppins"/>
                <a:ea typeface="Poppins"/>
                <a:cs typeface="Poppins"/>
                <a:sym typeface="Poppins"/>
              </a:rPr>
              <a:t>Domains</a:t>
            </a:r>
            <a:endParaRPr sz="1800" b="1" i="0" u="none" strike="noStrike" cap="none">
              <a:solidFill>
                <a:srgbClr val="061B2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" name="Google Shape;113;p22"/>
          <p:cNvSpPr/>
          <p:nvPr/>
        </p:nvSpPr>
        <p:spPr>
          <a:xfrm>
            <a:off x="302892" y="597258"/>
            <a:ext cx="5410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FB1ED"/>
                </a:solidFill>
                <a:latin typeface="Montserrat"/>
                <a:ea typeface="Montserrat"/>
                <a:cs typeface="Montserrat"/>
                <a:sym typeface="Montserrat"/>
              </a:rPr>
              <a:t>The subdomains types</a:t>
            </a:r>
            <a:endParaRPr sz="1400" b="1" i="0" u="none" strike="noStrike" cap="none">
              <a:solidFill>
                <a:srgbClr val="0FB1E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4" name="Google Shape;11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238" y="1166525"/>
            <a:ext cx="5087124" cy="361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3" descr="Ajax Boost Vinegar Lavender Cleaner 1L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2000" y="1071788"/>
            <a:ext cx="3000000" cy="30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3"/>
          <p:cNvSpPr txBox="1"/>
          <p:nvPr/>
        </p:nvSpPr>
        <p:spPr>
          <a:xfrm>
            <a:off x="405473" y="373094"/>
            <a:ext cx="60630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>
                <a:solidFill>
                  <a:srgbClr val="061B2C"/>
                </a:solidFill>
                <a:latin typeface="Poppins"/>
                <a:ea typeface="Poppins"/>
                <a:cs typeface="Poppins"/>
                <a:sym typeface="Poppins"/>
              </a:rPr>
              <a:t>Ubiquitous Language</a:t>
            </a:r>
            <a:endParaRPr sz="1800" b="1" i="0" u="none" strike="noStrike" cap="none">
              <a:solidFill>
                <a:srgbClr val="061B2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" name="Google Shape;121;p23"/>
          <p:cNvSpPr/>
          <p:nvPr/>
        </p:nvSpPr>
        <p:spPr>
          <a:xfrm>
            <a:off x="374650" y="719308"/>
            <a:ext cx="5410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FB1ED"/>
                </a:solidFill>
                <a:latin typeface="Montserrat"/>
                <a:ea typeface="Montserrat"/>
                <a:cs typeface="Montserrat"/>
                <a:sym typeface="Montserrat"/>
              </a:rPr>
              <a:t>The core's communication</a:t>
            </a:r>
            <a:endParaRPr sz="1400" b="1" i="0" u="none" strike="noStrike" cap="none">
              <a:solidFill>
                <a:srgbClr val="0FB1E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p23"/>
          <p:cNvSpPr txBox="1"/>
          <p:nvPr/>
        </p:nvSpPr>
        <p:spPr>
          <a:xfrm>
            <a:off x="1398938" y="1581288"/>
            <a:ext cx="1986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Poppins Medium"/>
                <a:ea typeface="Poppins Medium"/>
                <a:cs typeface="Poppins Medium"/>
                <a:sym typeface="Poppins Medium"/>
              </a:rPr>
              <a:t>Define common terminology</a:t>
            </a:r>
            <a:endParaRPr sz="1300"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23" name="Google Shape;123;p23"/>
          <p:cNvSpPr txBox="1"/>
          <p:nvPr/>
        </p:nvSpPr>
        <p:spPr>
          <a:xfrm>
            <a:off x="5512275" y="1581288"/>
            <a:ext cx="28200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Poppins Medium"/>
                <a:ea typeface="Poppins Medium"/>
                <a:cs typeface="Poppins Medium"/>
                <a:sym typeface="Poppins Medium"/>
              </a:rPr>
              <a:t>The common language between experts and the engineering team.</a:t>
            </a:r>
            <a:endParaRPr sz="1300"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24" name="Google Shape;124;p23"/>
          <p:cNvSpPr txBox="1"/>
          <p:nvPr/>
        </p:nvSpPr>
        <p:spPr>
          <a:xfrm>
            <a:off x="1398950" y="2419638"/>
            <a:ext cx="21873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Poppins Medium"/>
                <a:ea typeface="Poppins Medium"/>
                <a:cs typeface="Poppins Medium"/>
                <a:sym typeface="Poppins Medium"/>
              </a:rPr>
              <a:t>The same word can vary from context</a:t>
            </a:r>
            <a:endParaRPr sz="1300"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25" name="Google Shape;125;p23" descr="AFC Ajax - Wikipedia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5150" y="3281064"/>
            <a:ext cx="1374950" cy="1385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3" descr="Ajax Development - BSIT Best Web And App Development Company in India.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82050" y="3155549"/>
            <a:ext cx="1620400" cy="1539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7625" y="1017000"/>
            <a:ext cx="6188651" cy="367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4"/>
          <p:cNvSpPr txBox="1"/>
          <p:nvPr/>
        </p:nvSpPr>
        <p:spPr>
          <a:xfrm>
            <a:off x="378320" y="286554"/>
            <a:ext cx="25002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rgbClr val="061B2C"/>
                </a:solidFill>
                <a:latin typeface="Poppins"/>
                <a:ea typeface="Poppins"/>
                <a:cs typeface="Poppins"/>
                <a:sym typeface="Poppins"/>
              </a:rPr>
              <a:t>Bounded Contexts</a:t>
            </a:r>
            <a:endParaRPr sz="1800" b="1" dirty="0">
              <a:solidFill>
                <a:srgbClr val="061B2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3" name="Google Shape;133;p24"/>
          <p:cNvSpPr/>
          <p:nvPr/>
        </p:nvSpPr>
        <p:spPr>
          <a:xfrm>
            <a:off x="347496" y="632779"/>
            <a:ext cx="3474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FB1ED"/>
                </a:solidFill>
                <a:latin typeface="Montserrat"/>
                <a:ea typeface="Montserrat"/>
                <a:cs typeface="Montserrat"/>
                <a:sym typeface="Montserrat"/>
              </a:rPr>
              <a:t>Subset of the ubiquitous language</a:t>
            </a:r>
            <a:endParaRPr sz="1400" b="1" i="0" u="none" strike="noStrike" cap="none" dirty="0">
              <a:solidFill>
                <a:srgbClr val="0FB1E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4" name="Google Shape;13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15024" y="1410580"/>
            <a:ext cx="5451351" cy="3054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249" y="1140875"/>
            <a:ext cx="7723501" cy="289714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5"/>
          <p:cNvSpPr txBox="1"/>
          <p:nvPr/>
        </p:nvSpPr>
        <p:spPr>
          <a:xfrm>
            <a:off x="326280" y="199299"/>
            <a:ext cx="2500200" cy="286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rgbClr val="061B2C"/>
                </a:solidFill>
                <a:latin typeface="Poppins"/>
                <a:ea typeface="Poppins"/>
                <a:cs typeface="Poppins"/>
                <a:sym typeface="Poppins"/>
              </a:rPr>
              <a:t>Context Mapping</a:t>
            </a:r>
            <a:endParaRPr sz="1800" b="1">
              <a:solidFill>
                <a:srgbClr val="061B2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1" name="Google Shape;141;p25"/>
          <p:cNvSpPr/>
          <p:nvPr/>
        </p:nvSpPr>
        <p:spPr>
          <a:xfrm>
            <a:off x="295456" y="542191"/>
            <a:ext cx="4229100" cy="254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FB1ED"/>
                </a:solidFill>
                <a:latin typeface="Montserrat"/>
                <a:ea typeface="Montserrat"/>
                <a:cs typeface="Montserrat"/>
                <a:sym typeface="Montserrat"/>
              </a:rPr>
              <a:t>The relationships between these contexts</a:t>
            </a:r>
            <a:endParaRPr sz="1400" b="1" i="0" u="none" strike="noStrike" cap="none" dirty="0">
              <a:solidFill>
                <a:srgbClr val="0FB1E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25"/>
          <p:cNvSpPr txBox="1"/>
          <p:nvPr/>
        </p:nvSpPr>
        <p:spPr>
          <a:xfrm>
            <a:off x="567599" y="2003725"/>
            <a:ext cx="1489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Poppins Medium"/>
                <a:ea typeface="Poppins Medium"/>
                <a:cs typeface="Poppins Medium"/>
                <a:sym typeface="Poppins Medium"/>
              </a:rPr>
              <a:t>Shared Kernel</a:t>
            </a:r>
            <a:endParaRPr sz="1300"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43" name="Google Shape;143;p25"/>
          <p:cNvSpPr txBox="1"/>
          <p:nvPr/>
        </p:nvSpPr>
        <p:spPr>
          <a:xfrm>
            <a:off x="2713749" y="2003725"/>
            <a:ext cx="1851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Poppins Medium"/>
                <a:ea typeface="Poppins Medium"/>
                <a:cs typeface="Poppins Medium"/>
                <a:sym typeface="Poppins Medium"/>
              </a:rPr>
              <a:t>Customer-Supplier</a:t>
            </a:r>
            <a:endParaRPr sz="1300"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44" name="Google Shape;144;p25"/>
          <p:cNvSpPr txBox="1"/>
          <p:nvPr/>
        </p:nvSpPr>
        <p:spPr>
          <a:xfrm>
            <a:off x="5120049" y="2003725"/>
            <a:ext cx="1235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Poppins Medium"/>
                <a:ea typeface="Poppins Medium"/>
                <a:cs typeface="Poppins Medium"/>
                <a:sym typeface="Poppins Medium"/>
              </a:rPr>
              <a:t>Conformist</a:t>
            </a:r>
            <a:endParaRPr sz="1300"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45" name="Google Shape;145;p25"/>
          <p:cNvSpPr txBox="1"/>
          <p:nvPr/>
        </p:nvSpPr>
        <p:spPr>
          <a:xfrm>
            <a:off x="953974" y="4109925"/>
            <a:ext cx="1895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Poppins Medium"/>
                <a:ea typeface="Poppins Medium"/>
                <a:cs typeface="Poppins Medium"/>
                <a:sym typeface="Poppins Medium"/>
              </a:rPr>
              <a:t>Anticorruption Layer</a:t>
            </a:r>
            <a:endParaRPr sz="1300"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46" name="Google Shape;146;p25"/>
          <p:cNvSpPr txBox="1"/>
          <p:nvPr/>
        </p:nvSpPr>
        <p:spPr>
          <a:xfrm>
            <a:off x="3744899" y="4109925"/>
            <a:ext cx="1809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Poppins Medium"/>
                <a:ea typeface="Poppins Medium"/>
                <a:cs typeface="Poppins Medium"/>
                <a:sym typeface="Poppins Medium"/>
              </a:rPr>
              <a:t>Published Language</a:t>
            </a:r>
            <a:endParaRPr sz="1300"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47" name="Google Shape;147;p25"/>
          <p:cNvSpPr txBox="1"/>
          <p:nvPr/>
        </p:nvSpPr>
        <p:spPr>
          <a:xfrm>
            <a:off x="6652824" y="4109925"/>
            <a:ext cx="1545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Poppins Medium"/>
                <a:ea typeface="Poppins Medium"/>
                <a:cs typeface="Poppins Medium"/>
                <a:sym typeface="Poppins Medium"/>
              </a:rPr>
              <a:t>Separate Ways</a:t>
            </a:r>
            <a:endParaRPr sz="1300"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48" name="Google Shape;148;p25"/>
          <p:cNvSpPr txBox="1"/>
          <p:nvPr/>
        </p:nvSpPr>
        <p:spPr>
          <a:xfrm>
            <a:off x="7191749" y="2058425"/>
            <a:ext cx="1895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Poppins Medium"/>
                <a:ea typeface="Poppins Medium"/>
                <a:cs typeface="Poppins Medium"/>
                <a:sym typeface="Poppins Medium"/>
              </a:rPr>
              <a:t>Open Host Service</a:t>
            </a:r>
            <a:endParaRPr sz="1300"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/>
        </p:nvSpPr>
        <p:spPr>
          <a:xfrm>
            <a:off x="408071" y="347677"/>
            <a:ext cx="25002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rgbClr val="061B2C"/>
                </a:solidFill>
                <a:latin typeface="Poppins"/>
                <a:ea typeface="Poppins"/>
                <a:cs typeface="Poppins"/>
                <a:sym typeface="Poppins"/>
              </a:rPr>
              <a:t>Domain Storytelling</a:t>
            </a:r>
            <a:endParaRPr sz="1800" b="1">
              <a:solidFill>
                <a:srgbClr val="061B2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4" name="Google Shape;154;p26"/>
          <p:cNvSpPr/>
          <p:nvPr/>
        </p:nvSpPr>
        <p:spPr>
          <a:xfrm>
            <a:off x="377247" y="693902"/>
            <a:ext cx="4749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FB1ED"/>
                </a:solidFill>
                <a:latin typeface="Montserrat"/>
                <a:ea typeface="Montserrat"/>
                <a:cs typeface="Montserrat"/>
                <a:sym typeface="Montserrat"/>
              </a:rPr>
              <a:t>A Collaborative, and Visual Way to Build DDD</a:t>
            </a:r>
            <a:endParaRPr sz="1400" b="1" i="0" u="none" strike="noStrike" cap="none" dirty="0">
              <a:solidFill>
                <a:srgbClr val="0FB1E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5" name="Google Shape;155;p26" descr="What is Domain Storytelling | What Is Domain Storytelling? | InformI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350" y="1558169"/>
            <a:ext cx="4198300" cy="297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7147" y="1694987"/>
            <a:ext cx="3567959" cy="21396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/>
          <p:nvPr/>
        </p:nvSpPr>
        <p:spPr>
          <a:xfrm>
            <a:off x="259373" y="102361"/>
            <a:ext cx="60630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>
                <a:solidFill>
                  <a:srgbClr val="061B2C"/>
                </a:solidFill>
                <a:latin typeface="Poppins"/>
                <a:ea typeface="Poppins"/>
                <a:cs typeface="Poppins"/>
                <a:sym typeface="Poppins"/>
              </a:rPr>
              <a:t>Tactic DDD</a:t>
            </a:r>
            <a:endParaRPr sz="1800" b="1" i="0" u="none" strike="noStrike" cap="none">
              <a:solidFill>
                <a:srgbClr val="061B2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2" name="Google Shape;162;p27"/>
          <p:cNvSpPr/>
          <p:nvPr/>
        </p:nvSpPr>
        <p:spPr>
          <a:xfrm>
            <a:off x="228550" y="448575"/>
            <a:ext cx="5410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FB1ED"/>
                </a:solidFill>
                <a:latin typeface="Montserrat"/>
                <a:ea typeface="Montserrat"/>
                <a:cs typeface="Montserrat"/>
                <a:sym typeface="Montserrat"/>
              </a:rPr>
              <a:t>The second step</a:t>
            </a:r>
            <a:endParaRPr sz="1400" b="1" i="0" u="none" strike="noStrike" cap="none">
              <a:solidFill>
                <a:srgbClr val="0FB1E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27"/>
          <p:cNvSpPr txBox="1"/>
          <p:nvPr/>
        </p:nvSpPr>
        <p:spPr>
          <a:xfrm>
            <a:off x="342900" y="2405300"/>
            <a:ext cx="1619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 Medium"/>
                <a:ea typeface="Poppins Medium"/>
                <a:cs typeface="Poppins Medium"/>
                <a:sym typeface="Poppins Medium"/>
              </a:rPr>
              <a:t>Entity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64" name="Google Shape;164;p27"/>
          <p:cNvSpPr txBox="1"/>
          <p:nvPr/>
        </p:nvSpPr>
        <p:spPr>
          <a:xfrm>
            <a:off x="2333125" y="2405300"/>
            <a:ext cx="1915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Service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65" name="Google Shape;165;p27"/>
          <p:cNvSpPr txBox="1"/>
          <p:nvPr/>
        </p:nvSpPr>
        <p:spPr>
          <a:xfrm>
            <a:off x="4619450" y="2405300"/>
            <a:ext cx="1619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 Medium"/>
                <a:ea typeface="Poppins Medium"/>
                <a:cs typeface="Poppins Medium"/>
                <a:sym typeface="Poppins Medium"/>
              </a:rPr>
              <a:t>Repository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66" name="Google Shape;166;p27"/>
          <p:cNvSpPr txBox="1"/>
          <p:nvPr/>
        </p:nvSpPr>
        <p:spPr>
          <a:xfrm>
            <a:off x="6556775" y="2405300"/>
            <a:ext cx="1953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Aggregates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67" name="Google Shape;16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750" y="1259850"/>
            <a:ext cx="7282975" cy="889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7"/>
          <p:cNvSpPr txBox="1"/>
          <p:nvPr/>
        </p:nvSpPr>
        <p:spPr>
          <a:xfrm>
            <a:off x="1325175" y="4065075"/>
            <a:ext cx="1953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Value Object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69" name="Google Shape;169;p27"/>
          <p:cNvSpPr txBox="1"/>
          <p:nvPr/>
        </p:nvSpPr>
        <p:spPr>
          <a:xfrm>
            <a:off x="3595350" y="4065075"/>
            <a:ext cx="1953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Factories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70" name="Google Shape;170;p27"/>
          <p:cNvSpPr txBox="1"/>
          <p:nvPr/>
        </p:nvSpPr>
        <p:spPr>
          <a:xfrm>
            <a:off x="5789325" y="4065075"/>
            <a:ext cx="1953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Events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71" name="Google Shape;17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65963" y="3137375"/>
            <a:ext cx="871733" cy="8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23337" y="3121138"/>
            <a:ext cx="897325" cy="922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29637" y="3137375"/>
            <a:ext cx="897325" cy="9158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8"/>
          <p:cNvSpPr txBox="1"/>
          <p:nvPr/>
        </p:nvSpPr>
        <p:spPr>
          <a:xfrm>
            <a:off x="422074" y="375204"/>
            <a:ext cx="39123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Strategic and Tactical</a:t>
            </a:r>
            <a:endParaRPr sz="18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9" name="Google Shape;179;p28"/>
          <p:cNvSpPr txBox="1"/>
          <p:nvPr/>
        </p:nvSpPr>
        <p:spPr>
          <a:xfrm>
            <a:off x="454412" y="721396"/>
            <a:ext cx="4705200" cy="2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0FB1ED"/>
                </a:solidFill>
                <a:latin typeface="Montserrat"/>
                <a:ea typeface="Montserrat"/>
                <a:cs typeface="Montserrat"/>
                <a:sym typeface="Montserrat"/>
              </a:rPr>
              <a:t>Focus on tactics is the start of a huge mistake</a:t>
            </a:r>
            <a:endParaRPr b="1">
              <a:solidFill>
                <a:srgbClr val="0FB1E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28"/>
          <p:cNvSpPr txBox="1"/>
          <p:nvPr/>
        </p:nvSpPr>
        <p:spPr>
          <a:xfrm>
            <a:off x="648231" y="2003601"/>
            <a:ext cx="2313900" cy="13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 i="0" u="none" strike="noStrik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Get something done </a:t>
            </a:r>
            <a:endParaRPr sz="17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 i="0" u="none" strike="noStrik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Working code isn't enough</a:t>
            </a:r>
            <a:endParaRPr sz="17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 i="0" u="none" strike="noStrik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Tactical tornado</a:t>
            </a:r>
            <a:endParaRPr sz="17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81" name="Google Shape;181;p28"/>
          <p:cNvGrpSpPr/>
          <p:nvPr/>
        </p:nvGrpSpPr>
        <p:grpSpPr>
          <a:xfrm>
            <a:off x="3666083" y="1598197"/>
            <a:ext cx="4454667" cy="2526950"/>
            <a:chOff x="5588501" y="2525100"/>
            <a:chExt cx="5939556" cy="3369267"/>
          </a:xfrm>
        </p:grpSpPr>
        <p:cxnSp>
          <p:nvCxnSpPr>
            <p:cNvPr id="182" name="Google Shape;182;p28"/>
            <p:cNvCxnSpPr/>
            <p:nvPr/>
          </p:nvCxnSpPr>
          <p:spPr>
            <a:xfrm rot="10800000">
              <a:off x="6738257" y="2525100"/>
              <a:ext cx="0" cy="2961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83" name="Google Shape;183;p28"/>
            <p:cNvCxnSpPr/>
            <p:nvPr/>
          </p:nvCxnSpPr>
          <p:spPr>
            <a:xfrm>
              <a:off x="6738257" y="5486400"/>
              <a:ext cx="47898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84" name="Google Shape;184;p28"/>
            <p:cNvSpPr/>
            <p:nvPr/>
          </p:nvSpPr>
          <p:spPr>
            <a:xfrm>
              <a:off x="6770914" y="2743200"/>
              <a:ext cx="2808515" cy="2721429"/>
            </a:xfrm>
            <a:custGeom>
              <a:avLst/>
              <a:gdLst/>
              <a:ahLst/>
              <a:cxnLst/>
              <a:rect l="l" t="t" r="r" b="b"/>
              <a:pathLst>
                <a:path w="2808515" h="2721429" extrusionOk="0">
                  <a:moveTo>
                    <a:pt x="0" y="2721429"/>
                  </a:moveTo>
                  <a:cubicBezTo>
                    <a:pt x="609600" y="1973943"/>
                    <a:pt x="1219200" y="1226457"/>
                    <a:pt x="1687286" y="772886"/>
                  </a:cubicBezTo>
                  <a:cubicBezTo>
                    <a:pt x="2155372" y="319315"/>
                    <a:pt x="2481943" y="159657"/>
                    <a:pt x="2808515" y="0"/>
                  </a:cubicBezTo>
                </a:path>
              </a:pathLst>
            </a:custGeom>
            <a:noFill/>
            <a:ln w="1270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28"/>
            <p:cNvSpPr/>
            <p:nvPr/>
          </p:nvSpPr>
          <p:spPr>
            <a:xfrm>
              <a:off x="6770914" y="3265715"/>
              <a:ext cx="3048000" cy="2209800"/>
            </a:xfrm>
            <a:custGeom>
              <a:avLst/>
              <a:gdLst/>
              <a:ahLst/>
              <a:cxnLst/>
              <a:rect l="l" t="t" r="r" b="b"/>
              <a:pathLst>
                <a:path w="3048000" h="2209800" extrusionOk="0">
                  <a:moveTo>
                    <a:pt x="0" y="2209800"/>
                  </a:moveTo>
                  <a:cubicBezTo>
                    <a:pt x="132443" y="1789792"/>
                    <a:pt x="264886" y="1369785"/>
                    <a:pt x="772886" y="1001485"/>
                  </a:cubicBezTo>
                  <a:cubicBezTo>
                    <a:pt x="1280886" y="633185"/>
                    <a:pt x="2164443" y="316592"/>
                    <a:pt x="3048000" y="0"/>
                  </a:cubicBezTo>
                </a:path>
              </a:pathLst>
            </a:custGeom>
            <a:noFill/>
            <a:ln w="9525" cap="flat" cmpd="sng">
              <a:solidFill>
                <a:srgbClr val="C0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28"/>
            <p:cNvSpPr txBox="1"/>
            <p:nvPr/>
          </p:nvSpPr>
          <p:spPr>
            <a:xfrm>
              <a:off x="7885766" y="2728906"/>
              <a:ext cx="15894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chemeClr val="accent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Strategic</a:t>
              </a:r>
              <a:endParaRPr sz="1100"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187" name="Google Shape;187;p28"/>
            <p:cNvSpPr txBox="1"/>
            <p:nvPr/>
          </p:nvSpPr>
          <p:spPr>
            <a:xfrm>
              <a:off x="9235595" y="3436087"/>
              <a:ext cx="15894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C00000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Tactical</a:t>
              </a:r>
              <a:endParaRPr sz="1100"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188" name="Google Shape;188;p28"/>
            <p:cNvSpPr txBox="1"/>
            <p:nvPr/>
          </p:nvSpPr>
          <p:spPr>
            <a:xfrm>
              <a:off x="8229600" y="5514867"/>
              <a:ext cx="15894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Time </a:t>
              </a:r>
              <a:endParaRPr sz="1100"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189" name="Google Shape;189;p28"/>
            <p:cNvSpPr txBox="1"/>
            <p:nvPr/>
          </p:nvSpPr>
          <p:spPr>
            <a:xfrm>
              <a:off x="5588501" y="3421447"/>
              <a:ext cx="12762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dirty="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Total progress </a:t>
              </a:r>
              <a:endParaRPr sz="1100" dirty="0"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9"/>
          <p:cNvSpPr/>
          <p:nvPr/>
        </p:nvSpPr>
        <p:spPr>
          <a:xfrm>
            <a:off x="8790708" y="145472"/>
            <a:ext cx="197400" cy="1974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9"/>
          <p:cNvSpPr txBox="1"/>
          <p:nvPr/>
        </p:nvSpPr>
        <p:spPr>
          <a:xfrm>
            <a:off x="392575" y="234623"/>
            <a:ext cx="25056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061B2C"/>
                </a:solidFill>
                <a:latin typeface="Poppins"/>
                <a:ea typeface="Poppins"/>
                <a:cs typeface="Poppins"/>
                <a:sym typeface="Poppins"/>
              </a:rPr>
              <a:t>Using Annotations</a:t>
            </a:r>
            <a:endParaRPr sz="1100" b="1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7" name="Google Shape;197;p29"/>
          <p:cNvSpPr txBox="1"/>
          <p:nvPr/>
        </p:nvSpPr>
        <p:spPr>
          <a:xfrm>
            <a:off x="388475" y="580823"/>
            <a:ext cx="53703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FB1ED"/>
                </a:solidFill>
                <a:latin typeface="Montserrat"/>
                <a:ea typeface="Montserrat"/>
                <a:cs typeface="Montserrat"/>
                <a:sym typeface="Montserrat"/>
              </a:rPr>
              <a:t>Getting architecture evidences</a:t>
            </a:r>
            <a:endParaRPr sz="1800" b="1" dirty="0">
              <a:solidFill>
                <a:srgbClr val="0FB1E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29"/>
          <p:cNvSpPr txBox="1"/>
          <p:nvPr/>
        </p:nvSpPr>
        <p:spPr>
          <a:xfrm>
            <a:off x="388475" y="1378945"/>
            <a:ext cx="3764400" cy="29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@</a:t>
            </a:r>
            <a:r>
              <a:rPr lang="en" sz="15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Entity</a:t>
            </a:r>
            <a:endParaRPr sz="15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public class</a:t>
            </a:r>
            <a:r>
              <a:rPr lang="en" sz="1500" dirty="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CreditCard</a:t>
            </a:r>
            <a:r>
              <a:rPr lang="en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5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@</a:t>
            </a:r>
            <a:r>
              <a:rPr lang="en" sz="15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Identity</a:t>
            </a:r>
            <a:endParaRPr sz="15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private</a:t>
            </a:r>
            <a:r>
              <a:rPr lang="en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BigInteger id;</a:t>
            </a:r>
            <a:endParaRPr sz="15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private</a:t>
            </a:r>
            <a:r>
              <a:rPr lang="en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String number;</a:t>
            </a:r>
            <a:endParaRPr sz="15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private</a:t>
            </a:r>
            <a:r>
              <a:rPr lang="en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String name;</a:t>
            </a:r>
            <a:endParaRPr sz="15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private</a:t>
            </a:r>
            <a:r>
              <a:rPr lang="en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YearMonth expiry;</a:t>
            </a:r>
            <a:endParaRPr sz="15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5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/>
          <p:nvPr/>
        </p:nvSpPr>
        <p:spPr>
          <a:xfrm>
            <a:off x="8790708" y="145472"/>
            <a:ext cx="197400" cy="1974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30"/>
          <p:cNvSpPr txBox="1"/>
          <p:nvPr/>
        </p:nvSpPr>
        <p:spPr>
          <a:xfrm>
            <a:off x="342900" y="353574"/>
            <a:ext cx="17304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61B2C"/>
                </a:solidFill>
                <a:latin typeface="Poppins"/>
                <a:ea typeface="Poppins"/>
                <a:cs typeface="Poppins"/>
                <a:sym typeface="Poppins"/>
              </a:rPr>
              <a:t>Governance</a:t>
            </a:r>
            <a:endParaRPr sz="11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6" name="Google Shape;206;p30"/>
          <p:cNvSpPr txBox="1"/>
          <p:nvPr/>
        </p:nvSpPr>
        <p:spPr>
          <a:xfrm>
            <a:off x="342900" y="699774"/>
            <a:ext cx="53703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FB1ED"/>
                </a:solidFill>
                <a:latin typeface="Montserrat"/>
                <a:ea typeface="Montserrat"/>
                <a:cs typeface="Montserrat"/>
                <a:sym typeface="Montserrat"/>
              </a:rPr>
              <a:t>Automating processes and good practice rules</a:t>
            </a:r>
            <a:endParaRPr sz="1800" b="1" dirty="0">
              <a:solidFill>
                <a:srgbClr val="0FB1E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p30"/>
          <p:cNvSpPr txBox="1"/>
          <p:nvPr/>
        </p:nvSpPr>
        <p:spPr>
          <a:xfrm>
            <a:off x="342900" y="1502288"/>
            <a:ext cx="8742300" cy="27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@</a:t>
            </a:r>
            <a:r>
              <a:rPr lang="en" sz="15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AnalyzeClasses</a:t>
            </a:r>
            <a:r>
              <a:rPr lang="en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1500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packages</a:t>
            </a:r>
            <a:r>
              <a:rPr lang="en" sz="15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=</a:t>
            </a:r>
            <a:r>
              <a:rPr lang="en" sz="150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 "expert.os.examples"</a:t>
            </a:r>
            <a:r>
              <a:rPr lang="en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5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public class</a:t>
            </a:r>
            <a:r>
              <a:rPr lang="en" sz="1500" dirty="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IntegrationSampleTest</a:t>
            </a:r>
            <a:r>
              <a:rPr lang="en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5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@</a:t>
            </a:r>
            <a:r>
              <a:rPr lang="en" sz="15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ArchTest</a:t>
            </a:r>
            <a:endParaRPr sz="15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private</a:t>
            </a:r>
            <a:r>
              <a:rPr lang="en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ArchRule dddRules </a:t>
            </a:r>
            <a:r>
              <a:rPr lang="en" sz="15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JMoleculesDddRules.</a:t>
            </a:r>
            <a:r>
              <a:rPr lang="en" sz="1500" dirty="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all</a:t>
            </a:r>
            <a:r>
              <a:rPr lang="en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15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@</a:t>
            </a:r>
            <a:r>
              <a:rPr lang="en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ArchTest</a:t>
            </a:r>
            <a:endParaRPr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private</a:t>
            </a:r>
            <a:r>
              <a:rPr lang="en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ArchRule layering </a:t>
            </a:r>
            <a:r>
              <a:rPr lang="en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JMoleculesArchitectureRules.</a:t>
            </a:r>
            <a:r>
              <a:rPr lang="en" dirty="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ensureLayering</a:t>
            </a:r>
            <a:r>
              <a:rPr lang="en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5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1"/>
          <p:cNvSpPr txBox="1"/>
          <p:nvPr/>
        </p:nvSpPr>
        <p:spPr>
          <a:xfrm>
            <a:off x="259373" y="102361"/>
            <a:ext cx="60630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>
                <a:solidFill>
                  <a:srgbClr val="061B2C"/>
                </a:solidFill>
                <a:latin typeface="Poppins"/>
                <a:ea typeface="Poppins"/>
                <a:cs typeface="Poppins"/>
                <a:sym typeface="Poppins"/>
              </a:rPr>
              <a:t>Architecture DDD</a:t>
            </a:r>
            <a:endParaRPr sz="1800" b="1" i="0" u="none" strike="noStrike" cap="none">
              <a:solidFill>
                <a:srgbClr val="061B2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3" name="Google Shape;213;p31"/>
          <p:cNvSpPr/>
          <p:nvPr/>
        </p:nvSpPr>
        <p:spPr>
          <a:xfrm>
            <a:off x="228550" y="448575"/>
            <a:ext cx="5410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FB1ED"/>
                </a:solidFill>
                <a:latin typeface="Montserrat"/>
                <a:ea typeface="Montserrat"/>
                <a:cs typeface="Montserrat"/>
                <a:sym typeface="Montserrat"/>
              </a:rPr>
              <a:t>Using Layers to abstraction</a:t>
            </a:r>
            <a:endParaRPr sz="1400" b="1" i="0" u="none" strike="noStrike" cap="none">
              <a:solidFill>
                <a:srgbClr val="0FB1E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4" name="Google Shape;21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2050" y="1088875"/>
            <a:ext cx="4699351" cy="35723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1"/>
          <p:cNvSpPr txBox="1"/>
          <p:nvPr/>
        </p:nvSpPr>
        <p:spPr>
          <a:xfrm>
            <a:off x="3361725" y="11272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Presentation Layer</a:t>
            </a:r>
            <a:endParaRPr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6" name="Google Shape;216;p31"/>
          <p:cNvSpPr txBox="1"/>
          <p:nvPr/>
        </p:nvSpPr>
        <p:spPr>
          <a:xfrm>
            <a:off x="3361725" y="24929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Application Layer</a:t>
            </a:r>
            <a:endParaRPr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7" name="Google Shape;217;p31"/>
          <p:cNvSpPr txBox="1"/>
          <p:nvPr/>
        </p:nvSpPr>
        <p:spPr>
          <a:xfrm>
            <a:off x="3361725" y="40897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Infrastructure Layer</a:t>
            </a:r>
            <a:endParaRPr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8" name="Google Shape;218;p31"/>
          <p:cNvSpPr txBox="1"/>
          <p:nvPr/>
        </p:nvSpPr>
        <p:spPr>
          <a:xfrm>
            <a:off x="4197100" y="3322100"/>
            <a:ext cx="1538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Domain Layer</a:t>
            </a:r>
            <a:endParaRPr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2"/>
          <p:cNvSpPr/>
          <p:nvPr/>
        </p:nvSpPr>
        <p:spPr>
          <a:xfrm>
            <a:off x="8790708" y="145472"/>
            <a:ext cx="197400" cy="1974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2"/>
          <p:cNvSpPr txBox="1"/>
          <p:nvPr/>
        </p:nvSpPr>
        <p:spPr>
          <a:xfrm>
            <a:off x="266700" y="71075"/>
            <a:ext cx="32325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61B2C"/>
                </a:solidFill>
                <a:latin typeface="Poppins"/>
                <a:ea typeface="Poppins"/>
                <a:cs typeface="Poppins"/>
                <a:sym typeface="Poppins"/>
              </a:rPr>
              <a:t>Clean Architecture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6" name="Google Shape;226;p32"/>
          <p:cNvSpPr txBox="1"/>
          <p:nvPr/>
        </p:nvSpPr>
        <p:spPr>
          <a:xfrm>
            <a:off x="266700" y="417275"/>
            <a:ext cx="60987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FB1ED"/>
                </a:solidFill>
                <a:latin typeface="Poppins"/>
                <a:ea typeface="Poppins"/>
                <a:cs typeface="Poppins"/>
                <a:sym typeface="Poppins"/>
              </a:rPr>
              <a:t>How to Combine it with DDD?</a:t>
            </a:r>
            <a:endParaRPr b="1">
              <a:solidFill>
                <a:srgbClr val="0FB1E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7" name="Google Shape;22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6350" y="828276"/>
            <a:ext cx="6361326" cy="375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3"/>
          <p:cNvSpPr/>
          <p:nvPr/>
        </p:nvSpPr>
        <p:spPr>
          <a:xfrm>
            <a:off x="8790708" y="145472"/>
            <a:ext cx="197400" cy="1974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3"/>
          <p:cNvSpPr txBox="1"/>
          <p:nvPr/>
        </p:nvSpPr>
        <p:spPr>
          <a:xfrm>
            <a:off x="266700" y="71075"/>
            <a:ext cx="32325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61B2C"/>
                </a:solidFill>
                <a:latin typeface="Poppins"/>
                <a:ea typeface="Poppins"/>
                <a:cs typeface="Poppins"/>
                <a:sym typeface="Poppins"/>
              </a:rPr>
              <a:t>The Architecture styles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5" name="Google Shape;235;p33"/>
          <p:cNvSpPr txBox="1"/>
          <p:nvPr/>
        </p:nvSpPr>
        <p:spPr>
          <a:xfrm>
            <a:off x="266700" y="417275"/>
            <a:ext cx="60987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FB1ED"/>
                </a:solidFill>
                <a:latin typeface="Poppins"/>
                <a:ea typeface="Poppins"/>
                <a:cs typeface="Poppins"/>
                <a:sym typeface="Poppins"/>
              </a:rPr>
              <a:t>There is a world beyond microservices and Hexagon model</a:t>
            </a:r>
            <a:endParaRPr b="1">
              <a:solidFill>
                <a:srgbClr val="0FB1E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6" name="Google Shape;23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780" y="878577"/>
            <a:ext cx="7844626" cy="367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4094" y="900877"/>
            <a:ext cx="1098575" cy="118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60743" y="970265"/>
            <a:ext cx="979975" cy="109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8417" y="914118"/>
            <a:ext cx="1399450" cy="78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33988" y="892487"/>
            <a:ext cx="1657646" cy="78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0625" y="3206100"/>
            <a:ext cx="1399450" cy="71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90276" y="3280023"/>
            <a:ext cx="2132391" cy="71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1138" y="952501"/>
            <a:ext cx="884125" cy="118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11137" y="1285361"/>
            <a:ext cx="884125" cy="605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5475" y="2952275"/>
            <a:ext cx="1399450" cy="86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3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618417" y="3370340"/>
            <a:ext cx="1399450" cy="5322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4"/>
          <p:cNvSpPr/>
          <p:nvPr/>
        </p:nvSpPr>
        <p:spPr>
          <a:xfrm>
            <a:off x="8790708" y="145472"/>
            <a:ext cx="197400" cy="1974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4"/>
          <p:cNvSpPr txBox="1"/>
          <p:nvPr/>
        </p:nvSpPr>
        <p:spPr>
          <a:xfrm>
            <a:off x="266700" y="71075"/>
            <a:ext cx="17361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61B2C"/>
                </a:solidFill>
                <a:latin typeface="Poppins"/>
                <a:ea typeface="Poppins"/>
                <a:cs typeface="Poppins"/>
                <a:sym typeface="Poppins"/>
              </a:rPr>
              <a:t>Refactoring</a:t>
            </a:r>
            <a:endParaRPr sz="11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4" name="Google Shape;254;p34"/>
          <p:cNvSpPr txBox="1"/>
          <p:nvPr/>
        </p:nvSpPr>
        <p:spPr>
          <a:xfrm>
            <a:off x="266700" y="417275"/>
            <a:ext cx="23610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FB1ED"/>
                </a:solidFill>
                <a:latin typeface="Montserrat"/>
                <a:ea typeface="Montserrat"/>
                <a:cs typeface="Montserrat"/>
                <a:sym typeface="Montserrat"/>
              </a:rPr>
              <a:t>Be ready for change</a:t>
            </a:r>
            <a:endParaRPr b="1">
              <a:solidFill>
                <a:srgbClr val="0FB1E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5" name="Google Shape;25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675" y="954825"/>
            <a:ext cx="7716525" cy="289452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4"/>
          <p:cNvSpPr txBox="1"/>
          <p:nvPr/>
        </p:nvSpPr>
        <p:spPr>
          <a:xfrm>
            <a:off x="87150" y="1949650"/>
            <a:ext cx="1495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 Medium"/>
                <a:ea typeface="Poppins Medium"/>
                <a:cs typeface="Poppins Medium"/>
                <a:sym typeface="Poppins Medium"/>
              </a:rPr>
              <a:t>Better Readability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57" name="Google Shape;257;p34"/>
          <p:cNvSpPr txBox="1"/>
          <p:nvPr/>
        </p:nvSpPr>
        <p:spPr>
          <a:xfrm>
            <a:off x="2445750" y="1949638"/>
            <a:ext cx="1495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 Medium"/>
                <a:ea typeface="Poppins Medium"/>
                <a:cs typeface="Poppins Medium"/>
                <a:sym typeface="Poppins Medium"/>
              </a:rPr>
              <a:t>Reduced Complexity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58" name="Google Shape;258;p34"/>
          <p:cNvSpPr txBox="1"/>
          <p:nvPr/>
        </p:nvSpPr>
        <p:spPr>
          <a:xfrm>
            <a:off x="4579650" y="1949650"/>
            <a:ext cx="1594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 Medium"/>
                <a:ea typeface="Poppins Medium"/>
                <a:cs typeface="Poppins Medium"/>
                <a:sym typeface="Poppins Medium"/>
              </a:rPr>
              <a:t>Improved Maintainability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59" name="Google Shape;259;p34"/>
          <p:cNvSpPr txBox="1"/>
          <p:nvPr/>
        </p:nvSpPr>
        <p:spPr>
          <a:xfrm>
            <a:off x="6870575" y="1949650"/>
            <a:ext cx="1736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 Medium"/>
                <a:ea typeface="Poppins Medium"/>
                <a:cs typeface="Poppins Medium"/>
                <a:sym typeface="Poppins Medium"/>
              </a:rPr>
              <a:t>Reduced Technical Debt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60" name="Google Shape;260;p34"/>
          <p:cNvSpPr txBox="1"/>
          <p:nvPr/>
        </p:nvSpPr>
        <p:spPr>
          <a:xfrm>
            <a:off x="1014375" y="3935838"/>
            <a:ext cx="1495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 Medium"/>
                <a:ea typeface="Poppins Medium"/>
                <a:cs typeface="Poppins Medium"/>
                <a:sym typeface="Poppins Medium"/>
              </a:rPr>
              <a:t>Enhance Performance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61" name="Google Shape;261;p34"/>
          <p:cNvSpPr txBox="1"/>
          <p:nvPr/>
        </p:nvSpPr>
        <p:spPr>
          <a:xfrm>
            <a:off x="3597225" y="3935850"/>
            <a:ext cx="1495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 Medium"/>
                <a:ea typeface="Poppins Medium"/>
                <a:cs typeface="Poppins Medium"/>
                <a:sym typeface="Poppins Medium"/>
              </a:rPr>
              <a:t>Effortless Extensibility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62" name="Google Shape;262;p34"/>
          <p:cNvSpPr txBox="1"/>
          <p:nvPr/>
        </p:nvSpPr>
        <p:spPr>
          <a:xfrm>
            <a:off x="6247300" y="3935850"/>
            <a:ext cx="1736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 Medium"/>
                <a:ea typeface="Poppins Medium"/>
                <a:cs typeface="Poppins Medium"/>
                <a:sym typeface="Poppins Medium"/>
              </a:rPr>
              <a:t>Fight against Software Erosion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5"/>
          <p:cNvSpPr/>
          <p:nvPr/>
        </p:nvSpPr>
        <p:spPr>
          <a:xfrm>
            <a:off x="8790708" y="145472"/>
            <a:ext cx="197400" cy="1974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35"/>
          <p:cNvSpPr txBox="1"/>
          <p:nvPr/>
        </p:nvSpPr>
        <p:spPr>
          <a:xfrm>
            <a:off x="266700" y="71075"/>
            <a:ext cx="17361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61B2C"/>
                </a:solidFill>
                <a:latin typeface="Poppins"/>
                <a:ea typeface="Poppins"/>
                <a:cs typeface="Poppins"/>
                <a:sym typeface="Poppins"/>
              </a:rPr>
              <a:t>Refactoring</a:t>
            </a:r>
            <a:endParaRPr sz="11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0" name="Google Shape;270;p35"/>
          <p:cNvSpPr txBox="1"/>
          <p:nvPr/>
        </p:nvSpPr>
        <p:spPr>
          <a:xfrm>
            <a:off x="266700" y="417275"/>
            <a:ext cx="23610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FB1ED"/>
                </a:solidFill>
                <a:latin typeface="Montserrat"/>
                <a:ea typeface="Montserrat"/>
                <a:cs typeface="Montserrat"/>
                <a:sym typeface="Montserrat"/>
              </a:rPr>
              <a:t>Be ready for change</a:t>
            </a:r>
            <a:endParaRPr b="1">
              <a:solidFill>
                <a:srgbClr val="0FB1E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71" name="Google Shape;27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675" y="954825"/>
            <a:ext cx="7716525" cy="289452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5"/>
          <p:cNvSpPr txBox="1"/>
          <p:nvPr/>
        </p:nvSpPr>
        <p:spPr>
          <a:xfrm>
            <a:off x="87150" y="1949650"/>
            <a:ext cx="1495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 Medium"/>
                <a:ea typeface="Poppins Medium"/>
                <a:cs typeface="Poppins Medium"/>
                <a:sym typeface="Poppins Medium"/>
              </a:rPr>
              <a:t>Better Readability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73" name="Google Shape;273;p35"/>
          <p:cNvSpPr txBox="1"/>
          <p:nvPr/>
        </p:nvSpPr>
        <p:spPr>
          <a:xfrm>
            <a:off x="2445750" y="1949638"/>
            <a:ext cx="1495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 Medium"/>
                <a:ea typeface="Poppins Medium"/>
                <a:cs typeface="Poppins Medium"/>
                <a:sym typeface="Poppins Medium"/>
              </a:rPr>
              <a:t>Reduced Complexity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74" name="Google Shape;274;p35"/>
          <p:cNvSpPr txBox="1"/>
          <p:nvPr/>
        </p:nvSpPr>
        <p:spPr>
          <a:xfrm>
            <a:off x="4579650" y="1949650"/>
            <a:ext cx="1594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 Medium"/>
                <a:ea typeface="Poppins Medium"/>
                <a:cs typeface="Poppins Medium"/>
                <a:sym typeface="Poppins Medium"/>
              </a:rPr>
              <a:t>Improved Maintainability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75" name="Google Shape;275;p35"/>
          <p:cNvSpPr txBox="1"/>
          <p:nvPr/>
        </p:nvSpPr>
        <p:spPr>
          <a:xfrm>
            <a:off x="6870575" y="1949650"/>
            <a:ext cx="1736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 Medium"/>
                <a:ea typeface="Poppins Medium"/>
                <a:cs typeface="Poppins Medium"/>
                <a:sym typeface="Poppins Medium"/>
              </a:rPr>
              <a:t>Reduced Technical Debt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76" name="Google Shape;276;p35"/>
          <p:cNvSpPr txBox="1"/>
          <p:nvPr/>
        </p:nvSpPr>
        <p:spPr>
          <a:xfrm>
            <a:off x="1014375" y="3935838"/>
            <a:ext cx="1495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 Medium"/>
                <a:ea typeface="Poppins Medium"/>
                <a:cs typeface="Poppins Medium"/>
                <a:sym typeface="Poppins Medium"/>
              </a:rPr>
              <a:t>Enhance Performance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77" name="Google Shape;277;p35"/>
          <p:cNvSpPr txBox="1"/>
          <p:nvPr/>
        </p:nvSpPr>
        <p:spPr>
          <a:xfrm>
            <a:off x="3597225" y="3935850"/>
            <a:ext cx="1495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 Medium"/>
                <a:ea typeface="Poppins Medium"/>
                <a:cs typeface="Poppins Medium"/>
                <a:sym typeface="Poppins Medium"/>
              </a:rPr>
              <a:t>Effortless Extensibility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78" name="Google Shape;278;p35"/>
          <p:cNvSpPr txBox="1"/>
          <p:nvPr/>
        </p:nvSpPr>
        <p:spPr>
          <a:xfrm>
            <a:off x="6247300" y="3935850"/>
            <a:ext cx="1736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 Medium"/>
                <a:ea typeface="Poppins Medium"/>
                <a:cs typeface="Poppins Medium"/>
                <a:sym typeface="Poppins Medium"/>
              </a:rPr>
              <a:t>Fight against Software Erosion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in">
  <a:themeElements>
    <a:clrScheme name="Custom 106">
      <a:dk1>
        <a:srgbClr val="000000"/>
      </a:dk1>
      <a:lt1>
        <a:srgbClr val="FFFFFF"/>
      </a:lt1>
      <a:dk2>
        <a:srgbClr val="004366"/>
      </a:dk2>
      <a:lt2>
        <a:srgbClr val="D4E3F4"/>
      </a:lt2>
      <a:accent1>
        <a:srgbClr val="3984D0"/>
      </a:accent1>
      <a:accent2>
        <a:srgbClr val="4682B4"/>
      </a:accent2>
      <a:accent3>
        <a:srgbClr val="004366"/>
      </a:accent3>
      <a:accent4>
        <a:srgbClr val="36454F"/>
      </a:accent4>
      <a:accent5>
        <a:srgbClr val="7ACCF1"/>
      </a:accent5>
      <a:accent6>
        <a:srgbClr val="F5F5F5"/>
      </a:accent6>
      <a:hlink>
        <a:srgbClr val="1D5183"/>
      </a:hlink>
      <a:folHlink>
        <a:srgbClr val="4163B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ain">
  <a:themeElements>
    <a:clrScheme name="Custom 106">
      <a:dk1>
        <a:srgbClr val="000000"/>
      </a:dk1>
      <a:lt1>
        <a:srgbClr val="FFFFFF"/>
      </a:lt1>
      <a:dk2>
        <a:srgbClr val="004366"/>
      </a:dk2>
      <a:lt2>
        <a:srgbClr val="D4E3F4"/>
      </a:lt2>
      <a:accent1>
        <a:srgbClr val="3984D0"/>
      </a:accent1>
      <a:accent2>
        <a:srgbClr val="4682B4"/>
      </a:accent2>
      <a:accent3>
        <a:srgbClr val="004366"/>
      </a:accent3>
      <a:accent4>
        <a:srgbClr val="36454F"/>
      </a:accent4>
      <a:accent5>
        <a:srgbClr val="7ACCF1"/>
      </a:accent5>
      <a:accent6>
        <a:srgbClr val="F5F5F5"/>
      </a:accent6>
      <a:hlink>
        <a:srgbClr val="1D5183"/>
      </a:hlink>
      <a:folHlink>
        <a:srgbClr val="4163B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C4BF2EB6E0AA3499D5D22DB6C773100" ma:contentTypeVersion="47" ma:contentTypeDescription="Crie um novo documento." ma:contentTypeScope="" ma:versionID="dffb45610ec274493f1df6af23dbe6ac">
  <xsd:schema xmlns:xsd="http://www.w3.org/2001/XMLSchema" xmlns:xs="http://www.w3.org/2001/XMLSchema" xmlns:p="http://schemas.microsoft.com/office/2006/metadata/properties" xmlns:ns2="2074a592-0284-4838-a99a-676a646e30ba" xmlns:ns3="e20d8d4b-1949-445f-b54d-8717a3d10a21" targetNamespace="http://schemas.microsoft.com/office/2006/metadata/properties" ma:root="true" ma:fieldsID="8dcf4bf69a9820a60792a588e054d98e" ns2:_="" ns3:_="">
    <xsd:import namespace="2074a592-0284-4838-a99a-676a646e30ba"/>
    <xsd:import namespace="e20d8d4b-1949-445f-b54d-8717a3d10a2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Status" minOccurs="0"/>
                <xsd:element ref="ns2:Coordena_x00e7__x00e3_o" minOccurs="0"/>
                <xsd:element ref="ns2:Data_Recebimento" minOccurs="0"/>
                <xsd:element ref="ns2:Data_Rev_Coord" minOccurs="0"/>
                <xsd:element ref="ns2:Obs_x002e_" minOccurs="0"/>
                <xsd:element ref="ns2:Nome_Comercial" minOccurs="0"/>
                <xsd:element ref="ns2:Disciplina" minOccurs="0"/>
                <xsd:element ref="ns3:SharedWithUsers" minOccurs="0"/>
                <xsd:element ref="ns3:SharedWithDetails" minOccurs="0"/>
                <xsd:element ref="ns2:Sequencia" minOccurs="0"/>
                <xsd:element ref="ns2:Data_envio_materiais" minOccurs="0"/>
                <xsd:element ref="ns2:Iniciodadisciplina" minOccurs="0"/>
                <xsd:element ref="ns2:Status_Entrega" minOccurs="0"/>
                <xsd:element ref="ns2:Nome_do_professor" minOccurs="0"/>
                <xsd:element ref="ns2:Datadafinaliza_x00e7__x00e3_o" minOccurs="0"/>
                <xsd:element ref="ns2:MediaServiceLocation" minOccurs="0"/>
                <xsd:element ref="ns2:Emailseler" minOccurs="0"/>
                <xsd:element ref="ns2:Analista" minOccurs="0"/>
                <xsd:element ref="ns2:Analista_respons_x00e1_veel" minOccurs="0"/>
                <xsd:element ref="ns2:Titula_x00e7__x00e3_o" minOccurs="0"/>
                <xsd:element ref="ns2:NOME_SELLER" minOccurs="0"/>
                <xsd:element ref="ns2:Analista_Responsav_x00e9_l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74a592-0284-4838-a99a-676a646e30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771e4ab9-48e6-401e-8cb3-95486c831b1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Status" ma:index="20" nillable="true" ma:displayName="Status" ma:default="Bruto" ma:format="Dropdown" ma:internalName="Status">
      <xsd:simpleType>
        <xsd:union memberTypes="dms:Text">
          <xsd:simpleType>
            <xsd:restriction base="dms:Choice">
              <xsd:enumeration value="Atrasado"/>
              <xsd:enumeration value="Bruto"/>
              <xsd:enumeration value="Ajuste Infoprod"/>
              <xsd:enumeration value="Recebimento Parcial"/>
              <xsd:enumeration value="Não obrigatório"/>
              <xsd:enumeration value="Desconsiderar"/>
              <xsd:enumeration value="Liberado para disponibilização"/>
              <xsd:enumeration value="Revisão de questão"/>
              <xsd:enumeration value="Embed"/>
              <xsd:enumeration value="Disponibilizado"/>
              <xsd:enumeration value="BQ enviado para cadastro"/>
              <xsd:enumeration value="BQ Cadastrado"/>
              <xsd:enumeration value="Turma concluída"/>
              <xsd:enumeration value="Excluir do Cosmos"/>
              <xsd:enumeration value="Podcast | Em produção"/>
              <xsd:enumeration value="Formulário preenchido - banner"/>
              <xsd:enumeration value="Documentação conferida"/>
              <xsd:enumeration value="Documentação pendente"/>
              <xsd:enumeration value="Documentação"/>
              <xsd:enumeration value="Aguardando validação acadêmica"/>
              <xsd:enumeration value="Titulação divergente"/>
              <xsd:enumeration value="Lançamento suspenso"/>
              <xsd:enumeration value="Descontinuado"/>
              <xsd:enumeration value="Disciplina Cogna"/>
              <xsd:enumeration value="Disponibilizado Cogna"/>
              <xsd:enumeration value="Curso lançado"/>
              <xsd:enumeration value="Lançamento em breve"/>
              <xsd:enumeration value="Reaproveitar conteúdo"/>
              <xsd:enumeration value="NÃO reaproveitar da turma anterior"/>
            </xsd:restriction>
          </xsd:simpleType>
        </xsd:union>
      </xsd:simpleType>
    </xsd:element>
    <xsd:element name="Coordena_x00e7__x00e3_o" ma:index="21" nillable="true" ma:displayName="Coordenação" ma:format="Dropdown" ma:list="UserInfo" ma:SharePointGroup="0" ma:internalName="Coordena_x00e7__x00e3_o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ata_Recebimento" ma:index="22" nillable="true" ma:displayName="Data_Recebimento_Material" ma:format="DateOnly" ma:internalName="Data_Recebimento">
      <xsd:simpleType>
        <xsd:restriction base="dms:DateTime"/>
      </xsd:simpleType>
    </xsd:element>
    <xsd:element name="Data_Rev_Coord" ma:index="23" nillable="true" ma:displayName="Data_Rev_Coord" ma:format="DateOnly" ma:internalName="Data_Rev_Coord">
      <xsd:simpleType>
        <xsd:restriction base="dms:DateTime"/>
      </xsd:simpleType>
    </xsd:element>
    <xsd:element name="Obs_x002e_" ma:index="24" nillable="true" ma:displayName="Obs." ma:format="Dropdown" ma:internalName="Obs_x002e_">
      <xsd:simpleType>
        <xsd:restriction base="dms:Note">
          <xsd:maxLength value="255"/>
        </xsd:restriction>
      </xsd:simpleType>
    </xsd:element>
    <xsd:element name="Nome_Comercial" ma:index="25" nillable="true" ma:displayName="Nome_Comercial" ma:format="Dropdown" ma:internalName="Nome_Comercial">
      <xsd:simpleType>
        <xsd:restriction base="dms:Note">
          <xsd:maxLength value="255"/>
        </xsd:restriction>
      </xsd:simpleType>
    </xsd:element>
    <xsd:element name="Disciplina" ma:index="26" nillable="true" ma:displayName="Disciplina" ma:format="Dropdown" ma:internalName="Disciplina">
      <xsd:simpleType>
        <xsd:restriction base="dms:Note">
          <xsd:maxLength value="255"/>
        </xsd:restriction>
      </xsd:simpleType>
    </xsd:element>
    <xsd:element name="Sequencia" ma:index="29" nillable="true" ma:displayName="Sequencia" ma:format="Dropdown" ma:internalName="Sequencia" ma:percentage="FALSE">
      <xsd:simpleType>
        <xsd:restriction base="dms:Number"/>
      </xsd:simpleType>
    </xsd:element>
    <xsd:element name="Data_envio_materiais" ma:index="30" nillable="true" ma:displayName="Data_Envio_materiais" ma:format="DateOnly" ma:internalName="Data_envio_materiais">
      <xsd:simpleType>
        <xsd:restriction base="dms:DateTime"/>
      </xsd:simpleType>
    </xsd:element>
    <xsd:element name="Iniciodadisciplina" ma:index="31" nillable="true" ma:displayName="Inicio da disciplina" ma:format="DateOnly" ma:indexed="true" ma:internalName="Iniciodadisciplina">
      <xsd:simpleType>
        <xsd:restriction base="dms:DateTime"/>
      </xsd:simpleType>
    </xsd:element>
    <xsd:element name="Status_Entrega" ma:index="32" nillable="true" ma:displayName="Status_Entrega" ma:format="Dropdown" ma:internalName="Status_Entrega">
      <xsd:simpleType>
        <xsd:restriction base="dms:Choice">
          <xsd:enumeration value="Atrasado"/>
        </xsd:restriction>
      </xsd:simpleType>
    </xsd:element>
    <xsd:element name="Nome_do_professor" ma:index="34" nillable="true" ma:displayName="Nome_do_professor" ma:format="Dropdown" ma:internalName="Nome_do_professor">
      <xsd:simpleType>
        <xsd:restriction base="dms:Text">
          <xsd:maxLength value="255"/>
        </xsd:restriction>
      </xsd:simpleType>
    </xsd:element>
    <xsd:element name="Datadafinaliza_x00e7__x00e3_o" ma:index="35" nillable="true" ma:displayName="Data_finalizacao_disciplina" ma:format="DateOnly" ma:internalName="Datadafinaliza_x00e7__x00e3_o">
      <xsd:simpleType>
        <xsd:restriction base="dms:DateTime"/>
      </xsd:simpleType>
    </xsd:element>
    <xsd:element name="MediaServiceLocation" ma:index="36" nillable="true" ma:displayName="Location" ma:indexed="true" ma:internalName="MediaServiceLocation" ma:readOnly="true">
      <xsd:simpleType>
        <xsd:restriction base="dms:Text"/>
      </xsd:simpleType>
    </xsd:element>
    <xsd:element name="Emailseler" ma:index="37" nillable="true" ma:displayName="Email_seller" ma:format="Dropdown" ma:internalName="Emailseler">
      <xsd:simpleType>
        <xsd:restriction base="dms:Text">
          <xsd:maxLength value="255"/>
        </xsd:restriction>
      </xsd:simpleType>
    </xsd:element>
    <xsd:element name="Analista" ma:index="38" nillable="true" ma:displayName="Analista" ma:format="Dropdown" ma:internalName="Analista">
      <xsd:simpleType>
        <xsd:restriction base="dms:Text">
          <xsd:maxLength value="255"/>
        </xsd:restriction>
      </xsd:simpleType>
    </xsd:element>
    <xsd:element name="Analista_respons_x00e1_veel" ma:index="39" nillable="true" ma:displayName="Email_Analista_responsáveel" ma:format="Dropdown" ma:internalName="Analista_respons_x00e1_veel">
      <xsd:simpleType>
        <xsd:restriction base="dms:Text">
          <xsd:maxLength value="255"/>
        </xsd:restriction>
      </xsd:simpleType>
    </xsd:element>
    <xsd:element name="Titula_x00e7__x00e3_o" ma:index="40" nillable="true" ma:displayName="Titulação" ma:format="Dropdown" ma:internalName="Titula_x00e7__x00e3_o">
      <xsd:simpleType>
        <xsd:restriction base="dms:Choice">
          <xsd:enumeration value="Especialista"/>
          <xsd:enumeration value="Mestre"/>
          <xsd:enumeration value="Doutor(a)"/>
        </xsd:restriction>
      </xsd:simpleType>
    </xsd:element>
    <xsd:element name="NOME_SELLER" ma:index="41" nillable="true" ma:displayName="Nome_Seller" ma:format="Dropdown" ma:internalName="NOME_SELLER">
      <xsd:simpleType>
        <xsd:restriction base="dms:Text">
          <xsd:maxLength value="255"/>
        </xsd:restriction>
      </xsd:simpleType>
    </xsd:element>
    <xsd:element name="Analista_Responsav_x00e9_l" ma:index="42" nillable="true" ma:displayName="Nome_Analista_Responsavél" ma:format="Dropdown" ma:internalName="Analista_Responsav_x00e9_l">
      <xsd:simpleType>
        <xsd:restriction base="dms:Choice">
          <xsd:enumeration value="Diana"/>
          <xsd:enumeration value="Joyce"/>
          <xsd:enumeration value="Lucas"/>
        </xsd:restriction>
      </xsd:simpleType>
    </xsd:element>
    <xsd:element name="MediaServiceBillingMetadata" ma:index="4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0d8d4b-1949-445f-b54d-8717a3d10a2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d15443eb-cbbb-44e0-b5db-83270feeb83d}" ma:internalName="TaxCatchAll" ma:showField="CatchAllData" ma:web="e20d8d4b-1949-445f-b54d-8717a3d10a2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7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8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Obs_x002e_ xmlns="2074a592-0284-4838-a99a-676a646e30ba" xsi:nil="true"/>
    <Sequencia xmlns="2074a592-0284-4838-a99a-676a646e30ba" xsi:nil="true"/>
    <Iniciodadisciplina xmlns="2074a592-0284-4838-a99a-676a646e30ba" xsi:nil="true"/>
    <Titula_x00e7__x00e3_o xmlns="2074a592-0284-4838-a99a-676a646e30ba" xsi:nil="true"/>
    <Data_Rev_Coord xmlns="2074a592-0284-4838-a99a-676a646e30ba" xsi:nil="true"/>
    <Nome_do_professor xmlns="2074a592-0284-4838-a99a-676a646e30ba" xsi:nil="true"/>
    <Analista xmlns="2074a592-0284-4838-a99a-676a646e30ba" xsi:nil="true"/>
    <Coordena_x00e7__x00e3_o xmlns="2074a592-0284-4838-a99a-676a646e30ba">
      <UserInfo>
        <DisplayName/>
        <AccountId xsi:nil="true"/>
        <AccountType/>
      </UserInfo>
    </Coordena_x00e7__x00e3_o>
    <Data_envio_materiais xmlns="2074a592-0284-4838-a99a-676a646e30ba" xsi:nil="true"/>
    <Datadafinaliza_x00e7__x00e3_o xmlns="2074a592-0284-4838-a99a-676a646e30ba" xsi:nil="true"/>
    <NOME_SELLER xmlns="2074a592-0284-4838-a99a-676a646e30ba" xsi:nil="true"/>
    <Analista_respons_x00e1_veel xmlns="2074a592-0284-4838-a99a-676a646e30ba" xsi:nil="true"/>
    <Nome_Comercial xmlns="2074a592-0284-4838-a99a-676a646e30ba" xsi:nil="true"/>
    <Disciplina xmlns="2074a592-0284-4838-a99a-676a646e30ba" xsi:nil="true"/>
    <Emailseler xmlns="2074a592-0284-4838-a99a-676a646e30ba" xsi:nil="true"/>
    <Status xmlns="2074a592-0284-4838-a99a-676a646e30ba">Disponibilizado</Status>
    <TaxCatchAll xmlns="e20d8d4b-1949-445f-b54d-8717a3d10a21" xsi:nil="true"/>
    <Analista_Responsav_x00e9_l xmlns="2074a592-0284-4838-a99a-676a646e30ba" xsi:nil="true"/>
    <lcf76f155ced4ddcb4097134ff3c332f xmlns="2074a592-0284-4838-a99a-676a646e30ba">
      <Terms xmlns="http://schemas.microsoft.com/office/infopath/2007/PartnerControls"/>
    </lcf76f155ced4ddcb4097134ff3c332f>
    <Data_Recebimento xmlns="2074a592-0284-4838-a99a-676a646e30ba" xsi:nil="true"/>
    <Status_Entrega xmlns="2074a592-0284-4838-a99a-676a646e30ba" xsi:nil="true"/>
  </documentManagement>
</p:properties>
</file>

<file path=customXml/itemProps1.xml><?xml version="1.0" encoding="utf-8"?>
<ds:datastoreItem xmlns:ds="http://schemas.openxmlformats.org/officeDocument/2006/customXml" ds:itemID="{AC95DAB7-2171-4F11-BF58-031886AFD5F5}"/>
</file>

<file path=customXml/itemProps2.xml><?xml version="1.0" encoding="utf-8"?>
<ds:datastoreItem xmlns:ds="http://schemas.openxmlformats.org/officeDocument/2006/customXml" ds:itemID="{F422B3BB-2058-454C-A8FC-6F6B84DAA4C9}"/>
</file>

<file path=customXml/itemProps3.xml><?xml version="1.0" encoding="utf-8"?>
<ds:datastoreItem xmlns:ds="http://schemas.openxmlformats.org/officeDocument/2006/customXml" ds:itemID="{A5B4BE9C-E71E-46C8-93C1-04FA0E2536B1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571</Words>
  <Application>Microsoft Office PowerPoint</Application>
  <PresentationFormat>Apresentação na tela (16:9)</PresentationFormat>
  <Paragraphs>171</Paragraphs>
  <Slides>21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21</vt:i4>
      </vt:variant>
    </vt:vector>
  </HeadingPairs>
  <TitlesOfParts>
    <vt:vector size="33" baseType="lpstr">
      <vt:lpstr>Arial</vt:lpstr>
      <vt:lpstr>Roboto Mono</vt:lpstr>
      <vt:lpstr>Poppins Medium</vt:lpstr>
      <vt:lpstr>League Spartan Medium</vt:lpstr>
      <vt:lpstr>Montserrat</vt:lpstr>
      <vt:lpstr>League Spartan Light</vt:lpstr>
      <vt:lpstr>Calibri</vt:lpstr>
      <vt:lpstr>Poppins</vt:lpstr>
      <vt:lpstr>Poppins SemiBold</vt:lpstr>
      <vt:lpstr>League Spartan</vt:lpstr>
      <vt:lpstr>Main</vt:lpstr>
      <vt:lpstr>Main</vt:lpstr>
      <vt:lpstr>Software Design &amp; System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Priscila Da Silva</dc:creator>
  <cp:lastModifiedBy>PRISCILA FERNANDA DA SILVA TADS028</cp:lastModifiedBy>
  <cp:revision>1</cp:revision>
  <dcterms:modified xsi:type="dcterms:W3CDTF">2025-07-11T14:54:14Z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0x0101003C4BF2EB6E0AA3499D5D22DB6C773100</vt:lpwstr>
  </property>
  <property fmtid="{D5CDD505-2E9C-101B-9397-08002B2CF9AE}" pid="3" name="MediaServiceImageTags">
    <vt:lpwstr/>
  </property>
</Properties>
</file>