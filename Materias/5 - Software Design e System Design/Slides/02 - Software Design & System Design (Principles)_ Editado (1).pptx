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7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  <p:sldMasterId id="2147483661" r:id="rId5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tavio Santana" initials="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C"/>
    <a:srgbClr val="EEEEEE"/>
    <a:srgbClr val="2C2E3A"/>
    <a:srgbClr val="F7F2E8"/>
    <a:srgbClr val="F9F7F2"/>
    <a:srgbClr val="D2D2FF"/>
    <a:srgbClr val="161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38B3A-C795-47D9-9BB3-B656612CBEF6}">
  <a:tblStyle styleId="{69238B3A-C795-47D9-9BB3-B656612CBE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2" y="72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1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Kelle Rodrigues Barbosa" userId="S::joyce.barbosa@kroton.com.br::8c08e31e-b3ba-42b8-b150-8158ecd9d93c" providerId="AD" clId="Web-{C4CDD45B-DEF3-3584-4824-D87E1DCAC3B3}"/>
    <pc:docChg chg="mod modMainMaster">
      <pc:chgData name="Joyce Kelle Rodrigues Barbosa" userId="S::joyce.barbosa@kroton.com.br::8c08e31e-b3ba-42b8-b150-8158ecd9d93c" providerId="AD" clId="Web-{C4CDD45B-DEF3-3584-4824-D87E1DCAC3B3}" dt="2025-08-18T13:32:01.600" v="1" actId="33475"/>
      <pc:docMkLst>
        <pc:docMk/>
      </pc:docMkLst>
      <pc:sldMasterChg chg="addSp">
        <pc:chgData name="Joyce Kelle Rodrigues Barbosa" userId="S::joyce.barbosa@kroton.com.br::8c08e31e-b3ba-42b8-b150-8158ecd9d93c" providerId="AD" clId="Web-{C4CDD45B-DEF3-3584-4824-D87E1DCAC3B3}" dt="2025-08-18T13:32:01.584" v="0" actId="33475"/>
        <pc:sldMasterMkLst>
          <pc:docMk/>
          <pc:sldMasterMk cId="0" sldId="2147483660"/>
        </pc:sldMasterMkLst>
        <pc:spChg chg="add">
          <ac:chgData name="Joyce Kelle Rodrigues Barbosa" userId="S::joyce.barbosa@kroton.com.br::8c08e31e-b3ba-42b8-b150-8158ecd9d93c" providerId="AD" clId="Web-{C4CDD45B-DEF3-3584-4824-D87E1DCAC3B3}" dt="2025-08-18T13:32:01.584" v="0" actId="33475"/>
          <ac:spMkLst>
            <pc:docMk/>
            <pc:sldMasterMk cId="0" sldId="2147483660"/>
            <ac:spMk id="3" creationId="{16BB25D3-7A59-1A65-46ED-2E0CFD77653E}"/>
          </ac:spMkLst>
        </pc:spChg>
      </pc:sldMasterChg>
      <pc:sldMasterChg chg="addSp">
        <pc:chgData name="Joyce Kelle Rodrigues Barbosa" userId="S::joyce.barbosa@kroton.com.br::8c08e31e-b3ba-42b8-b150-8158ecd9d93c" providerId="AD" clId="Web-{C4CDD45B-DEF3-3584-4824-D87E1DCAC3B3}" dt="2025-08-18T13:32:01.584" v="0" actId="33475"/>
        <pc:sldMasterMkLst>
          <pc:docMk/>
          <pc:sldMasterMk cId="0" sldId="2147483661"/>
        </pc:sldMasterMkLst>
        <pc:spChg chg="add">
          <ac:chgData name="Joyce Kelle Rodrigues Barbosa" userId="S::joyce.barbosa@kroton.com.br::8c08e31e-b3ba-42b8-b150-8158ecd9d93c" providerId="AD" clId="Web-{C4CDD45B-DEF3-3584-4824-D87E1DCAC3B3}" dt="2025-08-18T13:32:01.584" v="0" actId="33475"/>
          <ac:spMkLst>
            <pc:docMk/>
            <pc:sldMasterMk cId="0" sldId="2147483661"/>
            <ac:spMk id="3" creationId="{09D88EFF-9D1C-ED17-A900-A5D61AD00B1C}"/>
          </ac:spMkLst>
        </pc:sp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6:38:01.741" idx="1">
    <p:pos x="208" y="734"/>
    <p:text>could you enhance this table, please?
thank you.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6:44:09.588" idx="2">
    <p:pos x="151" y="642"/>
    <p:text>everytime that I exports from Markdown it breaks.
could you fix it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6:49:33.216" idx="3">
    <p:pos x="6000" y="0"/>
    <p:text>Could you organize and generate an icon to each of those elements?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7:05:35.134" idx="4">
    <p:pos x="6000" y="0"/>
    <p:text>The same ideia here, please, include icons and enhance the text.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7:27:11.594" idx="5">
    <p:pos x="4452" y="677"/>
    <p:text>I need a icon to each item of this slides.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8:06:14.504" idx="6">
    <p:pos x="4033" y="621"/>
    <p:text>Please, organize to fee both, the table and the picture.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6T18:08:19.104" idx="7">
    <p:pos x="4038" y="994"/>
    <p:text>the same here with picture and the table.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d57c2f8f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6d57c2f8f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d5f9f226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6d5f9f226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d5f9f226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36d5f9f226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d5f9f226a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6d5f9f226a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Layers offer design clarity — but like all clarity, it comes at the cost of complexity and performance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d5f9f226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6d5f9f226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d5f9f226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6d5f9f226a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d5f9f226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6d5f9f226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d5f9f226a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6d5f9f226a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d5f9f226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6d5f9f226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d5f9f226a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d5f9f226a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d5f9f226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6d5f9f226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d5f9f226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6d5f9f226a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d5f9f226a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6d5f9f226a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d5f9f226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6d5f9f226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d5f9f226a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6d5f9f226a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/>
              <a:t>System design starts by identifying components — and making sure each one has a clear responsibility, interface, and contract.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d5f9f226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6d5f9f226a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d5f9f226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6d5f9f226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6BB25D3-7A59-1A65-46ED-2E0CFD77653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9D88EFF-9D1C-ED17-A900-A5D61AD00B1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11" Type="http://schemas.openxmlformats.org/officeDocument/2006/relationships/comments" Target="../comments/comment5.xml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comments" Target="../comments/commen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comments" Target="../comments/commen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D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ctrTitle"/>
          </p:nvPr>
        </p:nvSpPr>
        <p:spPr>
          <a:xfrm>
            <a:off x="886200" y="1426473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40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48;p15"/>
          <p:cNvSpPr txBox="1"/>
          <p:nvPr/>
        </p:nvSpPr>
        <p:spPr>
          <a:xfrm>
            <a:off x="886200" y="2978298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Basic Principles of System Design</a:t>
            </a:r>
            <a:endParaRPr sz="1800" b="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15"/>
          <p:cNvSpPr txBox="1"/>
          <p:nvPr/>
        </p:nvSpPr>
        <p:spPr>
          <a:xfrm>
            <a:off x="844827" y="4121248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952" y="4429948"/>
            <a:ext cx="130350" cy="1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DEFC1833-D39B-7A15-C123-3FF0AB6A0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200" y="283352"/>
            <a:ext cx="667537" cy="8344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68E09D1-0E89-1429-1BF3-59CBA41D3780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4E503B3-A8ED-98DB-56F4-C902390756D1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Google Shape;55;p16"/>
          <p:cNvSpPr txBox="1"/>
          <p:nvPr/>
        </p:nvSpPr>
        <p:spPr>
          <a:xfrm>
            <a:off x="254598" y="121738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6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 txBox="1"/>
          <p:nvPr/>
        </p:nvSpPr>
        <p:spPr>
          <a:xfrm>
            <a:off x="176093" y="1572313"/>
            <a:ext cx="7188969" cy="209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Tiers vs layers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System components: front-end, back-end, databases, caches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Scalability: vertical vs horizontal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Availability and consistency: CAP theorem and trade-offs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Latency and throughput: how to optimize both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8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Documentations</a:t>
            </a:r>
            <a:endParaRPr sz="18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289FB08-FCCC-6AC2-1B8C-48219163A80B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0EC4611-EFED-8034-1D39-9C9247554ADF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Google Shape;62;p17"/>
          <p:cNvSpPr txBox="1"/>
          <p:nvPr/>
        </p:nvSpPr>
        <p:spPr>
          <a:xfrm>
            <a:off x="260275" y="-19962"/>
            <a:ext cx="4582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Layers vs Tiers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260275" y="326238"/>
            <a:ext cx="5351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Understanding structure from logic to deployment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4" name="Google Shape;64;p17"/>
          <p:cNvGraphicFramePr/>
          <p:nvPr>
            <p:extLst>
              <p:ext uri="{D42A27DB-BD31-4B8C-83A1-F6EECF244321}">
                <p14:modId xmlns:p14="http://schemas.microsoft.com/office/powerpoint/2010/main" val="140061325"/>
              </p:ext>
            </p:extLst>
          </p:nvPr>
        </p:nvGraphicFramePr>
        <p:xfrm>
          <a:off x="640468" y="1372357"/>
          <a:ext cx="7863063" cy="236777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129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Era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Layering Pattern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Tier Pattern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1970s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Monolith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1-tier (mainframe)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1990s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UI + logic in client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2-tier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1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2000s–2010s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UI, business, DAO layers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3-tier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2010s+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Clean/hexagonal architecture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N-tier (cloud, microservices)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" name="Google Shape;65;p17"/>
          <p:cNvSpPr txBox="1"/>
          <p:nvPr/>
        </p:nvSpPr>
        <p:spPr>
          <a:xfrm>
            <a:off x="553110" y="3771143"/>
            <a:ext cx="636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dirty="0"/>
              <a:t>Layers</a:t>
            </a:r>
            <a:r>
              <a:rPr lang="en" dirty="0"/>
              <a:t> organize software </a:t>
            </a:r>
            <a:r>
              <a:rPr lang="en" b="1" dirty="0"/>
              <a:t>logically</a:t>
            </a:r>
            <a:r>
              <a:rPr lang="en" dirty="0"/>
              <a:t>. </a:t>
            </a:r>
            <a:r>
              <a:rPr lang="en" b="1" dirty="0"/>
              <a:t>Tiers</a:t>
            </a:r>
            <a:r>
              <a:rPr lang="en" dirty="0"/>
              <a:t> organize software </a:t>
            </a:r>
            <a:r>
              <a:rPr lang="en" b="1" dirty="0"/>
              <a:t>physically.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FD3346F-C7C4-81D8-C125-DC23E5B906A9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7316CDC-6119-EDB7-E1CF-FDFA6A8C2FE6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Google Shape;70;p18"/>
          <p:cNvSpPr txBox="1"/>
          <p:nvPr/>
        </p:nvSpPr>
        <p:spPr>
          <a:xfrm>
            <a:off x="239724" y="47405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Tiers and Trade-offs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8"/>
          <p:cNvSpPr txBox="1"/>
          <p:nvPr/>
        </p:nvSpPr>
        <p:spPr>
          <a:xfrm>
            <a:off x="260275" y="346242"/>
            <a:ext cx="6344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More tiers mean more power — and more complexity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2" name="Google Shape;72;p18"/>
          <p:cNvGraphicFramePr/>
          <p:nvPr>
            <p:extLst>
              <p:ext uri="{D42A27DB-BD31-4B8C-83A1-F6EECF244321}">
                <p14:modId xmlns:p14="http://schemas.microsoft.com/office/powerpoint/2010/main" val="823335271"/>
              </p:ext>
            </p:extLst>
          </p:nvPr>
        </p:nvGraphicFramePr>
        <p:xfrm>
          <a:off x="260275" y="1269835"/>
          <a:ext cx="8505825" cy="279753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D2D2FF"/>
                          </a:solidFill>
                        </a:rPr>
                        <a:t>📌 More Tiers Mean...</a:t>
                      </a:r>
                      <a:endParaRPr sz="1100" b="1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 Pros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6161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Cons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161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Separation of concerns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Easier to scale and secure each responsibility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Requires orchestration and interface design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Client-side computation (e.g. SPA)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 UX, lower backend load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Logic duplicated across tiers (risk of inconsistency)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Isolation of failure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failing tier doesn’t crash the whole system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Requires retries, circuit breakers, fallback strategies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Cross-tier communication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Enables service-oriented design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Introduces network latency and serialization overhead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622E176-18B8-7175-A882-F6CABC74B495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E1744E0-5487-F98E-B393-4CBEC5796414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Google Shape;77;p19"/>
          <p:cNvSpPr txBox="1"/>
          <p:nvPr/>
        </p:nvSpPr>
        <p:spPr>
          <a:xfrm>
            <a:off x="239724" y="10235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What Tiers Impact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9"/>
          <p:cNvSpPr txBox="1"/>
          <p:nvPr/>
        </p:nvSpPr>
        <p:spPr>
          <a:xfrm>
            <a:off x="260275" y="323940"/>
            <a:ext cx="6344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Strategic considerations behind every deployment boundary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141800" y="1705925"/>
            <a:ext cx="230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Shape Architecture Style</a:t>
            </a:r>
            <a:endParaRPr/>
          </a:p>
        </p:txBody>
      </p:sp>
      <p:sp>
        <p:nvSpPr>
          <p:cNvPr id="80" name="Google Shape;80;p19"/>
          <p:cNvSpPr txBox="1"/>
          <p:nvPr/>
        </p:nvSpPr>
        <p:spPr>
          <a:xfrm>
            <a:off x="2608275" y="1688725"/>
            <a:ext cx="146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Structure</a:t>
            </a:r>
            <a:endParaRPr/>
          </a:p>
        </p:txBody>
      </p:sp>
      <p:sp>
        <p:nvSpPr>
          <p:cNvPr id="81" name="Google Shape;81;p19"/>
          <p:cNvSpPr txBox="1"/>
          <p:nvPr/>
        </p:nvSpPr>
        <p:spPr>
          <a:xfrm>
            <a:off x="4491625" y="1629725"/>
            <a:ext cx="146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Zones</a:t>
            </a:r>
            <a:endParaRPr/>
          </a:p>
        </p:txBody>
      </p:sp>
      <p:sp>
        <p:nvSpPr>
          <p:cNvPr id="82" name="Google Shape;82;p19"/>
          <p:cNvSpPr txBox="1"/>
          <p:nvPr/>
        </p:nvSpPr>
        <p:spPr>
          <a:xfrm>
            <a:off x="209725" y="3202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Complicate Deployment &amp; DevOps</a:t>
            </a:r>
            <a:endParaRPr/>
          </a:p>
        </p:txBody>
      </p:sp>
      <p:sp>
        <p:nvSpPr>
          <p:cNvPr id="83" name="Google Shape;83;p19"/>
          <p:cNvSpPr txBox="1"/>
          <p:nvPr/>
        </p:nvSpPr>
        <p:spPr>
          <a:xfrm>
            <a:off x="3246350" y="3202675"/>
            <a:ext cx="144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as a Tier</a:t>
            </a:r>
            <a:endParaRPr/>
          </a:p>
        </p:txBody>
      </p:sp>
      <p:sp>
        <p:nvSpPr>
          <p:cNvPr id="84" name="Google Shape;84;p19"/>
          <p:cNvSpPr txBox="1"/>
          <p:nvPr/>
        </p:nvSpPr>
        <p:spPr>
          <a:xfrm>
            <a:off x="4854250" y="3137125"/>
            <a:ext cx="196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and Cloud Billing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50559B5-5DC8-DC2F-6838-91B2EEE9880A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5528C90-80A2-C6FA-293D-7E22FC9B5CDB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9" name="Google Shape;89;p20"/>
          <p:cNvSpPr txBox="1"/>
          <p:nvPr/>
        </p:nvSpPr>
        <p:spPr>
          <a:xfrm>
            <a:off x="239724" y="-37345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What Layers Impact in System </a:t>
            </a: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Design</a:t>
            </a:r>
            <a:endParaRPr sz="1800" b="1" dirty="0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20"/>
          <p:cNvSpPr txBox="1"/>
          <p:nvPr/>
        </p:nvSpPr>
        <p:spPr>
          <a:xfrm>
            <a:off x="260275" y="290670"/>
            <a:ext cx="6344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Abstraction vs Complexity — trade-offs behind logical separation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1" name="Google Shape;91;p20"/>
          <p:cNvGraphicFramePr/>
          <p:nvPr>
            <p:extLst>
              <p:ext uri="{D42A27DB-BD31-4B8C-83A1-F6EECF244321}">
                <p14:modId xmlns:p14="http://schemas.microsoft.com/office/powerpoint/2010/main" val="948251391"/>
              </p:ext>
            </p:extLst>
          </p:nvPr>
        </p:nvGraphicFramePr>
        <p:xfrm>
          <a:off x="985837" y="1109389"/>
          <a:ext cx="7172325" cy="340710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</a:rPr>
                        <a:t>More Layers Mean...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</a:rPr>
                        <a:t>Pros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Cons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Separation of concerns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Modular, cleaner architecture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Risk of overengineering and scattered logic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Better testability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Isolated unit tests, easier mocking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Increased complexity in integration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Team alignment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Layers map well to team boundaries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cause delays if coordination is poor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Infrastructure flexibility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Swap DBs, queues, or APIs more easily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Requires discipline to avoid leakage across layers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Abstraction and reuse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More reusable and general-purpose logic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Adds latency and overhead to simple operations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12EF4BB-8716-4606-FD96-B5BD40B06F3E}"/>
              </a:ext>
            </a:extLst>
          </p:cNvPr>
          <p:cNvSpPr/>
          <p:nvPr/>
        </p:nvSpPr>
        <p:spPr>
          <a:xfrm>
            <a:off x="5773438" y="2826442"/>
            <a:ext cx="2108569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115E7AA-9C8F-1C98-3A2E-1D96BBBAD70E}"/>
              </a:ext>
            </a:extLst>
          </p:cNvPr>
          <p:cNvSpPr/>
          <p:nvPr/>
        </p:nvSpPr>
        <p:spPr>
          <a:xfrm>
            <a:off x="3683081" y="2868762"/>
            <a:ext cx="1894465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3DEA487-F8DD-F88E-DE8F-263A0A7C1D7D}"/>
              </a:ext>
            </a:extLst>
          </p:cNvPr>
          <p:cNvSpPr/>
          <p:nvPr/>
        </p:nvSpPr>
        <p:spPr>
          <a:xfrm>
            <a:off x="1239091" y="2853213"/>
            <a:ext cx="2357549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DCCCF75-2216-CE7D-9ABD-1D3CE1074702}"/>
              </a:ext>
            </a:extLst>
          </p:cNvPr>
          <p:cNvSpPr/>
          <p:nvPr/>
        </p:nvSpPr>
        <p:spPr>
          <a:xfrm>
            <a:off x="5785749" y="1904349"/>
            <a:ext cx="2108569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6FC12E8-F891-3623-2C06-7995A0EFFB7D}"/>
              </a:ext>
            </a:extLst>
          </p:cNvPr>
          <p:cNvSpPr/>
          <p:nvPr/>
        </p:nvSpPr>
        <p:spPr>
          <a:xfrm>
            <a:off x="3733170" y="1892075"/>
            <a:ext cx="1894464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E65BFED-30E4-1313-1CA1-30B703D7D089}"/>
              </a:ext>
            </a:extLst>
          </p:cNvPr>
          <p:cNvSpPr/>
          <p:nvPr/>
        </p:nvSpPr>
        <p:spPr>
          <a:xfrm>
            <a:off x="1239091" y="1901770"/>
            <a:ext cx="2357549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13D4C7-2AF4-A5D3-0EA6-D008A001A91A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3337512-1F32-6C99-E6FB-F70AD8BFD3E9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6" name="Google Shape;96;p21"/>
          <p:cNvSpPr txBox="1"/>
          <p:nvPr/>
        </p:nvSpPr>
        <p:spPr>
          <a:xfrm>
            <a:off x="239724" y="-22105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What Layers Impact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21"/>
          <p:cNvSpPr txBox="1"/>
          <p:nvPr/>
        </p:nvSpPr>
        <p:spPr>
          <a:xfrm>
            <a:off x="260275" y="290670"/>
            <a:ext cx="6344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Strategic considerations behind every abstractions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21"/>
          <p:cNvSpPr txBox="1"/>
          <p:nvPr/>
        </p:nvSpPr>
        <p:spPr>
          <a:xfrm>
            <a:off x="1437200" y="2003809"/>
            <a:ext cx="230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Separation of Concerns</a:t>
            </a:r>
            <a:endParaRPr/>
          </a:p>
        </p:txBody>
      </p:sp>
      <p:sp>
        <p:nvSpPr>
          <p:cNvPr id="99" name="Google Shape;99;p21"/>
          <p:cNvSpPr txBox="1"/>
          <p:nvPr/>
        </p:nvSpPr>
        <p:spPr>
          <a:xfrm>
            <a:off x="3903675" y="1986609"/>
            <a:ext cx="171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Testability</a:t>
            </a:r>
            <a:endParaRPr/>
          </a:p>
        </p:txBody>
      </p:sp>
      <p:sp>
        <p:nvSpPr>
          <p:cNvPr id="100" name="Google Shape;100;p21"/>
          <p:cNvSpPr txBox="1"/>
          <p:nvPr/>
        </p:nvSpPr>
        <p:spPr>
          <a:xfrm>
            <a:off x="5840364" y="1986609"/>
            <a:ext cx="20539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Abstraction and reuse</a:t>
            </a:r>
            <a:endParaRPr dirty="0"/>
          </a:p>
        </p:txBody>
      </p:sp>
      <p:sp>
        <p:nvSpPr>
          <p:cNvPr id="101" name="Google Shape;101;p21"/>
          <p:cNvSpPr txBox="1"/>
          <p:nvPr/>
        </p:nvSpPr>
        <p:spPr>
          <a:xfrm>
            <a:off x="1569015" y="2965491"/>
            <a:ext cx="203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Clear terminology</a:t>
            </a:r>
            <a:endParaRPr dirty="0"/>
          </a:p>
        </p:txBody>
      </p:sp>
      <p:sp>
        <p:nvSpPr>
          <p:cNvPr id="102" name="Google Shape;102;p21"/>
          <p:cNvSpPr txBox="1"/>
          <p:nvPr/>
        </p:nvSpPr>
        <p:spPr>
          <a:xfrm>
            <a:off x="3981845" y="2981584"/>
            <a:ext cx="144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Performance</a:t>
            </a:r>
            <a:endParaRPr dirty="0"/>
          </a:p>
        </p:txBody>
      </p:sp>
      <p:sp>
        <p:nvSpPr>
          <p:cNvPr id="103" name="Google Shape;103;p21"/>
          <p:cNvSpPr txBox="1"/>
          <p:nvPr/>
        </p:nvSpPr>
        <p:spPr>
          <a:xfrm>
            <a:off x="5847780" y="2942631"/>
            <a:ext cx="1961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Cost and Cloud Billing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0AD37B3-9C4F-B84A-5300-58ACEC347E8F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419F0DC-B460-FD1E-C582-AF4358C94350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8" name="Google Shape;108;p22"/>
          <p:cNvSpPr txBox="1"/>
          <p:nvPr/>
        </p:nvSpPr>
        <p:spPr>
          <a:xfrm>
            <a:off x="239724" y="-6865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Core Components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260275" y="328770"/>
            <a:ext cx="6344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The fundamental building blocks of scalable systems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450" y="866462"/>
            <a:ext cx="2745700" cy="411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21235" y="1937755"/>
            <a:ext cx="56601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is a modular part of a system that: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Encapsulates specific behavior or logic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Has a well-defined interface (how others interact with it)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Can be independently replaced, reused, or deployed (depending on design)</a:t>
            </a:r>
            <a:endParaRPr dirty="0"/>
          </a:p>
        </p:txBody>
      </p:sp>
      <p:sp>
        <p:nvSpPr>
          <p:cNvPr id="112" name="Google Shape;112;p22"/>
          <p:cNvSpPr txBox="1"/>
          <p:nvPr/>
        </p:nvSpPr>
        <p:spPr>
          <a:xfrm>
            <a:off x="471850" y="3783950"/>
            <a:ext cx="426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unit with a clear boundary and contract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0368584-689B-1861-4708-07FD751A334E}"/>
              </a:ext>
            </a:extLst>
          </p:cNvPr>
          <p:cNvSpPr/>
          <p:nvPr/>
        </p:nvSpPr>
        <p:spPr>
          <a:xfrm>
            <a:off x="484288" y="2794772"/>
            <a:ext cx="1621402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47B45B1-7BD5-A26A-00E0-F6B77875461B}"/>
              </a:ext>
            </a:extLst>
          </p:cNvPr>
          <p:cNvSpPr/>
          <p:nvPr/>
        </p:nvSpPr>
        <p:spPr>
          <a:xfrm>
            <a:off x="2323574" y="2810787"/>
            <a:ext cx="1332006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54FC8B2-5BE8-DA05-B259-A9261A3D5B2A}"/>
              </a:ext>
            </a:extLst>
          </p:cNvPr>
          <p:cNvSpPr/>
          <p:nvPr/>
        </p:nvSpPr>
        <p:spPr>
          <a:xfrm>
            <a:off x="3829502" y="2810787"/>
            <a:ext cx="1516150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623FA97-FA6D-203A-9E75-AB4BFEDDDF76}"/>
              </a:ext>
            </a:extLst>
          </p:cNvPr>
          <p:cNvSpPr/>
          <p:nvPr/>
        </p:nvSpPr>
        <p:spPr>
          <a:xfrm>
            <a:off x="5528665" y="2810787"/>
            <a:ext cx="1621401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205DF9F-74D4-6DF8-81E9-1A4DDA5C6BCC}"/>
              </a:ext>
            </a:extLst>
          </p:cNvPr>
          <p:cNvSpPr/>
          <p:nvPr/>
        </p:nvSpPr>
        <p:spPr>
          <a:xfrm>
            <a:off x="3375517" y="1665318"/>
            <a:ext cx="1783322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2FB00A4-1700-D0C4-8A4A-F7E232DCE896}"/>
              </a:ext>
            </a:extLst>
          </p:cNvPr>
          <p:cNvSpPr/>
          <p:nvPr/>
        </p:nvSpPr>
        <p:spPr>
          <a:xfrm>
            <a:off x="5261707" y="1665318"/>
            <a:ext cx="1516149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03F5359-E7CD-7361-5199-B79249AC7972}"/>
              </a:ext>
            </a:extLst>
          </p:cNvPr>
          <p:cNvSpPr/>
          <p:nvPr/>
        </p:nvSpPr>
        <p:spPr>
          <a:xfrm>
            <a:off x="1920507" y="1665318"/>
            <a:ext cx="1259223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16DE854-FE50-DFDF-4808-BBA43FAC62E3}"/>
              </a:ext>
            </a:extLst>
          </p:cNvPr>
          <p:cNvSpPr/>
          <p:nvPr/>
        </p:nvSpPr>
        <p:spPr>
          <a:xfrm>
            <a:off x="465497" y="1665318"/>
            <a:ext cx="1259223" cy="624756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1E4F9CD-016C-B21E-2019-F4888F038322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6CCE44-AD4B-E07F-6A12-E68C7F7B8B18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7" name="Google Shape;117;p23"/>
          <p:cNvSpPr txBox="1"/>
          <p:nvPr/>
        </p:nvSpPr>
        <p:spPr>
          <a:xfrm>
            <a:off x="239724" y="10235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Types of Components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260275" y="331374"/>
            <a:ext cx="6344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Understanding how responsibilities are modularized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1048617" y="1777597"/>
            <a:ext cx="37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</a:t>
            </a: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286062" y="1777597"/>
            <a:ext cx="79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Service</a:t>
            </a:r>
            <a:endParaRPr dirty="0"/>
          </a:p>
        </p:txBody>
      </p:sp>
      <p:sp>
        <p:nvSpPr>
          <p:cNvPr id="121" name="Google Shape;121;p23"/>
          <p:cNvSpPr txBox="1"/>
          <p:nvPr/>
        </p:nvSpPr>
        <p:spPr>
          <a:xfrm>
            <a:off x="3814117" y="1774366"/>
            <a:ext cx="13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Infrastructure</a:t>
            </a:r>
            <a:endParaRPr dirty="0"/>
          </a:p>
        </p:txBody>
      </p:sp>
      <p:sp>
        <p:nvSpPr>
          <p:cNvPr id="122" name="Google Shape;122;p23"/>
          <p:cNvSpPr txBox="1"/>
          <p:nvPr/>
        </p:nvSpPr>
        <p:spPr>
          <a:xfrm>
            <a:off x="5665102" y="1768510"/>
            <a:ext cx="107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Integration</a:t>
            </a:r>
            <a:endParaRPr dirty="0"/>
          </a:p>
        </p:txBody>
      </p:sp>
      <p:sp>
        <p:nvSpPr>
          <p:cNvPr id="123" name="Google Shape;123;p23"/>
          <p:cNvSpPr txBox="1"/>
          <p:nvPr/>
        </p:nvSpPr>
        <p:spPr>
          <a:xfrm>
            <a:off x="854313" y="2912501"/>
            <a:ext cx="13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Persistence</a:t>
            </a: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2752880" y="2938701"/>
            <a:ext cx="13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Domain</a:t>
            </a:r>
            <a:endParaRPr dirty="0"/>
          </a:p>
        </p:txBody>
      </p:sp>
      <p:sp>
        <p:nvSpPr>
          <p:cNvPr id="125" name="Google Shape;125;p23"/>
          <p:cNvSpPr txBox="1"/>
          <p:nvPr/>
        </p:nvSpPr>
        <p:spPr>
          <a:xfrm>
            <a:off x="4207454" y="2912501"/>
            <a:ext cx="13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Messaging</a:t>
            </a:r>
            <a:endParaRPr dirty="0"/>
          </a:p>
        </p:txBody>
      </p:sp>
      <p:sp>
        <p:nvSpPr>
          <p:cNvPr id="126" name="Google Shape;126;p23"/>
          <p:cNvSpPr txBox="1"/>
          <p:nvPr/>
        </p:nvSpPr>
        <p:spPr>
          <a:xfrm>
            <a:off x="5935144" y="2938701"/>
            <a:ext cx="1341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Operacional</a:t>
            </a:r>
            <a:endParaRPr dirty="0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B948EEFD-A3EF-427E-BD5B-BC927FCCE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16" y="1817995"/>
            <a:ext cx="319401" cy="319401"/>
          </a:xfrm>
          <a:prstGeom prst="rect">
            <a:avLst/>
          </a:prstGeom>
        </p:spPr>
      </p:pic>
      <p:pic>
        <p:nvPicPr>
          <p:cNvPr id="11" name="Imagem 10" descr="Ícone&#10;&#10;O conteúdo gerado por IA pode estar incorreto.">
            <a:extLst>
              <a:ext uri="{FF2B5EF4-FFF2-40B4-BE49-F238E27FC236}">
                <a16:creationId xmlns:a16="http://schemas.microsoft.com/office/drawing/2014/main" id="{A3635C86-98AF-14AF-B350-C36E843FE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809" y="1837460"/>
            <a:ext cx="292502" cy="29250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1649C8C6-1C0C-C0EC-A886-D03276F65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8989" y="1836275"/>
            <a:ext cx="282839" cy="282839"/>
          </a:xfrm>
          <a:prstGeom prst="rect">
            <a:avLst/>
          </a:prstGeom>
        </p:spPr>
      </p:pic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CFF87F17-A759-87AB-563B-E0B0D7B8E0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4098" y="1842292"/>
            <a:ext cx="272622" cy="272622"/>
          </a:xfrm>
          <a:prstGeom prst="rect">
            <a:avLst/>
          </a:prstGeom>
        </p:spPr>
      </p:pic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34682DD-D6AF-5B61-C587-1409F4154B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163" y="2990180"/>
            <a:ext cx="297241" cy="297241"/>
          </a:xfrm>
          <a:prstGeom prst="rect">
            <a:avLst/>
          </a:prstGeom>
        </p:spPr>
      </p:pic>
      <p:pic>
        <p:nvPicPr>
          <p:cNvPr id="23" name="Imagem 22" descr="Ícone&#10;&#10;O conteúdo gerado por IA pode estar incorreto.">
            <a:extLst>
              <a:ext uri="{FF2B5EF4-FFF2-40B4-BE49-F238E27FC236}">
                <a16:creationId xmlns:a16="http://schemas.microsoft.com/office/drawing/2014/main" id="{93646CE4-695C-DA6F-EBB2-D85148B61C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1778" y="2912501"/>
            <a:ext cx="400200" cy="400200"/>
          </a:xfrm>
          <a:prstGeom prst="rect">
            <a:avLst/>
          </a:prstGeom>
        </p:spPr>
      </p:pic>
      <p:pic>
        <p:nvPicPr>
          <p:cNvPr id="25" name="Imagem 24" descr="Logotipo, Ícone&#10;&#10;O conteúdo gerado por IA pode estar incorreto.">
            <a:extLst>
              <a:ext uri="{FF2B5EF4-FFF2-40B4-BE49-F238E27FC236}">
                <a16:creationId xmlns:a16="http://schemas.microsoft.com/office/drawing/2014/main" id="{B713F119-B2CC-BFF1-70AC-0245D4DE09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5640" y="2978261"/>
            <a:ext cx="289807" cy="289807"/>
          </a:xfrm>
          <a:prstGeom prst="rect">
            <a:avLst/>
          </a:prstGeom>
        </p:spPr>
      </p:pic>
      <p:pic>
        <p:nvPicPr>
          <p:cNvPr id="27" name="Imagem 26" descr="Ícone&#10;&#10;O conteúdo gerado por IA pode estar incorreto.">
            <a:extLst>
              <a:ext uri="{FF2B5EF4-FFF2-40B4-BE49-F238E27FC236}">
                <a16:creationId xmlns:a16="http://schemas.microsoft.com/office/drawing/2014/main" id="{CB3A126E-95F5-F844-1AE2-C105A1FD43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540" y="2927369"/>
            <a:ext cx="329526" cy="3295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B732BEC-7CDB-8EEA-509B-9ED23BDC1B40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C3A79ABD-90EE-5672-FDCE-210212155D05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" name="Google Shape;131;p24"/>
          <p:cNvSpPr txBox="1"/>
          <p:nvPr/>
        </p:nvSpPr>
        <p:spPr>
          <a:xfrm>
            <a:off x="239724" y="32537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The Frontend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260275" y="346242"/>
            <a:ext cx="39495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Where humans meet the system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355525" y="1509749"/>
            <a:ext cx="3759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 Between People and the System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View Logic, Not Business Logic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Often Stateless and Lightweight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Frontend Deployment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End-user Experience Depends on It</a:t>
            </a:r>
            <a:endParaRPr dirty="0"/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644" y="1509749"/>
            <a:ext cx="3848874" cy="256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38CEB7B-8D5A-AA71-6488-B1617E5DCD3C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9" name="Google Shape;139;p25"/>
          <p:cNvSpPr txBox="1"/>
          <p:nvPr/>
        </p:nvSpPr>
        <p:spPr>
          <a:xfrm>
            <a:off x="239724" y="32537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Client-side vs Server-side Frontend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260275" y="338808"/>
            <a:ext cx="37968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Two models — one user experience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1" name="Google Shape;141;p25"/>
          <p:cNvGraphicFramePr/>
          <p:nvPr>
            <p:extLst>
              <p:ext uri="{D42A27DB-BD31-4B8C-83A1-F6EECF244321}">
                <p14:modId xmlns:p14="http://schemas.microsoft.com/office/powerpoint/2010/main" val="1640046964"/>
              </p:ext>
            </p:extLst>
          </p:nvPr>
        </p:nvGraphicFramePr>
        <p:xfrm>
          <a:off x="726037" y="1381375"/>
          <a:ext cx="7691925" cy="2380749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135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Deployment Model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Client-side UI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UI logic runs in the user’s device/browser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React, Angular, iOS, Android apps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Server-side UI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UI rendered on the server and sent to client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Thymeleaf, Razor, Next.js SSR, JSF, JSP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Hybrid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Combination (e.g., HTML rendered server-side + JS)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Next.js, Nuxt.js, ASP.NET with JS interop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9FC6EBE-868F-E7EA-0B50-71C9C30C9B45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3BB954A-A086-1B6A-9EA2-1BB0EF2C874E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040F539-1583-B4C8-CB5E-F73C3EBB769B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6" name="Google Shape;146;p26"/>
          <p:cNvSpPr txBox="1"/>
          <p:nvPr/>
        </p:nvSpPr>
        <p:spPr>
          <a:xfrm>
            <a:off x="239724" y="17669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Client-side Rendering (CSR)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230539" y="331374"/>
            <a:ext cx="4529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Let’s save money given to client process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48" name="Google Shape;148;p26"/>
          <p:cNvGraphicFramePr/>
          <p:nvPr>
            <p:extLst>
              <p:ext uri="{D42A27DB-BD31-4B8C-83A1-F6EECF244321}">
                <p14:modId xmlns:p14="http://schemas.microsoft.com/office/powerpoint/2010/main" val="513768261"/>
              </p:ext>
            </p:extLst>
          </p:nvPr>
        </p:nvGraphicFramePr>
        <p:xfrm>
          <a:off x="1822250" y="1372953"/>
          <a:ext cx="5499500" cy="273651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143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D2D2FF"/>
                          </a:solidFill>
                        </a:rPr>
                        <a:t>Aspect</a:t>
                      </a:r>
                      <a:endParaRPr sz="1100" b="1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Details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Where it runs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 the user's browser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First load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 (needs to load JS bundles)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Subsequent UX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Fast, interactive (no full page reloads)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Tech stack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React, Angular, Vue, Flutter Web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Pros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Better UX, offline capabilities, dynamic apps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Cons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SEO challenges, JS bundle size, first load delay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61D9D2-9391-420D-F95A-7AA27266DA98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C52D761-7B2A-AEE0-F3A7-587366FCF87C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3" name="Google Shape;153;p27"/>
          <p:cNvSpPr txBox="1"/>
          <p:nvPr/>
        </p:nvSpPr>
        <p:spPr>
          <a:xfrm>
            <a:off x="260275" y="26592"/>
            <a:ext cx="53979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Server-side Rendering (SSR)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260275" y="347549"/>
            <a:ext cx="45297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Let’s save money given to client process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5" name="Google Shape;155;p27"/>
          <p:cNvGraphicFramePr/>
          <p:nvPr>
            <p:extLst>
              <p:ext uri="{D42A27DB-BD31-4B8C-83A1-F6EECF244321}">
                <p14:modId xmlns:p14="http://schemas.microsoft.com/office/powerpoint/2010/main" val="3532715856"/>
              </p:ext>
            </p:extLst>
          </p:nvPr>
        </p:nvGraphicFramePr>
        <p:xfrm>
          <a:off x="2009775" y="1293262"/>
          <a:ext cx="5124450" cy="319371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rgbClr val="D2D2FF"/>
                          </a:solidFill>
                        </a:rPr>
                        <a:t>Aspect</a:t>
                      </a:r>
                      <a:endParaRPr sz="1100" b="1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D2D2FF"/>
                          </a:solidFill>
                        </a:rPr>
                        <a:t>Details</a:t>
                      </a:r>
                      <a:endParaRPr sz="1100" b="1" dirty="0">
                        <a:solidFill>
                          <a:srgbClr val="D2D2FF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Where it runs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 the backend server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First load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 (pre-rendered HTML)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Subsequent UX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Slower navigation (unless hydrated with JS)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Tech stack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Next.js, JSP, ASP.NET Razor, Thymeleaf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Pros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Better SEO, predictable load time, good for static/dynamic hybrids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/>
                        <a:t>Cons</a:t>
                      </a:r>
                      <a:endParaRPr sz="11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Increased server load, more network requests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736A3B8-B88E-68CF-1F52-B6BA39E9E2F3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31C2857-B385-7F4E-C45E-B1688309840F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0" name="Google Shape;160;p28"/>
          <p:cNvSpPr txBox="1"/>
          <p:nvPr/>
        </p:nvSpPr>
        <p:spPr>
          <a:xfrm>
            <a:off x="239725" y="1023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Understanding the Backend in System Design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260275" y="353676"/>
            <a:ext cx="47250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Where logic lives — and costs emerge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239725" y="1521762"/>
            <a:ext cx="53067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It’s the brain of the system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bridges other components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It’s usually the most expensive tier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handles orchestration and decision-making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defines service boundaries</a:t>
            </a:r>
            <a:endParaRPr dirty="0"/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3">
            <a:alphaModFix/>
          </a:blip>
          <a:srcRect t="21813" b="12954"/>
          <a:stretch/>
        </p:blipFill>
        <p:spPr>
          <a:xfrm>
            <a:off x="4831085" y="1497738"/>
            <a:ext cx="3292774" cy="214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3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2197728-58C8-865F-1803-9F57767B70B5}"/>
              </a:ext>
            </a:extLst>
          </p:cNvPr>
          <p:cNvSpPr/>
          <p:nvPr/>
        </p:nvSpPr>
        <p:spPr>
          <a:xfrm>
            <a:off x="4015740" y="0"/>
            <a:ext cx="5128260" cy="5143500"/>
          </a:xfrm>
          <a:prstGeom prst="rect">
            <a:avLst/>
          </a:prstGeom>
          <a:solidFill>
            <a:srgbClr val="16161D"/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8" name="Google Shape;168;p29"/>
          <p:cNvSpPr txBox="1"/>
          <p:nvPr/>
        </p:nvSpPr>
        <p:spPr>
          <a:xfrm>
            <a:off x="239725" y="183234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Introduction to Scalability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260275" y="2160918"/>
            <a:ext cx="47250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D2D2FF"/>
                </a:solidFill>
                <a:latin typeface="Montserrat"/>
                <a:ea typeface="Montserrat"/>
                <a:cs typeface="Montserrat"/>
                <a:sym typeface="Montserrat"/>
              </a:rPr>
              <a:t>Can your system grow with demand?</a:t>
            </a:r>
            <a:endParaRPr dirty="0">
              <a:solidFill>
                <a:srgbClr val="D2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455065" y="1397597"/>
            <a:ext cx="3449135" cy="259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bg1"/>
                </a:solidFill>
              </a:rPr>
              <a:t>It measures how well your architecture handles growth in:</a:t>
            </a:r>
            <a:endParaRPr sz="1600" dirty="0">
              <a:solidFill>
                <a:schemeClr val="bg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9EDC"/>
              </a:buClr>
              <a:buSzPts val="1400"/>
              <a:buChar char="●"/>
            </a:pPr>
            <a:r>
              <a:rPr lang="en" sz="1600" dirty="0">
                <a:solidFill>
                  <a:srgbClr val="009EDC"/>
                </a:solidFill>
              </a:rPr>
              <a:t>Users</a:t>
            </a:r>
            <a:endParaRPr sz="1600" dirty="0">
              <a:solidFill>
                <a:srgbClr val="009EDC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DC"/>
              </a:buClr>
              <a:buSzPts val="1400"/>
              <a:buChar char="●"/>
            </a:pPr>
            <a:r>
              <a:rPr lang="en" sz="1600" dirty="0">
                <a:solidFill>
                  <a:srgbClr val="009EDC"/>
                </a:solidFill>
              </a:rPr>
              <a:t>Data</a:t>
            </a:r>
            <a:endParaRPr sz="1600" dirty="0">
              <a:solidFill>
                <a:srgbClr val="009EDC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DC"/>
              </a:buClr>
              <a:buSzPts val="1400"/>
              <a:buChar char="●"/>
            </a:pPr>
            <a:r>
              <a:rPr lang="en" sz="1600" dirty="0">
                <a:solidFill>
                  <a:srgbClr val="009EDC"/>
                </a:solidFill>
              </a:rPr>
              <a:t>Requests</a:t>
            </a:r>
            <a:endParaRPr sz="1600" dirty="0">
              <a:solidFill>
                <a:srgbClr val="009EDC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9EDC"/>
              </a:buClr>
              <a:buSzPts val="1400"/>
              <a:buChar char="●"/>
            </a:pPr>
            <a:r>
              <a:rPr lang="en" sz="1600" dirty="0">
                <a:solidFill>
                  <a:srgbClr val="009EDC"/>
                </a:solidFill>
              </a:rPr>
              <a:t>Transactions</a:t>
            </a:r>
            <a:endParaRPr sz="1600" dirty="0">
              <a:solidFill>
                <a:srgbClr val="009EDC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934EC29-570D-DA25-EE5D-C59E00163028}"/>
              </a:ext>
            </a:extLst>
          </p:cNvPr>
          <p:cNvCxnSpPr/>
          <p:nvPr/>
        </p:nvCxnSpPr>
        <p:spPr>
          <a:xfrm>
            <a:off x="4015740" y="52039"/>
            <a:ext cx="0" cy="519684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3D18E9-CCF1-F622-07E6-48E4AC70614B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4697BA2C-3EAF-7BCF-951C-F9C75E839BBF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5" name="Google Shape;175;p30"/>
          <p:cNvSpPr txBox="1"/>
          <p:nvPr/>
        </p:nvSpPr>
        <p:spPr>
          <a:xfrm>
            <a:off x="239725" y="8457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Vertical Scalability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260275" y="353676"/>
            <a:ext cx="47250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Scale up — not out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77" name="Google Shape;177;p30"/>
          <p:cNvGraphicFramePr/>
          <p:nvPr>
            <p:extLst>
              <p:ext uri="{D42A27DB-BD31-4B8C-83A1-F6EECF244321}">
                <p14:modId xmlns:p14="http://schemas.microsoft.com/office/powerpoint/2010/main" val="1586068578"/>
              </p:ext>
            </p:extLst>
          </p:nvPr>
        </p:nvGraphicFramePr>
        <p:xfrm>
          <a:off x="1776841" y="1535465"/>
          <a:ext cx="6142875" cy="237081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309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Easier setup and maintenance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Hardware limits eventually hit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need for distributed coordination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Downtime required for upgrades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be cheaper in small-scale scenarios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/>
                        <a:t>Single point of failure</a:t>
                      </a:r>
                      <a:endParaRPr sz="1100" b="1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Supported by most traditional databases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Scaling stops once hardware maxes out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Imagem 4" descr="Tela de celular">
            <a:extLst>
              <a:ext uri="{FF2B5EF4-FFF2-40B4-BE49-F238E27FC236}">
                <a16:creationId xmlns:a16="http://schemas.microsoft.com/office/drawing/2014/main" id="{68F6B806-26E8-1134-6738-C96082702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328" y="-325917"/>
            <a:ext cx="1884928" cy="2356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BBAC9CE-CABE-711E-B735-CED5C1671A59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E63C59C8-ED19-06A1-C9DF-0E33E6A6C8EB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3" name="Google Shape;183;p31"/>
          <p:cNvSpPr txBox="1"/>
          <p:nvPr/>
        </p:nvSpPr>
        <p:spPr>
          <a:xfrm>
            <a:off x="239725" y="4647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Horizontal Scalability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239725" y="350640"/>
            <a:ext cx="47250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Scale out — distribute the load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5" name="Google Shape;185;p31"/>
          <p:cNvGraphicFramePr/>
          <p:nvPr>
            <p:extLst>
              <p:ext uri="{D42A27DB-BD31-4B8C-83A1-F6EECF244321}">
                <p14:modId xmlns:p14="http://schemas.microsoft.com/office/powerpoint/2010/main" val="1662843790"/>
              </p:ext>
            </p:extLst>
          </p:nvPr>
        </p:nvGraphicFramePr>
        <p:xfrm>
          <a:off x="1728625" y="1575729"/>
          <a:ext cx="6096000" cy="2613353"/>
        </p:xfrm>
        <a:graphic>
          <a:graphicData uri="http://schemas.openxmlformats.org/drawingml/2006/table">
            <a:tbl>
              <a:tblPr>
                <a:noFill/>
                <a:tableStyleId>{69238B3A-C795-47D9-9BB3-B656612CBEF6}</a:tableStyleId>
              </a:tblPr>
              <a:tblGrid>
                <a:gridCol w="2415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56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sz="1100" b="1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0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Scales almost indefinitely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More complex to architect and maintain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0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fault tolerance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Requires coordination (consistency, replication)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5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Reduces risk of single point of failure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Load balancers become critical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5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Ideal for microservices and stateless apps</a:t>
                      </a:r>
                      <a:endParaRPr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More moving parts to monitor and secure</a:t>
                      </a:r>
                      <a:endParaRPr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m 6" descr="Tela de um aparelho celular&#10;&#10;O conteúdo gerado por IA pode estar incorreto.">
            <a:extLst>
              <a:ext uri="{FF2B5EF4-FFF2-40B4-BE49-F238E27FC236}">
                <a16:creationId xmlns:a16="http://schemas.microsoft.com/office/drawing/2014/main" id="{AEF0BE26-801C-501A-37DE-20983B18C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201" y="-104078"/>
            <a:ext cx="2140662" cy="2675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39F848A-BB70-5142-3DAD-09903B8F3DB8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1" name="Google Shape;191;p32"/>
          <p:cNvSpPr txBox="1"/>
          <p:nvPr/>
        </p:nvSpPr>
        <p:spPr>
          <a:xfrm>
            <a:off x="239725" y="25103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Understanding Latency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260275" y="331374"/>
            <a:ext cx="5415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The time between action and reaction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306557" y="1396323"/>
            <a:ext cx="4233300" cy="112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b="1" dirty="0">
                <a:solidFill>
                  <a:srgbClr val="009EDC"/>
                </a:solidFill>
              </a:rPr>
              <a:t>Latency</a:t>
            </a:r>
            <a:r>
              <a:rPr lang="en" sz="1800" dirty="0">
                <a:solidFill>
                  <a:schemeClr val="dk1"/>
                </a:solidFill>
              </a:rPr>
              <a:t> is the time it takes for a system to respond to a request.</a:t>
            </a:r>
            <a:endParaRPr sz="1800" dirty="0"/>
          </a:p>
        </p:txBody>
      </p:sp>
      <p:sp>
        <p:nvSpPr>
          <p:cNvPr id="194" name="Google Shape;194;p32"/>
          <p:cNvSpPr txBox="1"/>
          <p:nvPr/>
        </p:nvSpPr>
        <p:spPr>
          <a:xfrm>
            <a:off x="321425" y="2777343"/>
            <a:ext cx="4306405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Measured in </a:t>
            </a:r>
            <a:r>
              <a:rPr lang="en" sz="1200" b="1" dirty="0">
                <a:solidFill>
                  <a:schemeClr val="dk1"/>
                </a:solidFill>
              </a:rPr>
              <a:t>milliseconds (ms)</a:t>
            </a:r>
            <a:br>
              <a:rPr lang="en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Can be </a:t>
            </a:r>
            <a:r>
              <a:rPr lang="en" sz="1200" b="1" dirty="0">
                <a:solidFill>
                  <a:schemeClr val="dk1"/>
                </a:solidFill>
              </a:rPr>
              <a:t>end-to-end</a:t>
            </a:r>
            <a:r>
              <a:rPr lang="en" sz="1200" dirty="0">
                <a:solidFill>
                  <a:schemeClr val="dk1"/>
                </a:solidFill>
              </a:rPr>
              <a:t>, </a:t>
            </a:r>
            <a:r>
              <a:rPr lang="en" sz="1200" b="1" dirty="0">
                <a:solidFill>
                  <a:schemeClr val="dk1"/>
                </a:solidFill>
              </a:rPr>
              <a:t>network-only</a:t>
            </a:r>
            <a:r>
              <a:rPr lang="en" sz="1200" dirty="0">
                <a:solidFill>
                  <a:schemeClr val="dk1"/>
                </a:solidFill>
              </a:rPr>
              <a:t>, or </a:t>
            </a:r>
            <a:r>
              <a:rPr lang="en" sz="1200" b="1" dirty="0">
                <a:solidFill>
                  <a:schemeClr val="dk1"/>
                </a:solidFill>
              </a:rPr>
              <a:t>application-specific</a:t>
            </a:r>
            <a:br>
              <a:rPr lang="en" sz="1200" b="1" dirty="0">
                <a:solidFill>
                  <a:schemeClr val="dk1"/>
                </a:solidFill>
              </a:rPr>
            </a:b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In user-facing systems, latency defined </a:t>
            </a:r>
            <a:r>
              <a:rPr lang="en" sz="1200" b="1" dirty="0">
                <a:solidFill>
                  <a:schemeClr val="dk1"/>
                </a:solidFill>
              </a:rPr>
              <a:t>perceived speed</a:t>
            </a:r>
            <a:endParaRPr sz="1200" b="1" dirty="0">
              <a:solidFill>
                <a:schemeClr val="dk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04025A2-3B6F-1B52-C109-A291AF410526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Imagem 4" descr="Relógio no escuro&#10;&#10;O conteúdo gerado por IA pode estar incorreto.">
            <a:extLst>
              <a:ext uri="{FF2B5EF4-FFF2-40B4-BE49-F238E27FC236}">
                <a16:creationId xmlns:a16="http://schemas.microsoft.com/office/drawing/2014/main" id="{E360C4AD-9419-7005-A715-E3D76A3F9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30" y="884700"/>
            <a:ext cx="3850934" cy="48136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8C2C9C1-EAAE-4991-3A44-BBC92445CB46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1FB4AB1-6392-4706-D784-C27C31E53422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0" name="Google Shape;200;p33"/>
          <p:cNvSpPr txBox="1"/>
          <p:nvPr/>
        </p:nvSpPr>
        <p:spPr>
          <a:xfrm>
            <a:off x="239725" y="1023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Understanding Throughput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260275" y="309072"/>
            <a:ext cx="5415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How much work your system can handle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304175" y="1097933"/>
            <a:ext cx="4654401" cy="112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It measures how many operations your system can process in a given time.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304175" y="1999615"/>
            <a:ext cx="4519500" cy="1978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Common units: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Requests per second (</a:t>
            </a:r>
            <a:r>
              <a:rPr lang="en" b="1" dirty="0">
                <a:solidFill>
                  <a:srgbClr val="009EDC"/>
                </a:solidFill>
              </a:rPr>
              <a:t>RPS</a:t>
            </a:r>
            <a:r>
              <a:rPr lang="en" dirty="0">
                <a:solidFill>
                  <a:schemeClr val="dk1"/>
                </a:solidFill>
              </a:rPr>
              <a:t>)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Transactions per minute (</a:t>
            </a:r>
            <a:r>
              <a:rPr lang="en" b="1" dirty="0">
                <a:solidFill>
                  <a:srgbClr val="009EDC"/>
                </a:solidFill>
              </a:rPr>
              <a:t>TPM</a:t>
            </a:r>
            <a:r>
              <a:rPr lang="en" dirty="0">
                <a:solidFill>
                  <a:schemeClr val="dk1"/>
                </a:solidFill>
              </a:rPr>
              <a:t>)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Jobs per hour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525" y="1711760"/>
            <a:ext cx="3996676" cy="266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330E6F-E6A4-4829-AD0C-B9D7A500CA1E}"/>
</file>

<file path=customXml/itemProps2.xml><?xml version="1.0" encoding="utf-8"?>
<ds:datastoreItem xmlns:ds="http://schemas.openxmlformats.org/officeDocument/2006/customXml" ds:itemID="{97B642B8-0C31-4153-9F79-63BDEF1660B8}">
  <ds:schemaRefs>
    <ds:schemaRef ds:uri="http://schemas.microsoft.com/office/2006/metadata/properties"/>
    <ds:schemaRef ds:uri="http://schemas.microsoft.com/office/infopath/2007/PartnerControls"/>
    <ds:schemaRef ds:uri="2074a592-0284-4838-a99a-676a646e30ba"/>
    <ds:schemaRef ds:uri="e20d8d4b-1949-445f-b54d-8717a3d10a21"/>
  </ds:schemaRefs>
</ds:datastoreItem>
</file>

<file path=customXml/itemProps3.xml><?xml version="1.0" encoding="utf-8"?>
<ds:datastoreItem xmlns:ds="http://schemas.openxmlformats.org/officeDocument/2006/customXml" ds:itemID="{373AEB15-1F9F-4952-AC6B-F190509C5A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1290</Words>
  <Application>Microsoft Office PowerPoint</Application>
  <PresentationFormat>Apresentação na tela (16:9)</PresentationFormat>
  <Paragraphs>236</Paragraphs>
  <Slides>19</Slides>
  <Notes>19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1" baseType="lpstr"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4</cp:revision>
  <dcterms:modified xsi:type="dcterms:W3CDTF">2025-08-18T13:32:02Z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ClassificationContentMarkingFooterLocations">
    <vt:lpwstr>Main:3\Main:3</vt:lpwstr>
  </property>
  <property fmtid="{D5CDD505-2E9C-101B-9397-08002B2CF9AE}" pid="4" name="ClassificationContentMarkingFooterText">
    <vt:lpwstr>Público</vt:lpwstr>
  </property>
  <property fmtid="{D5CDD505-2E9C-101B-9397-08002B2CF9AE}" pid="5" name="MediaServiceImageTags">
    <vt:lpwstr/>
  </property>
</Properties>
</file>